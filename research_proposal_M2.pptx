
<file path=[Content_Types].xml><?xml version="1.0" encoding="utf-8"?>
<Types xmlns="http://schemas.openxmlformats.org/package/2006/content-types">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7.xml" ContentType="application/vnd.openxmlformats-officedocument.presentationml.slide+xml"/>
</Types>
</file>

<file path=_rels/.rels><?xml version="1.0" encoding="UTF-8"?><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86" r:id="rId2"/>
    <p:sldId id="272" r:id="rId3"/>
    <p:sldId id="273" r:id="rId4"/>
    <p:sldId id="274" r:id="rId5"/>
    <p:sldId id="290" r:id="rId23"/>
    <p:sldId id="275" r:id="rId6"/>
    <p:sldId id="276" r:id="rId7"/>
    <p:sldId id="277" r:id="rId8"/>
    <p:sldId id="278" r:id="rId9"/>
    <p:sldId id="279" r:id="rId10"/>
    <p:sldId id="280" r:id="rId11"/>
    <p:sldId id="281" r:id="rId12"/>
    <p:sldId id="282" r:id="rId13"/>
    <p:sldId id="283" r:id="rId14"/>
    <p:sldId id="288" r:id="rId15"/>
    <p:sldId id="289" r:id="rId16"/>
    <p:sldId id="285"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534"/>
    <p:restoredTop sz="94610"/>
  </p:normalViewPr>
  <p:slideViewPr>
    <p:cSldViewPr snapToGrid="0" snapToObjects="1">
      <p:cViewPr varScale="1">
        <p:scale>
          <a:sx n="120" d="100"/>
          <a:sy n="120" d="100"/>
        </p:scale>
        <p:origin x="184" y="1144"/>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 Id="rId23" Type="http://schemas.openxmlformats.org/officeDocument/2006/relationships/slide" Target="slides/slide17.xml"/></Relationships>
</file>

<file path=ppt/notesMasters/_rels/notesMaster1.xml.rels><?xml version="1.0" encoding="UTF-8"?><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6120660"/>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91B1CC53-7FD9-2045-B8A2-372168EF2E75}"/>
              </a:ext>
            </a:extLst>
          </p:cNvPr>
          <p:cNvSpPr txBox="1"/>
          <p:nvPr/>
        </p:nvSpPr>
        <p:spPr>
          <a:xfrm>
            <a:off x="762000" y="1619250"/>
            <a:ext cx="7620000" cy="830997"/>
          </a:xfrm>
          <a:prstGeom prst="rect">
            <a:avLst/>
          </a:prstGeom>
          <a:noFill/>
        </p:spPr>
        <p:txBody>
          <a:bodyPr vertOverflow="overflow" vert="horz" wrap="square" rtlCol="0" anchor="t">
            <a:spAutoFit/>
          </a:bodyPr>
          <a:lstStyle/>
          <a:p>
            <a:pPr algn="l"/>
            <a:r>
              <a:rPr lang="ja-JP" altLang="en-US" sz="2400" b="1">
                <a:solidFill>
                  <a:srgbClr val="1A1A2E"/>
                </a:solidFill>
              </a:rPr>
              <a:t>マルチエージェントによる
議論グラフ統合型 議論支援</a:t>
            </a:r>
          </a:p>
        </p:txBody>
      </p:sp>
      <p:sp>
        <p:nvSpPr>
          <p:cNvPr id="3" name="テキスト ボックス 2">
            <a:extLst>
              <a:ext uri="{FF2B5EF4-FFF2-40B4-BE49-F238E27FC236}">
                <a16:creationId xmlns:a16="http://schemas.microsoft.com/office/drawing/2014/main" id="{A5E8AABE-9780-9C46-B3A1-582DDDC23C72}"/>
              </a:ext>
            </a:extLst>
          </p:cNvPr>
          <p:cNvSpPr txBox="1"/>
          <p:nvPr/>
        </p:nvSpPr>
        <p:spPr>
          <a:xfrm>
            <a:off x="762000" y="3048001"/>
            <a:ext cx="7620000" cy="276999"/>
          </a:xfrm>
          <a:prstGeom prst="rect">
            <a:avLst/>
          </a:prstGeom>
          <a:noFill/>
        </p:spPr>
        <p:txBody>
          <a:bodyPr vertOverflow="overflow" vert="horz" wrap="square" rtlCol="0" anchor="t">
            <a:spAutoFit/>
          </a:bodyPr>
          <a:lstStyle/>
          <a:p>
            <a:pPr algn="l"/>
            <a:r>
              <a:rPr lang="en" altLang="ja-JP" sz="1200">
                <a:solidFill>
                  <a:srgbClr val="2C5F8A"/>
                </a:solidFill>
              </a:rPr>
              <a:t>Argumentation-Graph–Integrated Multi-Agent Discussion Support</a:t>
            </a:r>
            <a:endParaRPr lang="ja-JP" altLang="en-US" sz="1200">
              <a:solidFill>
                <a:srgbClr val="2C5F8A"/>
              </a:solidFill>
            </a:endParaRPr>
          </a:p>
        </p:txBody>
      </p:sp>
      <p:sp>
        <p:nvSpPr>
          <p:cNvPr id="4" name="テキスト ボックス 3">
            <a:extLst>
              <a:ext uri="{FF2B5EF4-FFF2-40B4-BE49-F238E27FC236}">
                <a16:creationId xmlns:a16="http://schemas.microsoft.com/office/drawing/2014/main" id="{51085411-4C7E-C048-9BD9-44AD2623582C}"/>
              </a:ext>
            </a:extLst>
          </p:cNvPr>
          <p:cNvSpPr txBox="1"/>
          <p:nvPr/>
        </p:nvSpPr>
        <p:spPr>
          <a:xfrm>
            <a:off x="762000" y="3619500"/>
            <a:ext cx="7620000" cy="253916"/>
          </a:xfrm>
          <a:prstGeom prst="rect">
            <a:avLst/>
          </a:prstGeom>
          <a:noFill/>
        </p:spPr>
        <p:txBody>
          <a:bodyPr vertOverflow="overflow" vert="horz" wrap="square" rtlCol="0" anchor="t">
            <a:spAutoFit/>
          </a:bodyPr>
          <a:lstStyle/>
          <a:p>
            <a:pPr algn="l"/>
            <a:r>
              <a:rPr lang="ja-JP" altLang="en-US" sz="1050">
                <a:solidFill>
                  <a:srgbClr val="3D3D5C"/>
                </a:solidFill>
              </a:rPr>
              <a:t>松井</a:t>
            </a:r>
            <a:r>
              <a:rPr lang="en-US" altLang="ja-JP" sz="1050" dirty="0">
                <a:solidFill>
                  <a:srgbClr val="3D3D5C"/>
                </a:solidFill>
              </a:rPr>
              <a:t xml:space="preserve"> </a:t>
            </a:r>
            <a:r>
              <a:rPr lang="ja-JP" altLang="en-US" sz="1050">
                <a:solidFill>
                  <a:srgbClr val="3D3D5C"/>
                </a:solidFill>
              </a:rPr>
              <a:t>玲</a:t>
            </a:r>
            <a:r>
              <a:rPr lang="en" altLang="ja-JP" sz="1050" dirty="0">
                <a:solidFill>
                  <a:srgbClr val="3D3D5C"/>
                </a:solidFill>
              </a:rPr>
              <a:t xml:space="preserve"> </a:t>
            </a:r>
            <a:r>
              <a:rPr lang="ja-JP" altLang="en" sz="1050">
                <a:solidFill>
                  <a:srgbClr val="3D3D5C"/>
                </a:solidFill>
              </a:rPr>
              <a:t xml:space="preserve">／ </a:t>
            </a:r>
            <a:r>
              <a:rPr lang="ja-JP" altLang="en-US" sz="1050">
                <a:solidFill>
                  <a:srgbClr val="3D3D5C"/>
                </a:solidFill>
              </a:rPr>
              <a:t xml:space="preserve">伊藤研究室 ／ </a:t>
            </a:r>
            <a:r>
              <a:rPr lang="en-US" altLang="ja-JP" sz="1050" dirty="0">
                <a:solidFill>
                  <a:srgbClr val="3D3D5C"/>
                </a:solidFill>
              </a:rPr>
              <a:t>2026</a:t>
            </a:r>
            <a:r>
              <a:rPr lang="ja-JP" altLang="en-US" sz="1050">
                <a:solidFill>
                  <a:srgbClr val="3D3D5C"/>
                </a:solidFill>
              </a:rPr>
              <a:t>年</a:t>
            </a:r>
            <a:r>
              <a:rPr lang="en-US" altLang="ja-JP" sz="1050" dirty="0">
                <a:solidFill>
                  <a:srgbClr val="3D3D5C"/>
                </a:solidFill>
              </a:rPr>
              <a:t>4</a:t>
            </a:r>
            <a:r>
              <a:rPr lang="ja-JP" altLang="en-US" sz="1050">
                <a:solidFill>
                  <a:srgbClr val="3D3D5C"/>
                </a:solidFill>
              </a:rPr>
              <a:t>月</a:t>
            </a:r>
            <a:r>
              <a:rPr lang="en-US" altLang="ja-JP" sz="1050" dirty="0">
                <a:solidFill>
                  <a:srgbClr val="3D3D5C"/>
                </a:solidFill>
              </a:rPr>
              <a:t>26</a:t>
            </a:r>
            <a:r>
              <a:rPr lang="ja-JP" altLang="en-US" sz="1050">
                <a:solidFill>
                  <a:srgbClr val="3D3D5C"/>
                </a:solidFill>
              </a:rPr>
              <a:t>日</a:t>
            </a:r>
          </a:p>
        </p:txBody>
      </p:sp>
      <p:sp>
        <p:nvSpPr>
          <p:cNvPr id="5" name="正方形/長方形 4">
            <a:extLst>
              <a:ext uri="{FF2B5EF4-FFF2-40B4-BE49-F238E27FC236}">
                <a16:creationId xmlns:a16="http://schemas.microsoft.com/office/drawing/2014/main" id="{509E98D5-E499-644F-9FC6-6D4C85F8ED8B}"/>
              </a:ext>
            </a:extLst>
          </p:cNvPr>
          <p:cNvSpPr/>
          <p:nvPr/>
        </p:nvSpPr>
        <p:spPr>
          <a:xfrm>
            <a:off x="762000" y="2905125"/>
            <a:ext cx="1905000" cy="28575"/>
          </a:xfrm>
          <a:prstGeom prst="rect">
            <a:avLst/>
          </a:prstGeom>
          <a:solidFill>
            <a:srgbClr val="2C5F8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sz="1350"/>
          </a:p>
        </p:txBody>
      </p:sp>
    </p:spTree>
    <p:extLst>
      <p:ext uri="{BB962C8B-B14F-4D97-AF65-F5344CB8AC3E}">
        <p14:creationId xmlns:p14="http://schemas.microsoft.com/office/powerpoint/2010/main" val="29483956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37744"/>
            <a:ext cx="8229600" cy="274320"/>
          </a:xfrm>
          <a:prstGeom prst="rect">
            <a:avLst/>
          </a:prstGeom>
          <a:noFill/>
          <a:ln/>
        </p:spPr>
        <p:txBody>
          <a:bodyPr wrap="square" lIns="0" tIns="0" rIns="0" bIns="0" rtlCol="0" anchor="ctr"/>
          <a:lstStyle/>
          <a:p>
            <a:pPr marL="0" indent="0">
              <a:buNone/>
            </a:pPr>
            <a:r>
              <a:rPr lang="en-US" sz="1200" dirty="0">
                <a:solidFill>
                  <a:srgbClr val="285888"/>
                </a:solidFill>
                <a:latin typeface="Meiryo" pitchFamily="34" charset="0"/>
                <a:ea typeface="Meiryo" pitchFamily="34" charset="-122"/>
                <a:cs typeface="Meiryo" pitchFamily="34" charset="-120"/>
              </a:rPr>
              <a:t>0. 目次</a:t>
            </a:r>
            <a:endParaRPr lang="en-US" sz="1200" dirty="0"/>
          </a:p>
        </p:txBody>
      </p:sp>
      <p:sp>
        <p:nvSpPr>
          <p:cNvPr id="3" name="Text 1"/>
          <p:cNvSpPr/>
          <p:nvPr/>
        </p:nvSpPr>
        <p:spPr>
          <a:xfrm>
            <a:off x="457200" y="493776"/>
            <a:ext cx="8229600" cy="566928"/>
          </a:xfrm>
          <a:prstGeom prst="rect">
            <a:avLst/>
          </a:prstGeom>
          <a:noFill/>
          <a:ln/>
        </p:spPr>
        <p:txBody>
          <a:bodyPr wrap="square" lIns="0" tIns="0" rIns="0" bIns="0" rtlCol="0" anchor="ctr"/>
          <a:lstStyle/>
          <a:p>
            <a:pPr marL="0" indent="0">
              <a:buNone/>
            </a:pPr>
            <a:r>
              <a:rPr lang="en-US" sz="2112" b="1" dirty="0">
                <a:solidFill>
                  <a:srgbClr val="181828"/>
                </a:solidFill>
                <a:latin typeface="Meiryo" pitchFamily="34" charset="0"/>
                <a:ea typeface="Meiryo" pitchFamily="34" charset="-122"/>
                <a:cs typeface="Meiryo" pitchFamily="34" charset="-120"/>
              </a:rPr>
              <a:t>目次</a:t>
            </a:r>
            <a:endParaRPr lang="en-US" sz="2112" dirty="0"/>
          </a:p>
        </p:txBody>
      </p:sp>
      <p:sp>
        <p:nvSpPr>
          <p:cNvPr id="4" name="Shape 2"/>
          <p:cNvSpPr/>
          <p:nvPr/>
        </p:nvSpPr>
        <p:spPr>
          <a:xfrm>
            <a:off x="475488" y="1097280"/>
            <a:ext cx="1005840" cy="41148"/>
          </a:xfrm>
          <a:prstGeom prst="rect">
            <a:avLst/>
          </a:prstGeom>
          <a:solidFill>
            <a:srgbClr val="285888"/>
          </a:solidFill>
          <a:ln/>
        </p:spPr>
        <p:txBody>
          <a:bodyPr/>
          <a:lstStyle/>
          <a:p>
            <a:endParaRPr lang="ja-JP" altLang="en-US"/>
          </a:p>
        </p:txBody>
      </p:sp>
      <p:sp>
        <p:nvSpPr>
          <p:cNvPr id="5" name="Shape 3"/>
          <p:cNvSpPr/>
          <p:nvPr/>
        </p:nvSpPr>
        <p:spPr>
          <a:xfrm>
            <a:off x="457200" y="4873752"/>
            <a:ext cx="8229600" cy="27432"/>
          </a:xfrm>
          <a:prstGeom prst="rect">
            <a:avLst/>
          </a:prstGeom>
          <a:solidFill>
            <a:srgbClr val="243F66"/>
          </a:solidFill>
          <a:ln/>
        </p:spPr>
        <p:txBody>
          <a:bodyPr/>
          <a:lstStyle/>
          <a:p>
            <a:endParaRPr lang="ja-JP" altLang="en-US"/>
          </a:p>
        </p:txBody>
      </p:sp>
      <p:sp>
        <p:nvSpPr>
          <p:cNvPr id="6" name="Text 4"/>
          <p:cNvSpPr/>
          <p:nvPr/>
        </p:nvSpPr>
        <p:spPr>
          <a:xfrm>
            <a:off x="457200" y="1417320"/>
            <a:ext cx="4023360" cy="292608"/>
          </a:xfrm>
          <a:prstGeom prst="rect">
            <a:avLst/>
          </a:prstGeom>
          <a:noFill/>
          <a:ln/>
        </p:spPr>
        <p:txBody>
          <a:bodyPr wrap="square" lIns="0" tIns="0" rIns="0" bIns="0" rtlCol="0" anchor="ctr"/>
          <a:lstStyle/>
          <a:p>
            <a:pPr marL="0" indent="0">
              <a:buNone/>
            </a:pPr>
            <a:r>
              <a:rPr lang="en-US" sz="1276" b="1" dirty="0">
                <a:solidFill>
                  <a:srgbClr val="285888"/>
                </a:solidFill>
                <a:latin typeface="Meiryo" pitchFamily="34" charset="0"/>
                <a:ea typeface="Meiryo" pitchFamily="34" charset="-122"/>
                <a:cs typeface="Meiryo" pitchFamily="34" charset="-120"/>
              </a:rPr>
              <a:t>本発表の構成</a:t>
            </a:r>
            <a:endParaRPr lang="en-US" sz="1276" dirty="0"/>
          </a:p>
        </p:txBody>
      </p:sp>
      <p:sp>
        <p:nvSpPr>
          <p:cNvPr id="7" name="Text 5"/>
          <p:cNvSpPr/>
          <p:nvPr/>
        </p:nvSpPr>
        <p:spPr>
          <a:xfrm>
            <a:off x="502920" y="1828800"/>
            <a:ext cx="3931920" cy="2743200"/>
          </a:xfrm>
          <a:prstGeom prst="rect">
            <a:avLst/>
          </a:prstGeom>
          <a:noFill/>
          <a:ln/>
        </p:spPr>
        <p:txBody>
          <a:bodyPr wrap="square" lIns="0" tIns="0" rIns="0" bIns="0" rtlCol="0" anchor="t"/>
          <a:lstStyle/>
          <a:p>
            <a:pPr marL="190500" indent="-190500">
              <a:lnSpc>
                <a:spcPct val="112000"/>
              </a:lnSpc>
              <a:spcAft>
                <a:spcPts val="600"/>
              </a:spcAft>
              <a:buSzPct val="100000"/>
              <a:buChar char="•"/>
            </a:pPr>
            <a:r>
              <a:rPr lang="en-US" sz="1200" dirty="0">
                <a:solidFill>
                  <a:srgbClr val="383858"/>
                </a:solidFill>
                <a:latin typeface="Meiryo" pitchFamily="34" charset="0"/>
                <a:ea typeface="Meiryo" pitchFamily="34" charset="-122"/>
                <a:cs typeface="Meiryo" pitchFamily="34" charset="-120"/>
              </a:rPr>
              <a:t>背景と課題</a:t>
            </a:r>
            <a:endParaRPr lang="en-US" sz="1200" dirty="0"/>
          </a:p>
          <a:p>
            <a:pPr marL="190500" indent="-190500">
              <a:lnSpc>
                <a:spcPct val="112000"/>
              </a:lnSpc>
              <a:spcAft>
                <a:spcPts val="600"/>
              </a:spcAft>
              <a:buSzPct val="100000"/>
              <a:buChar char="•"/>
            </a:pPr>
            <a:r>
              <a:rPr lang="en-US" sz="1200" dirty="0">
                <a:solidFill>
                  <a:srgbClr val="383858"/>
                </a:solidFill>
                <a:latin typeface="Meiryo" pitchFamily="34" charset="0"/>
                <a:ea typeface="Meiryo" pitchFamily="34" charset="-122"/>
                <a:cs typeface="Meiryo" pitchFamily="34" charset="-120"/>
              </a:rPr>
              <a:t>目的とリサーチクエスチョン</a:t>
            </a:r>
            <a:endParaRPr lang="en-US" sz="1200" dirty="0"/>
          </a:p>
          <a:p>
            <a:pPr marL="190500" indent="-190500">
              <a:lnSpc>
                <a:spcPct val="112000"/>
              </a:lnSpc>
              <a:spcAft>
                <a:spcPts val="600"/>
              </a:spcAft>
              <a:buSzPct val="100000"/>
              <a:buChar char="•"/>
            </a:pPr>
            <a:r>
              <a:rPr lang="en-US" sz="1200" dirty="0">
                <a:solidFill>
                  <a:srgbClr val="383858"/>
                </a:solidFill>
                <a:latin typeface="Meiryo" pitchFamily="34" charset="0"/>
                <a:ea typeface="Meiryo" pitchFamily="34" charset="-122"/>
                <a:cs typeface="Meiryo" pitchFamily="34" charset="-120"/>
              </a:rPr>
              <a:t>提案手法</a:t>
            </a:r>
            <a:endParaRPr lang="en-US" sz="1200" dirty="0"/>
          </a:p>
          <a:p>
            <a:pPr marL="190500" indent="-190500">
              <a:lnSpc>
                <a:spcPct val="112000"/>
              </a:lnSpc>
              <a:spcAft>
                <a:spcPts val="600"/>
              </a:spcAft>
              <a:buSzPct val="100000"/>
              <a:buChar char="•"/>
            </a:pPr>
            <a:r>
              <a:rPr lang="en-US" sz="1200" dirty="0">
                <a:solidFill>
                  <a:srgbClr val="383858"/>
                </a:solidFill>
                <a:latin typeface="Meiryo" pitchFamily="34" charset="0"/>
                <a:ea typeface="Meiryo" pitchFamily="34" charset="-122"/>
                <a:cs typeface="Meiryo" pitchFamily="34" charset="-120"/>
              </a:rPr>
              <a:t>現在の進捗</a:t>
            </a:r>
            <a:endParaRPr lang="en-US" sz="1200" dirty="0"/>
          </a:p>
          <a:p>
            <a:pPr marL="190500" indent="-190500">
              <a:lnSpc>
                <a:spcPct val="112000"/>
              </a:lnSpc>
              <a:spcAft>
                <a:spcPts val="600"/>
              </a:spcAft>
              <a:buSzPct val="100000"/>
              <a:buChar char="•"/>
            </a:pPr>
            <a:r>
              <a:rPr lang="en-US" sz="1200" dirty="0">
                <a:solidFill>
                  <a:srgbClr val="383858"/>
                </a:solidFill>
                <a:latin typeface="Meiryo" pitchFamily="34" charset="0"/>
                <a:ea typeface="Meiryo" pitchFamily="34" charset="-122"/>
                <a:cs typeface="Meiryo" pitchFamily="34" charset="-120"/>
              </a:rPr>
              <a:t>評価計画</a:t>
            </a:r>
            <a:endParaRPr lang="en-US" sz="1200" dirty="0"/>
          </a:p>
          <a:p>
            <a:pPr marL="190500" indent="-190500">
              <a:lnSpc>
                <a:spcPct val="112000"/>
              </a:lnSpc>
              <a:spcAft>
                <a:spcPts val="600"/>
              </a:spcAft>
              <a:buSzPct val="100000"/>
              <a:buChar char="•"/>
            </a:pPr>
            <a:r>
              <a:rPr lang="en-US" sz="1200" dirty="0">
                <a:solidFill>
                  <a:srgbClr val="383858"/>
                </a:solidFill>
                <a:latin typeface="Meiryo" pitchFamily="34" charset="0"/>
                <a:ea typeface="Meiryo" pitchFamily="34" charset="-122"/>
                <a:cs typeface="Meiryo" pitchFamily="34" charset="-120"/>
              </a:rPr>
              <a:t>まとめ</a:t>
            </a:r>
            <a:endParaRPr lang="en-US" sz="1200" dirty="0"/>
          </a:p>
        </p:txBody>
      </p:sp>
    </p:spTree>
    <p:extLst>
      <p:ext uri="{BB962C8B-B14F-4D97-AF65-F5344CB8AC3E}">
        <p14:creationId xmlns:p14="http://schemas.microsoft.com/office/powerpoint/2010/main" val="1009954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37744"/>
            <a:ext cx="8229600" cy="274320"/>
          </a:xfrm>
          <a:prstGeom prst="rect">
            <a:avLst/>
          </a:prstGeom>
          <a:noFill/>
          <a:ln/>
        </p:spPr>
        <p:txBody>
          <a:bodyPr wrap="square" lIns="0" tIns="0" rIns="0" bIns="0" rtlCol="0" anchor="ctr"/>
          <a:lstStyle/>
          <a:p>
            <a:pPr marL="0" indent="0">
              <a:buNone/>
            </a:pPr>
            <a:r>
              <a:rPr lang="en-US" sz="1200" dirty="0">
                <a:solidFill>
                  <a:srgbClr val="285888"/>
                </a:solidFill>
                <a:latin typeface="Meiryo" pitchFamily="34" charset="0"/>
                <a:ea typeface="Meiryo" pitchFamily="34" charset="-122"/>
                <a:cs typeface="Meiryo" pitchFamily="34" charset="-120"/>
              </a:rPr>
              <a:t>1. 背景と課題</a:t>
            </a:r>
            <a:endParaRPr lang="en-US" sz="1200" dirty="0"/>
          </a:p>
        </p:txBody>
      </p:sp>
      <p:sp>
        <p:nvSpPr>
          <p:cNvPr id="3" name="Text 1"/>
          <p:cNvSpPr/>
          <p:nvPr/>
        </p:nvSpPr>
        <p:spPr>
          <a:xfrm>
            <a:off x="457200" y="493776"/>
            <a:ext cx="8229600" cy="566928"/>
          </a:xfrm>
          <a:prstGeom prst="rect">
            <a:avLst/>
          </a:prstGeom>
          <a:noFill/>
          <a:ln/>
        </p:spPr>
        <p:txBody>
          <a:bodyPr wrap="square" lIns="0" tIns="0" rIns="0" bIns="0" rtlCol="0" anchor="ctr"/>
          <a:lstStyle/>
          <a:p>
            <a:pPr marL="0" indent="0">
              <a:buNone/>
            </a:pPr>
            <a:r>
              <a:rPr lang="en-US" sz="2112" b="1" dirty="0" err="1">
                <a:solidFill>
                  <a:srgbClr val="181828"/>
                </a:solidFill>
                <a:latin typeface="Meiryo" pitchFamily="34" charset="0"/>
                <a:ea typeface="Meiryo" pitchFamily="34" charset="-122"/>
                <a:cs typeface="Meiryo" pitchFamily="34" charset="-120"/>
              </a:rPr>
              <a:t>背景：議論における論証構造</a:t>
            </a:r>
            <a:endParaRPr lang="en-US" sz="2112" dirty="0"/>
          </a:p>
        </p:txBody>
      </p:sp>
      <p:sp>
        <p:nvSpPr>
          <p:cNvPr id="4" name="Shape 2"/>
          <p:cNvSpPr/>
          <p:nvPr/>
        </p:nvSpPr>
        <p:spPr>
          <a:xfrm>
            <a:off x="475488" y="1097280"/>
            <a:ext cx="1005840" cy="41148"/>
          </a:xfrm>
          <a:prstGeom prst="rect">
            <a:avLst/>
          </a:prstGeom>
          <a:solidFill>
            <a:srgbClr val="285888"/>
          </a:solidFill>
          <a:ln/>
        </p:spPr>
        <p:txBody>
          <a:bodyPr/>
          <a:lstStyle/>
          <a:p>
            <a:endParaRPr lang="ja-JP" altLang="en-US"/>
          </a:p>
        </p:txBody>
      </p:sp>
      <p:sp>
        <p:nvSpPr>
          <p:cNvPr id="5" name="Shape 3"/>
          <p:cNvSpPr/>
          <p:nvPr/>
        </p:nvSpPr>
        <p:spPr>
          <a:xfrm>
            <a:off x="457200" y="4873752"/>
            <a:ext cx="8229600" cy="27432"/>
          </a:xfrm>
          <a:prstGeom prst="rect">
            <a:avLst/>
          </a:prstGeom>
          <a:solidFill>
            <a:srgbClr val="243F66"/>
          </a:solidFill>
          <a:ln/>
        </p:spPr>
        <p:txBody>
          <a:bodyPr/>
          <a:lstStyle/>
          <a:p>
            <a:endParaRPr lang="ja-JP" altLang="en-US"/>
          </a:p>
        </p:txBody>
      </p:sp>
      <p:sp>
        <p:nvSpPr>
          <p:cNvPr id="6" name="Text 4"/>
          <p:cNvSpPr/>
          <p:nvPr/>
        </p:nvSpPr>
        <p:spPr>
          <a:xfrm>
            <a:off x="457200" y="1417320"/>
            <a:ext cx="8229600" cy="292608"/>
          </a:xfrm>
          <a:prstGeom prst="rect">
            <a:avLst/>
          </a:prstGeom>
          <a:noFill/>
          <a:ln/>
        </p:spPr>
        <p:txBody>
          <a:bodyPr wrap="square" lIns="0" tIns="0" rIns="0" bIns="0" rtlCol="0" anchor="ctr"/>
          <a:lstStyle/>
          <a:p>
            <a:pPr marL="0" indent="0">
              <a:buNone/>
            </a:pPr>
            <a:r>
              <a:rPr lang="en-US" sz="1276" b="1" dirty="0">
                <a:solidFill>
                  <a:srgbClr val="285888"/>
                </a:solidFill>
                <a:latin typeface="Meiryo" pitchFamily="34" charset="0"/>
                <a:ea typeface="Meiryo" pitchFamily="34" charset="-122"/>
                <a:cs typeface="Meiryo" pitchFamily="34" charset="-120"/>
              </a:rPr>
              <a:t>議論における論証構造の追跡</a:t>
            </a:r>
            <a:endParaRPr lang="en-US" sz="1276" dirty="0"/>
          </a:p>
        </p:txBody>
      </p:sp>
      <p:sp>
        <p:nvSpPr>
          <p:cNvPr id="7" name="Text 5"/>
          <p:cNvSpPr/>
          <p:nvPr/>
        </p:nvSpPr>
        <p:spPr>
          <a:xfrm>
            <a:off x="502920" y="1810512"/>
            <a:ext cx="8229600" cy="1005840"/>
          </a:xfrm>
          <a:prstGeom prst="rect">
            <a:avLst/>
          </a:prstGeom>
          <a:noFill/>
          <a:ln/>
        </p:spPr>
        <p:txBody>
          <a:bodyPr wrap="square" lIns="0" tIns="0" rIns="0" bIns="0" rtlCol="0" anchor="t"/>
          <a:lstStyle/>
          <a:p>
            <a:pPr marL="190500" indent="-190500">
              <a:lnSpc>
                <a:spcPct val="112000"/>
              </a:lnSpc>
              <a:spcAft>
                <a:spcPts val="600"/>
              </a:spcAft>
              <a:buSzPct val="100000"/>
              <a:buChar char="•"/>
            </a:pPr>
            <a:r>
              <a:rPr lang="en-US" sz="1200" dirty="0">
                <a:solidFill>
                  <a:srgbClr val="383858"/>
                </a:solidFill>
                <a:latin typeface="Meiryo" pitchFamily="34" charset="0"/>
                <a:ea typeface="Meiryo" pitchFamily="34" charset="-122"/>
                <a:cs typeface="Meiryo" pitchFamily="34" charset="-120"/>
              </a:rPr>
              <a:t>主張の妥当性は、根拠・反論の関係の中で決まる</a:t>
            </a:r>
            <a:endParaRPr lang="en-US" sz="1200" dirty="0"/>
          </a:p>
          <a:p>
            <a:pPr marL="190500" indent="-190500">
              <a:lnSpc>
                <a:spcPct val="112000"/>
              </a:lnSpc>
              <a:spcAft>
                <a:spcPts val="600"/>
              </a:spcAft>
              <a:buSzPct val="100000"/>
              <a:buChar char="•"/>
            </a:pPr>
            <a:r>
              <a:rPr lang="en-US" sz="1200" dirty="0">
                <a:solidFill>
                  <a:srgbClr val="383858"/>
                </a:solidFill>
                <a:latin typeface="Meiryo" pitchFamily="34" charset="0"/>
                <a:ea typeface="Meiryo" pitchFamily="34" charset="-122"/>
                <a:cs typeface="Meiryo" pitchFamily="34" charset="-120"/>
              </a:rPr>
              <a:t>参加人数・情報量や発言量が増えると、この論証の全体像を把握することが困難となる</a:t>
            </a:r>
            <a:endParaRPr lang="en-US" sz="1200" dirty="0"/>
          </a:p>
        </p:txBody>
      </p:sp>
      <p:sp>
        <p:nvSpPr>
          <p:cNvPr id="8" name="Text 6"/>
          <p:cNvSpPr/>
          <p:nvPr/>
        </p:nvSpPr>
        <p:spPr>
          <a:xfrm>
            <a:off x="457200" y="2971800"/>
            <a:ext cx="8229600" cy="292608"/>
          </a:xfrm>
          <a:prstGeom prst="rect">
            <a:avLst/>
          </a:prstGeom>
          <a:noFill/>
          <a:ln/>
        </p:spPr>
        <p:txBody>
          <a:bodyPr wrap="square" lIns="0" tIns="0" rIns="0" bIns="0" rtlCol="0" anchor="ctr"/>
          <a:lstStyle/>
          <a:p>
            <a:pPr marL="0" indent="0">
              <a:buNone/>
            </a:pPr>
            <a:r>
              <a:rPr lang="en-US" sz="1276" b="1" dirty="0">
                <a:solidFill>
                  <a:srgbClr val="285888"/>
                </a:solidFill>
                <a:latin typeface="Meiryo" pitchFamily="34" charset="0"/>
                <a:ea typeface="Meiryo" pitchFamily="34" charset="-122"/>
                <a:cs typeface="Meiryo" pitchFamily="34" charset="-120"/>
              </a:rPr>
              <a:t>LLM の登場</a:t>
            </a:r>
            <a:endParaRPr lang="en-US" sz="1276" dirty="0"/>
          </a:p>
        </p:txBody>
      </p:sp>
      <p:sp>
        <p:nvSpPr>
          <p:cNvPr id="9" name="Text 7"/>
          <p:cNvSpPr/>
          <p:nvPr/>
        </p:nvSpPr>
        <p:spPr>
          <a:xfrm>
            <a:off x="502920" y="3364992"/>
            <a:ext cx="8229600" cy="1371600"/>
          </a:xfrm>
          <a:prstGeom prst="rect">
            <a:avLst/>
          </a:prstGeom>
          <a:noFill/>
          <a:ln/>
        </p:spPr>
        <p:txBody>
          <a:bodyPr wrap="square" lIns="0" tIns="0" rIns="0" bIns="0" rtlCol="0" anchor="t"/>
          <a:lstStyle/>
          <a:p>
            <a:pPr marL="190500" indent="-190500">
              <a:lnSpc>
                <a:spcPct val="112000"/>
              </a:lnSpc>
              <a:spcAft>
                <a:spcPts val="600"/>
              </a:spcAft>
              <a:buSzPct val="100000"/>
              <a:buChar char="•"/>
            </a:pPr>
            <a:r>
              <a:rPr lang="en-US" sz="1200" dirty="0">
                <a:solidFill>
                  <a:srgbClr val="383858"/>
                </a:solidFill>
                <a:latin typeface="Meiryo" pitchFamily="34" charset="0"/>
                <a:ea typeface="Meiryo" pitchFamily="34" charset="-122"/>
                <a:cs typeface="Meiryo" pitchFamily="34" charset="-120"/>
              </a:rPr>
              <a:t>推論能力を持つ大規模言語モデル(LLM)が近年急速に進化している</a:t>
            </a:r>
            <a:endParaRPr lang="en-US" sz="1200" dirty="0"/>
          </a:p>
          <a:p>
            <a:pPr marL="190500" indent="-190500">
              <a:lnSpc>
                <a:spcPct val="112000"/>
              </a:lnSpc>
              <a:spcAft>
                <a:spcPts val="600"/>
              </a:spcAft>
              <a:buSzPct val="100000"/>
              <a:buChar char="•"/>
            </a:pPr>
            <a:r>
              <a:rPr lang="en-US" sz="1200" dirty="0">
                <a:solidFill>
                  <a:srgbClr val="383858"/>
                </a:solidFill>
                <a:latin typeface="Meiryo" pitchFamily="34" charset="0"/>
                <a:ea typeface="Meiryo" pitchFamily="34" charset="-122"/>
                <a:cs typeface="Meiryo" pitchFamily="34" charset="-120"/>
              </a:rPr>
              <a:t>議論内容の論証構造への整理、外部知識のRAG、ファシリテーション的介入の生成が可能に</a:t>
            </a:r>
            <a:endParaRPr lang="en-US" sz="1200" dirty="0"/>
          </a:p>
          <a:p>
            <a:pPr marL="190500" indent="-190500">
              <a:lnSpc>
                <a:spcPct val="112000"/>
              </a:lnSpc>
              <a:spcAft>
                <a:spcPts val="600"/>
              </a:spcAft>
              <a:buSzPct val="100000"/>
              <a:buChar char="•"/>
            </a:pPr>
            <a:r>
              <a:rPr lang="en-US" sz="1200" dirty="0">
                <a:solidFill>
                  <a:srgbClr val="383858"/>
                </a:solidFill>
                <a:latin typeface="Meiryo" pitchFamily="34" charset="0"/>
                <a:ea typeface="Meiryo" pitchFamily="34" charset="-122"/>
                <a:cs typeface="Meiryo" pitchFamily="34" charset="-120"/>
              </a:rPr>
              <a:t>これらを活用した議論支援システムが研究されている</a:t>
            </a:r>
            <a:endParaRPr lang="en-US" sz="1200" dirty="0"/>
          </a:p>
        </p:txBody>
      </p:sp>
    </p:spTree>
    <p:extLst>
      <p:ext uri="{BB962C8B-B14F-4D97-AF65-F5344CB8AC3E}">
        <p14:creationId xmlns:p14="http://schemas.microsoft.com/office/powerpoint/2010/main" val="21294230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37744"/>
            <a:ext cx="8229600" cy="274320"/>
          </a:xfrm>
          <a:prstGeom prst="rect">
            <a:avLst/>
          </a:prstGeom>
          <a:noFill/>
          <a:ln/>
        </p:spPr>
        <p:txBody>
          <a:bodyPr wrap="square" lIns="0" tIns="0" rIns="0" bIns="0" rtlCol="0" anchor="ctr"/>
          <a:lstStyle/>
          <a:p>
            <a:pPr marL="0" indent="0">
              <a:buNone/>
            </a:pPr>
            <a:r>
              <a:rPr lang="en-US" sz="1200" dirty="0">
                <a:solidFill>
                  <a:srgbClr val="285888"/>
                </a:solidFill>
                <a:latin typeface="Meiryo" pitchFamily="34" charset="0"/>
                <a:ea typeface="Meiryo" pitchFamily="34" charset="-122"/>
                <a:cs typeface="Meiryo" pitchFamily="34" charset="-120"/>
              </a:rPr>
              <a:t>1. 背景と課題</a:t>
            </a:r>
            <a:endParaRPr lang="en-US" sz="1200" dirty="0"/>
          </a:p>
        </p:txBody>
      </p:sp>
      <p:sp>
        <p:nvSpPr>
          <p:cNvPr id="3" name="Text 1"/>
          <p:cNvSpPr/>
          <p:nvPr/>
        </p:nvSpPr>
        <p:spPr>
          <a:xfrm>
            <a:off x="457200" y="493776"/>
            <a:ext cx="8229600" cy="566928"/>
          </a:xfrm>
          <a:prstGeom prst="rect">
            <a:avLst/>
          </a:prstGeom>
          <a:noFill/>
          <a:ln/>
        </p:spPr>
        <p:txBody>
          <a:bodyPr wrap="square" lIns="0" tIns="0" rIns="0" bIns="0" rtlCol="0" anchor="ctr"/>
          <a:lstStyle/>
          <a:p>
            <a:pPr marL="0" indent="0">
              <a:buNone/>
            </a:pPr>
            <a:r>
              <a:rPr lang="en-US" sz="2112" b="1" dirty="0">
                <a:solidFill>
                  <a:srgbClr val="181828"/>
                </a:solidFill>
                <a:latin typeface="Meiryo" pitchFamily="34" charset="0"/>
                <a:ea typeface="Meiryo" pitchFamily="34" charset="-122"/>
                <a:cs typeface="Meiryo" pitchFamily="34" charset="-120"/>
              </a:rPr>
              <a:t>関連研究</a:t>
            </a:r>
            <a:endParaRPr lang="en-US" sz="2112" dirty="0"/>
          </a:p>
        </p:txBody>
      </p:sp>
      <p:sp>
        <p:nvSpPr>
          <p:cNvPr id="4" name="Shape 2"/>
          <p:cNvSpPr/>
          <p:nvPr/>
        </p:nvSpPr>
        <p:spPr>
          <a:xfrm>
            <a:off x="475488" y="1097280"/>
            <a:ext cx="1005840" cy="41148"/>
          </a:xfrm>
          <a:prstGeom prst="rect">
            <a:avLst/>
          </a:prstGeom>
          <a:solidFill>
            <a:srgbClr val="285888"/>
          </a:solidFill>
          <a:ln/>
        </p:spPr>
        <p:txBody>
          <a:bodyPr/>
          <a:lstStyle/>
          <a:p>
            <a:endParaRPr lang="ja-JP" altLang="en-US"/>
          </a:p>
        </p:txBody>
      </p:sp>
      <p:sp>
        <p:nvSpPr>
          <p:cNvPr id="5" name="Shape 3"/>
          <p:cNvSpPr/>
          <p:nvPr/>
        </p:nvSpPr>
        <p:spPr>
          <a:xfrm>
            <a:off x="457200" y="4873752"/>
            <a:ext cx="8229600" cy="27432"/>
          </a:xfrm>
          <a:prstGeom prst="rect">
            <a:avLst/>
          </a:prstGeom>
          <a:solidFill>
            <a:srgbClr val="243F66"/>
          </a:solidFill>
          <a:ln/>
        </p:spPr>
        <p:txBody>
          <a:bodyPr/>
          <a:lstStyle/>
          <a:p>
            <a:endParaRPr lang="ja-JP" altLang="en-US"/>
          </a:p>
        </p:txBody>
      </p:sp>
      <p:sp>
        <p:nvSpPr>
          <p:cNvPr id="6" name="Text 4"/>
          <p:cNvSpPr/>
          <p:nvPr/>
        </p:nvSpPr>
        <p:spPr>
          <a:xfrm>
            <a:off x="457200" y="1463040"/>
            <a:ext cx="8229600" cy="292608"/>
          </a:xfrm>
          <a:prstGeom prst="rect">
            <a:avLst/>
          </a:prstGeom>
          <a:noFill/>
          <a:ln/>
        </p:spPr>
        <p:txBody>
          <a:bodyPr wrap="square" lIns="0" tIns="0" rIns="0" bIns="0" rtlCol="0" anchor="ctr"/>
          <a:lstStyle/>
          <a:p>
            <a:pPr marL="0" indent="0">
              <a:buNone/>
            </a:pPr>
            <a:r>
              <a:rPr lang="en-US" sz="1276" b="1" dirty="0">
                <a:solidFill>
                  <a:srgbClr val="285888"/>
                </a:solidFill>
                <a:latin typeface="Meiryo" pitchFamily="34" charset="0"/>
                <a:ea typeface="Meiryo" pitchFamily="34" charset="-122"/>
                <a:cs typeface="Meiryo" pitchFamily="34" charset="-120"/>
              </a:rPr>
              <a:t>❶ PTFA（Gu et al., 2025 — PRICAI）</a:t>
            </a:r>
            <a:endParaRPr lang="en-US" sz="1276" dirty="0"/>
          </a:p>
        </p:txBody>
      </p:sp>
      <p:sp>
        <p:nvSpPr>
          <p:cNvPr id="7" name="Text 5"/>
          <p:cNvSpPr/>
          <p:nvPr/>
        </p:nvSpPr>
        <p:spPr>
          <a:xfrm>
            <a:off x="502920" y="1847088"/>
            <a:ext cx="8229600" cy="1005840"/>
          </a:xfrm>
          <a:prstGeom prst="rect">
            <a:avLst/>
          </a:prstGeom>
          <a:noFill/>
          <a:ln/>
        </p:spPr>
        <p:txBody>
          <a:bodyPr wrap="square" lIns="0" tIns="0" rIns="0" bIns="0" rtlCol="0" anchor="t"/>
          <a:lstStyle/>
          <a:p>
            <a:pPr marL="190500" indent="-190500">
              <a:lnSpc>
                <a:spcPct val="112000"/>
              </a:lnSpc>
              <a:spcAft>
                <a:spcPts val="600"/>
              </a:spcAft>
              <a:buSzPct val="100000"/>
              <a:buChar char="•"/>
            </a:pPr>
            <a:r>
              <a:rPr lang="en-US" sz="1200" dirty="0">
                <a:solidFill>
                  <a:srgbClr val="383858"/>
                </a:solidFill>
                <a:latin typeface="Meiryo" pitchFamily="34" charset="0"/>
                <a:ea typeface="Meiryo" pitchFamily="34" charset="-122"/>
                <a:cs typeface="Meiryo" pitchFamily="34" charset="-120"/>
              </a:rPr>
              <a:t>Six Thinking Hatsの6役割をLLMが並行して担い、オンラインテキスト議論の合意形成を自動ファシリテート</a:t>
            </a:r>
            <a:endParaRPr lang="en-US" sz="1200" dirty="0"/>
          </a:p>
          <a:p>
            <a:pPr marL="190500" indent="-190500">
              <a:lnSpc>
                <a:spcPct val="112000"/>
              </a:lnSpc>
              <a:spcAft>
                <a:spcPts val="600"/>
              </a:spcAft>
              <a:buSzPct val="100000"/>
              <a:buChar char="•"/>
            </a:pPr>
            <a:r>
              <a:rPr lang="en-US" sz="1200" dirty="0">
                <a:solidFill>
                  <a:srgbClr val="383858"/>
                </a:solidFill>
                <a:latin typeface="Meiryo" pitchFamily="34" charset="0"/>
                <a:ea typeface="Meiryo" pitchFamily="34" charset="-122"/>
                <a:cs typeface="Meiryo" pitchFamily="34" charset="-120"/>
              </a:rPr>
              <a:t>16グループ・48人のパイロットスタディでアイデア生成・感情探索・議論品質分析の能力を実証</a:t>
            </a:r>
            <a:endParaRPr lang="en-US" sz="1200" dirty="0"/>
          </a:p>
        </p:txBody>
      </p:sp>
      <p:sp>
        <p:nvSpPr>
          <p:cNvPr id="8" name="Text 6"/>
          <p:cNvSpPr/>
          <p:nvPr/>
        </p:nvSpPr>
        <p:spPr>
          <a:xfrm>
            <a:off x="457200" y="3017520"/>
            <a:ext cx="8229600" cy="292608"/>
          </a:xfrm>
          <a:prstGeom prst="rect">
            <a:avLst/>
          </a:prstGeom>
          <a:noFill/>
          <a:ln/>
        </p:spPr>
        <p:txBody>
          <a:bodyPr wrap="square" lIns="0" tIns="0" rIns="0" bIns="0" rtlCol="0" anchor="ctr"/>
          <a:lstStyle/>
          <a:p>
            <a:pPr marL="0" indent="0">
              <a:buNone/>
            </a:pPr>
            <a:r>
              <a:rPr lang="en-US" sz="1276" b="1" dirty="0">
                <a:solidFill>
                  <a:srgbClr val="285888"/>
                </a:solidFill>
                <a:latin typeface="Meiryo" pitchFamily="34" charset="0"/>
                <a:ea typeface="Meiryo" pitchFamily="34" charset="-122"/>
                <a:cs typeface="Meiryo" pitchFamily="34" charset="-120"/>
              </a:rPr>
              <a:t>❷ The Empty Chair（Fulay &amp; Roy, 2025 — MIT）</a:t>
            </a:r>
            <a:endParaRPr lang="en-US" sz="1276" dirty="0"/>
          </a:p>
        </p:txBody>
      </p:sp>
      <p:sp>
        <p:nvSpPr>
          <p:cNvPr id="9" name="Text 7"/>
          <p:cNvSpPr/>
          <p:nvPr/>
        </p:nvSpPr>
        <p:spPr>
          <a:xfrm>
            <a:off x="502920" y="3401568"/>
            <a:ext cx="8229600" cy="1097280"/>
          </a:xfrm>
          <a:prstGeom prst="rect">
            <a:avLst/>
          </a:prstGeom>
          <a:noFill/>
          <a:ln/>
        </p:spPr>
        <p:txBody>
          <a:bodyPr wrap="square" lIns="0" tIns="0" rIns="0" bIns="0" rtlCol="0" anchor="t"/>
          <a:lstStyle/>
          <a:p>
            <a:pPr marL="190500" indent="-190500">
              <a:lnSpc>
                <a:spcPct val="112000"/>
              </a:lnSpc>
              <a:spcAft>
                <a:spcPts val="600"/>
              </a:spcAft>
              <a:buSzPct val="100000"/>
              <a:buChar char="•"/>
            </a:pPr>
            <a:r>
              <a:rPr lang="en-US" sz="1200" dirty="0">
                <a:solidFill>
                  <a:srgbClr val="383858"/>
                </a:solidFill>
                <a:latin typeface="Meiryo" pitchFamily="34" charset="0"/>
                <a:ea typeface="Meiryo" pitchFamily="34" charset="-122"/>
                <a:cs typeface="Meiryo" pitchFamily="34" charset="-120"/>
              </a:rPr>
              <a:t>対面の市民集会をリアルタイム音声認識し、不在のステークホルダーの視点をLLMペルソナで補完する議論支援ツール</a:t>
            </a:r>
            <a:endParaRPr lang="en-US" sz="1200" dirty="0"/>
          </a:p>
          <a:p>
            <a:pPr marL="190500" indent="-190500">
              <a:lnSpc>
                <a:spcPct val="112000"/>
              </a:lnSpc>
              <a:spcAft>
                <a:spcPts val="600"/>
              </a:spcAft>
              <a:buSzPct val="100000"/>
              <a:buChar char="•"/>
            </a:pPr>
            <a:r>
              <a:rPr lang="en-US" sz="1200" dirty="0">
                <a:solidFill>
                  <a:srgbClr val="383858"/>
                </a:solidFill>
                <a:latin typeface="Meiryo" pitchFamily="34" charset="0"/>
                <a:ea typeface="Meiryo" pitchFamily="34" charset="-122"/>
                <a:cs typeface="Meiryo" pitchFamily="34" charset="-120"/>
              </a:rPr>
              <a:t>19人の学生Citizens' Assembly（キャンパスの持続可能性）で実験、新たな議論の喚起と未考慮の視点発見に貢献</a:t>
            </a:r>
            <a:endParaRPr lang="en-US" sz="1200" dirty="0"/>
          </a:p>
        </p:txBody>
      </p:sp>
    </p:spTree>
    <p:extLst>
      <p:ext uri="{BB962C8B-B14F-4D97-AF65-F5344CB8AC3E}">
        <p14:creationId xmlns:p14="http://schemas.microsoft.com/office/powerpoint/2010/main" val="14217654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37744"/>
            <a:ext cx="8229600" cy="274320"/>
          </a:xfrm>
          <a:prstGeom prst="rect">
            <a:avLst/>
          </a:prstGeom>
          <a:noFill/>
          <a:ln/>
        </p:spPr>
        <p:txBody>
          <a:bodyPr wrap="square" lIns="0" tIns="0" rIns="0" bIns="0" rtlCol="0" anchor="ctr"/>
          <a:lstStyle/>
          <a:p>
            <a:pPr marL="0" indent="0">
              <a:buNone/>
            </a:pPr>
            <a:r>
              <a:rPr lang="en-US" sz="1200" dirty="0">
                <a:solidFill>
                  <a:srgbClr val="285888"/>
                </a:solidFill>
                <a:latin typeface="Meiryo" pitchFamily="34" charset="0"/>
                <a:ea typeface="Meiryo" pitchFamily="34" charset="-122"/>
                <a:cs typeface="Meiryo" pitchFamily="34" charset="-120"/>
              </a:rPr>
              <a:t>1. 背景と課題</a:t>
            </a:r>
            <a:endParaRPr lang="en-US" sz="1200" dirty="0"/>
          </a:p>
        </p:txBody>
      </p:sp>
      <p:sp>
        <p:nvSpPr>
          <p:cNvPr id="3" name="Text 1"/>
          <p:cNvSpPr/>
          <p:nvPr/>
        </p:nvSpPr>
        <p:spPr>
          <a:xfrm>
            <a:off x="457200" y="493776"/>
            <a:ext cx="8229600" cy="566928"/>
          </a:xfrm>
          <a:prstGeom prst="rect">
            <a:avLst/>
          </a:prstGeom>
          <a:noFill/>
          <a:ln/>
        </p:spPr>
        <p:txBody>
          <a:bodyPr wrap="square" lIns="0" tIns="0" rIns="0" bIns="0" rtlCol="0" anchor="ctr"/>
          <a:lstStyle/>
          <a:p>
            <a:pPr marL="0" indent="0">
              <a:buNone/>
            </a:pPr>
            <a:r>
              <a:rPr lang="en-US" sz="2112" b="1" dirty="0">
                <a:solidFill>
                  <a:srgbClr val="181828"/>
                </a:solidFill>
                <a:latin typeface="Meiryo" pitchFamily="34" charset="0"/>
                <a:ea typeface="Meiryo" pitchFamily="34" charset="-122"/>
                <a:cs typeface="Meiryo" pitchFamily="34" charset="-120"/>
              </a:rPr>
              <a:t>課題：既存の議論支援の課題</a:t>
            </a:r>
            <a:endParaRPr lang="en-US" sz="2112" dirty="0"/>
          </a:p>
        </p:txBody>
      </p:sp>
      <p:sp>
        <p:nvSpPr>
          <p:cNvPr id="4" name="Shape 2"/>
          <p:cNvSpPr/>
          <p:nvPr/>
        </p:nvSpPr>
        <p:spPr>
          <a:xfrm>
            <a:off x="475488" y="1097280"/>
            <a:ext cx="1005840" cy="41148"/>
          </a:xfrm>
          <a:prstGeom prst="rect">
            <a:avLst/>
          </a:prstGeom>
          <a:solidFill>
            <a:srgbClr val="285888"/>
          </a:solidFill>
          <a:ln/>
        </p:spPr>
        <p:txBody>
          <a:bodyPr/>
          <a:lstStyle/>
          <a:p>
            <a:endParaRPr lang="ja-JP" altLang="en-US"/>
          </a:p>
        </p:txBody>
      </p:sp>
      <p:sp>
        <p:nvSpPr>
          <p:cNvPr id="5" name="Shape 3"/>
          <p:cNvSpPr/>
          <p:nvPr/>
        </p:nvSpPr>
        <p:spPr>
          <a:xfrm>
            <a:off x="457200" y="4873752"/>
            <a:ext cx="8229600" cy="27432"/>
          </a:xfrm>
          <a:prstGeom prst="rect">
            <a:avLst/>
          </a:prstGeom>
          <a:solidFill>
            <a:srgbClr val="243F66"/>
          </a:solidFill>
          <a:ln/>
        </p:spPr>
        <p:txBody>
          <a:bodyPr/>
          <a:lstStyle/>
          <a:p>
            <a:endParaRPr lang="ja-JP" altLang="en-US"/>
          </a:p>
        </p:txBody>
      </p:sp>
      <p:sp>
        <p:nvSpPr>
          <p:cNvPr id="6" name="Text 4"/>
          <p:cNvSpPr/>
          <p:nvPr/>
        </p:nvSpPr>
        <p:spPr>
          <a:xfrm>
            <a:off x="457200" y="1417320"/>
            <a:ext cx="8229600" cy="274320"/>
          </a:xfrm>
          <a:prstGeom prst="rect">
            <a:avLst/>
          </a:prstGeom>
          <a:noFill/>
          <a:ln/>
        </p:spPr>
        <p:txBody>
          <a:bodyPr wrap="square" lIns="0" tIns="0" rIns="0" bIns="0" rtlCol="0" anchor="ctr"/>
          <a:lstStyle/>
          <a:p>
            <a:pPr marL="0" indent="0">
              <a:buNone/>
            </a:pPr>
            <a:r>
              <a:rPr lang="en-US" sz="1200" b="1" dirty="0">
                <a:solidFill>
                  <a:srgbClr val="285888"/>
                </a:solidFill>
                <a:latin typeface="Meiryo" pitchFamily="34" charset="0"/>
                <a:ea typeface="Meiryo" pitchFamily="34" charset="-122"/>
                <a:cs typeface="Meiryo" pitchFamily="34" charset="-120"/>
              </a:rPr>
              <a:t>C1  発話に同調する情報提供</a:t>
            </a:r>
            <a:endParaRPr lang="en-US" sz="1200" dirty="0"/>
          </a:p>
        </p:txBody>
      </p:sp>
      <p:sp>
        <p:nvSpPr>
          <p:cNvPr id="7" name="Text 5"/>
          <p:cNvSpPr/>
          <p:nvPr/>
        </p:nvSpPr>
        <p:spPr>
          <a:xfrm>
            <a:off x="713232" y="1691640"/>
            <a:ext cx="7955280" cy="457200"/>
          </a:xfrm>
          <a:prstGeom prst="rect">
            <a:avLst/>
          </a:prstGeom>
          <a:noFill/>
          <a:ln/>
        </p:spPr>
        <p:txBody>
          <a:bodyPr wrap="square" lIns="0" tIns="0" rIns="0" bIns="0" rtlCol="0" anchor="t"/>
          <a:lstStyle/>
          <a:p>
            <a:pPr marL="190500" indent="-190500">
              <a:lnSpc>
                <a:spcPct val="108000"/>
              </a:lnSpc>
              <a:spcAft>
                <a:spcPts val="200"/>
              </a:spcAft>
              <a:buSzPct val="100000"/>
              <a:buChar char="–"/>
            </a:pPr>
            <a:r>
              <a:rPr lang="en-US" sz="1200" dirty="0">
                <a:solidFill>
                  <a:srgbClr val="383858"/>
                </a:solidFill>
                <a:latin typeface="Meiryo" pitchFamily="34" charset="0"/>
                <a:ea typeface="Meiryo" pitchFamily="34" charset="-122"/>
                <a:cs typeface="Meiryo" pitchFamily="34" charset="-120"/>
              </a:rPr>
              <a:t>現状のRAGは類似度検索が主流で、提示される情報が支持・反論・無関係のどれかを区別しない</a:t>
            </a:r>
            <a:endParaRPr lang="en-US" sz="1200" dirty="0"/>
          </a:p>
          <a:p>
            <a:pPr marL="190500" indent="-190500">
              <a:lnSpc>
                <a:spcPct val="108000"/>
              </a:lnSpc>
              <a:spcAft>
                <a:spcPts val="200"/>
              </a:spcAft>
              <a:buSzPct val="100000"/>
              <a:buChar char="–"/>
            </a:pPr>
            <a:r>
              <a:rPr lang="en-US" sz="1200" dirty="0">
                <a:solidFill>
                  <a:srgbClr val="383858"/>
                </a:solidFill>
                <a:latin typeface="Meiryo" pitchFamily="34" charset="0"/>
                <a:ea typeface="Meiryo" pitchFamily="34" charset="-122"/>
                <a:cs typeface="Meiryo" pitchFamily="34" charset="-120"/>
              </a:rPr>
              <a:t>発話に同調する内容が生成されやすく、確証バイアスの助長や検索ノイズの混入が起こりうる</a:t>
            </a:r>
            <a:endParaRPr lang="en-US" sz="1200" dirty="0"/>
          </a:p>
        </p:txBody>
      </p:sp>
      <p:sp>
        <p:nvSpPr>
          <p:cNvPr id="8" name="Text 6"/>
          <p:cNvSpPr/>
          <p:nvPr/>
        </p:nvSpPr>
        <p:spPr>
          <a:xfrm>
            <a:off x="457200" y="2221992"/>
            <a:ext cx="8229600" cy="274320"/>
          </a:xfrm>
          <a:prstGeom prst="rect">
            <a:avLst/>
          </a:prstGeom>
          <a:noFill/>
          <a:ln/>
        </p:spPr>
        <p:txBody>
          <a:bodyPr wrap="square" lIns="0" tIns="0" rIns="0" bIns="0" rtlCol="0" anchor="ctr"/>
          <a:lstStyle/>
          <a:p>
            <a:pPr marL="0" indent="0">
              <a:buNone/>
            </a:pPr>
            <a:r>
              <a:rPr lang="en-US" sz="1200" b="1" dirty="0">
                <a:solidFill>
                  <a:srgbClr val="285888"/>
                </a:solidFill>
                <a:latin typeface="Meiryo" pitchFamily="34" charset="0"/>
                <a:ea typeface="Meiryo" pitchFamily="34" charset="-122"/>
                <a:cs typeface="Meiryo" pitchFamily="34" charset="-120"/>
              </a:rPr>
              <a:t>C2  議論ログと外部知識の論証的不接続</a:t>
            </a:r>
            <a:endParaRPr lang="en-US" sz="1200" dirty="0"/>
          </a:p>
        </p:txBody>
      </p:sp>
      <p:sp>
        <p:nvSpPr>
          <p:cNvPr id="9" name="Text 7"/>
          <p:cNvSpPr/>
          <p:nvPr/>
        </p:nvSpPr>
        <p:spPr>
          <a:xfrm>
            <a:off x="713232" y="2496312"/>
            <a:ext cx="7955280" cy="457200"/>
          </a:xfrm>
          <a:prstGeom prst="rect">
            <a:avLst/>
          </a:prstGeom>
          <a:noFill/>
          <a:ln/>
        </p:spPr>
        <p:txBody>
          <a:bodyPr wrap="square" lIns="0" tIns="0" rIns="0" bIns="0" rtlCol="0" anchor="t"/>
          <a:lstStyle/>
          <a:p>
            <a:pPr marL="190500" indent="-190500">
              <a:lnSpc>
                <a:spcPct val="108000"/>
              </a:lnSpc>
              <a:spcAft>
                <a:spcPts val="200"/>
              </a:spcAft>
              <a:buSzPct val="100000"/>
              <a:buChar char="–"/>
            </a:pPr>
            <a:r>
              <a:rPr lang="en-US" sz="1200" dirty="0">
                <a:solidFill>
                  <a:srgbClr val="383858"/>
                </a:solidFill>
                <a:latin typeface="Meiryo" pitchFamily="34" charset="0"/>
                <a:ea typeface="Meiryo" pitchFamily="34" charset="-122"/>
                <a:cs typeface="Meiryo" pitchFamily="34" charset="-120"/>
              </a:rPr>
              <a:t>「議論中の主張が外部文献のどの記述に支えられ／反論されているか」を追跡する仕組みがない</a:t>
            </a:r>
            <a:endParaRPr lang="en-US" sz="1200" dirty="0"/>
          </a:p>
          <a:p>
            <a:pPr marL="190500" indent="-190500">
              <a:lnSpc>
                <a:spcPct val="108000"/>
              </a:lnSpc>
              <a:spcAft>
                <a:spcPts val="200"/>
              </a:spcAft>
              <a:buSzPct val="100000"/>
              <a:buChar char="–"/>
            </a:pPr>
            <a:r>
              <a:rPr lang="en-US" sz="1200" dirty="0">
                <a:solidFill>
                  <a:srgbClr val="383858"/>
                </a:solidFill>
                <a:latin typeface="Meiryo" pitchFamily="34" charset="0"/>
                <a:ea typeface="Meiryo" pitchFamily="34" charset="-122"/>
                <a:cs typeface="Meiryo" pitchFamily="34" charset="-120"/>
              </a:rPr>
              <a:t>参加者は自分の主張がどう位置づけられるかを議論中に確認できない</a:t>
            </a:r>
            <a:endParaRPr lang="en-US" sz="1200" dirty="0"/>
          </a:p>
        </p:txBody>
      </p:sp>
      <p:sp>
        <p:nvSpPr>
          <p:cNvPr id="10" name="Text 8"/>
          <p:cNvSpPr/>
          <p:nvPr/>
        </p:nvSpPr>
        <p:spPr>
          <a:xfrm>
            <a:off x="457200" y="3026664"/>
            <a:ext cx="8229600" cy="274320"/>
          </a:xfrm>
          <a:prstGeom prst="rect">
            <a:avLst/>
          </a:prstGeom>
          <a:noFill/>
          <a:ln/>
        </p:spPr>
        <p:txBody>
          <a:bodyPr wrap="square" lIns="0" tIns="0" rIns="0" bIns="0" rtlCol="0" anchor="ctr"/>
          <a:lstStyle/>
          <a:p>
            <a:pPr marL="0" indent="0">
              <a:buNone/>
            </a:pPr>
            <a:r>
              <a:rPr lang="en-US" sz="1200" b="1" dirty="0">
                <a:solidFill>
                  <a:srgbClr val="285888"/>
                </a:solidFill>
                <a:latin typeface="Meiryo" pitchFamily="34" charset="0"/>
                <a:ea typeface="Meiryo" pitchFamily="34" charset="-122"/>
                <a:cs typeface="Meiryo" pitchFamily="34" charset="-120"/>
              </a:rPr>
              <a:t>C3  介入根拠の不透明性</a:t>
            </a:r>
            <a:endParaRPr lang="en-US" sz="1200" dirty="0"/>
          </a:p>
        </p:txBody>
      </p:sp>
      <p:sp>
        <p:nvSpPr>
          <p:cNvPr id="11" name="Text 9"/>
          <p:cNvSpPr/>
          <p:nvPr/>
        </p:nvSpPr>
        <p:spPr>
          <a:xfrm>
            <a:off x="713232" y="3300984"/>
            <a:ext cx="7955280" cy="457200"/>
          </a:xfrm>
          <a:prstGeom prst="rect">
            <a:avLst/>
          </a:prstGeom>
          <a:noFill/>
          <a:ln/>
        </p:spPr>
        <p:txBody>
          <a:bodyPr wrap="square" lIns="0" tIns="0" rIns="0" bIns="0" rtlCol="0" anchor="t"/>
          <a:lstStyle/>
          <a:p>
            <a:pPr marL="190500" indent="-190500">
              <a:lnSpc>
                <a:spcPct val="108000"/>
              </a:lnSpc>
              <a:spcAft>
                <a:spcPts val="200"/>
              </a:spcAft>
              <a:buSzPct val="100000"/>
              <a:buChar char="–"/>
            </a:pPr>
            <a:r>
              <a:rPr lang="en-US" sz="1200" dirty="0">
                <a:solidFill>
                  <a:srgbClr val="383858"/>
                </a:solidFill>
                <a:latin typeface="Meiryo" pitchFamily="34" charset="0"/>
                <a:ea typeface="Meiryo" pitchFamily="34" charset="-122"/>
                <a:cs typeface="Meiryo" pitchFamily="34" charset="-120"/>
              </a:rPr>
              <a:t>エージェントが情報提供や発言促進を行う際、「なぜこの介入が今行われたか」が見えない</a:t>
            </a:r>
            <a:endParaRPr lang="en-US" sz="1200" dirty="0"/>
          </a:p>
          <a:p>
            <a:pPr marL="190500" indent="-190500">
              <a:lnSpc>
                <a:spcPct val="108000"/>
              </a:lnSpc>
              <a:spcAft>
                <a:spcPts val="200"/>
              </a:spcAft>
              <a:buSzPct val="100000"/>
              <a:buChar char="–"/>
            </a:pPr>
            <a:r>
              <a:rPr lang="en-US" sz="1200" dirty="0">
                <a:solidFill>
                  <a:srgbClr val="383858"/>
                </a:solidFill>
                <a:latin typeface="Meiryo" pitchFamily="34" charset="0"/>
                <a:ea typeface="Meiryo" pitchFamily="34" charset="-122"/>
                <a:cs typeface="Meiryo" pitchFamily="34" charset="-120"/>
              </a:rPr>
              <a:t>根拠が説明可能でないと、社会実装上の信頼と運用可能性が確保できない</a:t>
            </a:r>
            <a:endParaRPr lang="en-US" sz="1200" dirty="0"/>
          </a:p>
        </p:txBody>
      </p:sp>
      <p:sp>
        <p:nvSpPr>
          <p:cNvPr id="12" name="Text 10"/>
          <p:cNvSpPr/>
          <p:nvPr/>
        </p:nvSpPr>
        <p:spPr>
          <a:xfrm>
            <a:off x="457200" y="3831336"/>
            <a:ext cx="8229600" cy="274320"/>
          </a:xfrm>
          <a:prstGeom prst="rect">
            <a:avLst/>
          </a:prstGeom>
          <a:noFill/>
          <a:ln/>
        </p:spPr>
        <p:txBody>
          <a:bodyPr wrap="square" lIns="0" tIns="0" rIns="0" bIns="0" rtlCol="0" anchor="ctr"/>
          <a:lstStyle/>
          <a:p>
            <a:pPr marL="0" indent="0">
              <a:buNone/>
            </a:pPr>
            <a:r>
              <a:rPr lang="en-US" sz="1200" b="1" dirty="0">
                <a:solidFill>
                  <a:srgbClr val="285888"/>
                </a:solidFill>
                <a:latin typeface="Meiryo" pitchFamily="34" charset="0"/>
                <a:ea typeface="Meiryo" pitchFamily="34" charset="-122"/>
                <a:cs typeface="Meiryo" pitchFamily="34" charset="-120"/>
              </a:rPr>
              <a:t>C4  事前資料の網羅性の限界</a:t>
            </a:r>
            <a:endParaRPr lang="en-US" sz="1200" dirty="0"/>
          </a:p>
        </p:txBody>
      </p:sp>
      <p:sp>
        <p:nvSpPr>
          <p:cNvPr id="13" name="Text 11"/>
          <p:cNvSpPr/>
          <p:nvPr/>
        </p:nvSpPr>
        <p:spPr>
          <a:xfrm>
            <a:off x="713232" y="4105656"/>
            <a:ext cx="7955280" cy="457200"/>
          </a:xfrm>
          <a:prstGeom prst="rect">
            <a:avLst/>
          </a:prstGeom>
          <a:noFill/>
          <a:ln/>
        </p:spPr>
        <p:txBody>
          <a:bodyPr wrap="square" lIns="0" tIns="0" rIns="0" bIns="0" rtlCol="0" anchor="t"/>
          <a:lstStyle/>
          <a:p>
            <a:pPr marL="190500" indent="-190500">
              <a:lnSpc>
                <a:spcPct val="108000"/>
              </a:lnSpc>
              <a:spcAft>
                <a:spcPts val="200"/>
              </a:spcAft>
              <a:buSzPct val="100000"/>
              <a:buChar char="–"/>
            </a:pPr>
            <a:r>
              <a:rPr lang="en-US" sz="1200" dirty="0">
                <a:solidFill>
                  <a:srgbClr val="383858"/>
                </a:solidFill>
                <a:latin typeface="Meiryo" pitchFamily="34" charset="0"/>
                <a:ea typeface="Meiryo" pitchFamily="34" charset="-122"/>
                <a:cs typeface="Meiryo" pitchFamily="34" charset="-120"/>
              </a:rPr>
              <a:t>議論中に浮上する新論点や時事的情報は事前構築のドキュメントではカバーしきれない</a:t>
            </a:r>
            <a:endParaRPr lang="en-US" sz="1200" dirty="0"/>
          </a:p>
          <a:p>
            <a:pPr marL="190500" indent="-190500">
              <a:lnSpc>
                <a:spcPct val="108000"/>
              </a:lnSpc>
              <a:spcAft>
                <a:spcPts val="200"/>
              </a:spcAft>
              <a:buSzPct val="100000"/>
              <a:buChar char="–"/>
            </a:pPr>
            <a:r>
              <a:rPr lang="en-US" sz="1200" dirty="0">
                <a:solidFill>
                  <a:srgbClr val="383858"/>
                </a:solidFill>
                <a:latin typeface="Meiryo" pitchFamily="34" charset="0"/>
                <a:ea typeface="Meiryo" pitchFamily="34" charset="-122"/>
                <a:cs typeface="Meiryo" pitchFamily="34" charset="-120"/>
              </a:rPr>
              <a:t>事前資料のドメイン知識と動的に取り込まれる広い情報の両方を、論証構造を保って扱う仕組みが必要</a:t>
            </a:r>
            <a:endParaRPr lang="en-US" sz="1200" dirty="0"/>
          </a:p>
        </p:txBody>
      </p:sp>
    </p:spTree>
    <p:extLst>
      <p:ext uri="{BB962C8B-B14F-4D97-AF65-F5344CB8AC3E}">
        <p14:creationId xmlns:p14="http://schemas.microsoft.com/office/powerpoint/2010/main" val="3661075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37744"/>
            <a:ext cx="8229600" cy="274320"/>
          </a:xfrm>
          <a:prstGeom prst="rect">
            <a:avLst/>
          </a:prstGeom>
          <a:noFill/>
          <a:ln/>
        </p:spPr>
        <p:txBody>
          <a:bodyPr wrap="square" lIns="0" tIns="0" rIns="0" bIns="0" rtlCol="0" anchor="ctr"/>
          <a:lstStyle/>
          <a:p>
            <a:pPr marL="0" indent="0">
              <a:buNone/>
            </a:pPr>
            <a:r>
              <a:rPr lang="en-US" sz="1200" dirty="0">
                <a:solidFill>
                  <a:srgbClr val="285888"/>
                </a:solidFill>
                <a:latin typeface="Meiryo" pitchFamily="34" charset="0"/>
                <a:ea typeface="Meiryo" pitchFamily="34" charset="-122"/>
                <a:cs typeface="Meiryo" pitchFamily="34" charset="-120"/>
              </a:rPr>
              <a:t>2. リサーチクエスチョン</a:t>
            </a:r>
            <a:endParaRPr lang="en-US" sz="1200" dirty="0"/>
          </a:p>
        </p:txBody>
      </p:sp>
      <p:sp>
        <p:nvSpPr>
          <p:cNvPr id="3" name="Text 1"/>
          <p:cNvSpPr/>
          <p:nvPr/>
        </p:nvSpPr>
        <p:spPr>
          <a:xfrm>
            <a:off x="457200" y="493776"/>
            <a:ext cx="8229600" cy="566928"/>
          </a:xfrm>
          <a:prstGeom prst="rect">
            <a:avLst/>
          </a:prstGeom>
          <a:noFill/>
          <a:ln/>
        </p:spPr>
        <p:txBody>
          <a:bodyPr wrap="square" lIns="0" tIns="0" rIns="0" bIns="0" rtlCol="0" anchor="ctr"/>
          <a:lstStyle/>
          <a:p>
            <a:pPr marL="0" indent="0">
              <a:buNone/>
            </a:pPr>
            <a:r>
              <a:rPr lang="en-US" sz="2112" b="1" dirty="0">
                <a:solidFill>
                  <a:srgbClr val="181828"/>
                </a:solidFill>
                <a:latin typeface="Meiryo" pitchFamily="34" charset="0"/>
                <a:ea typeface="Meiryo" pitchFamily="34" charset="-122"/>
                <a:cs typeface="Meiryo" pitchFamily="34" charset="-120"/>
              </a:rPr>
              <a:t>目的とリサーチクエスチョン</a:t>
            </a:r>
            <a:endParaRPr lang="en-US" sz="2112" dirty="0"/>
          </a:p>
        </p:txBody>
      </p:sp>
      <p:sp>
        <p:nvSpPr>
          <p:cNvPr id="4" name="Shape 2"/>
          <p:cNvSpPr/>
          <p:nvPr/>
        </p:nvSpPr>
        <p:spPr>
          <a:xfrm>
            <a:off x="475488" y="1097280"/>
            <a:ext cx="1005840" cy="41148"/>
          </a:xfrm>
          <a:prstGeom prst="rect">
            <a:avLst/>
          </a:prstGeom>
          <a:solidFill>
            <a:srgbClr val="285888"/>
          </a:solidFill>
          <a:ln/>
        </p:spPr>
        <p:txBody>
          <a:bodyPr/>
          <a:lstStyle/>
          <a:p>
            <a:endParaRPr lang="ja-JP" altLang="en-US"/>
          </a:p>
        </p:txBody>
      </p:sp>
      <p:sp>
        <p:nvSpPr>
          <p:cNvPr id="5" name="Shape 3"/>
          <p:cNvSpPr/>
          <p:nvPr/>
        </p:nvSpPr>
        <p:spPr>
          <a:xfrm>
            <a:off x="457200" y="4873752"/>
            <a:ext cx="8229600" cy="27432"/>
          </a:xfrm>
          <a:prstGeom prst="rect">
            <a:avLst/>
          </a:prstGeom>
          <a:solidFill>
            <a:srgbClr val="243F66"/>
          </a:solidFill>
          <a:ln/>
        </p:spPr>
        <p:txBody>
          <a:bodyPr/>
          <a:lstStyle/>
          <a:p>
            <a:endParaRPr lang="ja-JP" altLang="en-US"/>
          </a:p>
        </p:txBody>
      </p:sp>
      <p:sp>
        <p:nvSpPr>
          <p:cNvPr id="6" name="Text 4"/>
          <p:cNvSpPr/>
          <p:nvPr/>
        </p:nvSpPr>
        <p:spPr>
          <a:xfrm>
            <a:off x="457200" y="1371600"/>
            <a:ext cx="8229600" cy="292608"/>
          </a:xfrm>
          <a:prstGeom prst="rect">
            <a:avLst/>
          </a:prstGeom>
          <a:noFill/>
          <a:ln/>
        </p:spPr>
        <p:txBody>
          <a:bodyPr wrap="square" lIns="0" tIns="0" rIns="0" bIns="0" rtlCol="0" anchor="ctr"/>
          <a:lstStyle/>
          <a:p>
            <a:pPr marL="0" indent="0">
              <a:buNone/>
            </a:pPr>
            <a:r>
              <a:rPr lang="en-US" sz="1276" b="1" dirty="0">
                <a:solidFill>
                  <a:srgbClr val="285888"/>
                </a:solidFill>
                <a:latin typeface="Meiryo" pitchFamily="34" charset="0"/>
                <a:ea typeface="Meiryo" pitchFamily="34" charset="-122"/>
                <a:cs typeface="Meiryo" pitchFamily="34" charset="-120"/>
              </a:rPr>
              <a:t>研究目的</a:t>
            </a:r>
            <a:endParaRPr lang="en-US" sz="1276" dirty="0"/>
          </a:p>
        </p:txBody>
      </p:sp>
      <p:sp>
        <p:nvSpPr>
          <p:cNvPr id="7" name="Text 5"/>
          <p:cNvSpPr/>
          <p:nvPr/>
        </p:nvSpPr>
        <p:spPr>
          <a:xfrm>
            <a:off x="502920" y="1755648"/>
            <a:ext cx="8229600" cy="1097280"/>
          </a:xfrm>
          <a:prstGeom prst="rect">
            <a:avLst/>
          </a:prstGeom>
          <a:noFill/>
          <a:ln/>
        </p:spPr>
        <p:txBody>
          <a:bodyPr wrap="square" lIns="0" tIns="0" rIns="0" bIns="0" rtlCol="0" anchor="t"/>
          <a:lstStyle/>
          <a:p>
            <a:pPr marL="190500" indent="-190500">
              <a:lnSpc>
                <a:spcPct val="112000"/>
              </a:lnSpc>
              <a:spcAft>
                <a:spcPts val="600"/>
              </a:spcAft>
              <a:buSzPct val="100000"/>
              <a:buChar char="•"/>
            </a:pPr>
            <a:r>
              <a:rPr lang="en-US" sz="1200" dirty="0">
                <a:solidFill>
                  <a:srgbClr val="383858"/>
                </a:solidFill>
                <a:latin typeface="Meiryo" pitchFamily="34" charset="0"/>
                <a:ea typeface="Meiryo" pitchFamily="34" charset="-122"/>
                <a:cs typeface="Meiryo" pitchFamily="34" charset="-120"/>
              </a:rPr>
              <a:t>議論ログと外部知識を単一の議論グラフ (AF) として統合的に保持・運用し、論証構造の連続性を担保するマルチエージェント議論支援システムを構築する</a:t>
            </a:r>
            <a:endParaRPr lang="en-US" sz="1200" dirty="0"/>
          </a:p>
          <a:p>
            <a:pPr marL="190500" indent="-190500">
              <a:lnSpc>
                <a:spcPct val="112000"/>
              </a:lnSpc>
              <a:spcAft>
                <a:spcPts val="600"/>
              </a:spcAft>
              <a:buSzPct val="100000"/>
              <a:buChar char="•"/>
            </a:pPr>
            <a:r>
              <a:rPr lang="en-US" sz="1200" dirty="0">
                <a:solidFill>
                  <a:srgbClr val="383858"/>
                </a:solidFill>
                <a:latin typeface="Meiryo" pitchFamily="34" charset="0"/>
                <a:ea typeface="Meiryo" pitchFamily="34" charset="-122"/>
                <a:cs typeface="Meiryo" pitchFamily="34" charset="-120"/>
              </a:rPr>
              <a:t>これにより、確証バイアスや議論の極化を構造的に抑制し、合意形成の質を高めることを目指す</a:t>
            </a:r>
            <a:endParaRPr lang="en-US" sz="1200" dirty="0"/>
          </a:p>
        </p:txBody>
      </p:sp>
      <p:sp>
        <p:nvSpPr>
          <p:cNvPr id="8" name="Text 6"/>
          <p:cNvSpPr/>
          <p:nvPr/>
        </p:nvSpPr>
        <p:spPr>
          <a:xfrm>
            <a:off x="457200" y="2907792"/>
            <a:ext cx="8229600" cy="292608"/>
          </a:xfrm>
          <a:prstGeom prst="rect">
            <a:avLst/>
          </a:prstGeom>
          <a:noFill/>
          <a:ln/>
        </p:spPr>
        <p:txBody>
          <a:bodyPr wrap="square" lIns="0" tIns="0" rIns="0" bIns="0" rtlCol="0" anchor="ctr"/>
          <a:lstStyle/>
          <a:p>
            <a:pPr marL="0" indent="0">
              <a:buNone/>
            </a:pPr>
            <a:r>
              <a:rPr lang="en-US" sz="1276" b="1" dirty="0">
                <a:solidFill>
                  <a:srgbClr val="285888"/>
                </a:solidFill>
                <a:latin typeface="Meiryo" pitchFamily="34" charset="0"/>
                <a:ea typeface="Meiryo" pitchFamily="34" charset="-122"/>
                <a:cs typeface="Meiryo" pitchFamily="34" charset="-120"/>
              </a:rPr>
              <a:t>RQ1  議論の質への影響</a:t>
            </a:r>
            <a:endParaRPr lang="en-US" sz="1276" dirty="0"/>
          </a:p>
        </p:txBody>
      </p:sp>
      <p:sp>
        <p:nvSpPr>
          <p:cNvPr id="9" name="Text 7"/>
          <p:cNvSpPr/>
          <p:nvPr/>
        </p:nvSpPr>
        <p:spPr>
          <a:xfrm>
            <a:off x="713232" y="3200400"/>
            <a:ext cx="7955280" cy="457200"/>
          </a:xfrm>
          <a:prstGeom prst="rect">
            <a:avLst/>
          </a:prstGeom>
          <a:noFill/>
          <a:ln/>
        </p:spPr>
        <p:txBody>
          <a:bodyPr wrap="square" lIns="0" tIns="0" rIns="0" bIns="0" rtlCol="0" anchor="t"/>
          <a:lstStyle/>
          <a:p>
            <a:pPr marL="190500" indent="-190500">
              <a:lnSpc>
                <a:spcPct val="112000"/>
              </a:lnSpc>
              <a:spcAft>
                <a:spcPts val="600"/>
              </a:spcAft>
              <a:buSzPct val="100000"/>
              <a:buChar char="–"/>
            </a:pPr>
            <a:r>
              <a:rPr lang="en-US" sz="1200" dirty="0">
                <a:solidFill>
                  <a:srgbClr val="383858"/>
                </a:solidFill>
                <a:latin typeface="Meiryo" pitchFamily="34" charset="0"/>
                <a:ea typeface="Meiryo" pitchFamily="34" charset="-122"/>
                <a:cs typeface="Meiryo" pitchFamily="34" charset="-120"/>
              </a:rPr>
              <a:t>統合議論グラフを活用する議論支援は、フラットRAGや支援なしと比べて合意形成の質（満足度・根拠の豊富さ・情報活用度）にどう影響するか</a:t>
            </a:r>
            <a:endParaRPr lang="en-US" sz="1200" dirty="0"/>
          </a:p>
        </p:txBody>
      </p:sp>
      <p:sp>
        <p:nvSpPr>
          <p:cNvPr id="10" name="Text 8"/>
          <p:cNvSpPr/>
          <p:nvPr/>
        </p:nvSpPr>
        <p:spPr>
          <a:xfrm>
            <a:off x="457200" y="3694176"/>
            <a:ext cx="8229600" cy="292608"/>
          </a:xfrm>
          <a:prstGeom prst="rect">
            <a:avLst/>
          </a:prstGeom>
          <a:noFill/>
          <a:ln/>
        </p:spPr>
        <p:txBody>
          <a:bodyPr wrap="square" lIns="0" tIns="0" rIns="0" bIns="0" rtlCol="0" anchor="ctr"/>
          <a:lstStyle/>
          <a:p>
            <a:pPr marL="0" indent="0">
              <a:buNone/>
            </a:pPr>
            <a:r>
              <a:rPr lang="en-US" sz="1276" b="1" dirty="0">
                <a:solidFill>
                  <a:srgbClr val="285888"/>
                </a:solidFill>
                <a:latin typeface="Meiryo" pitchFamily="34" charset="0"/>
                <a:ea typeface="Meiryo" pitchFamily="34" charset="-122"/>
                <a:cs typeface="Meiryo" pitchFamily="34" charset="-120"/>
              </a:rPr>
              <a:t>RQ2  反対意見の理解と確証バイアスの緩和</a:t>
            </a:r>
            <a:endParaRPr lang="en-US" sz="1276" dirty="0"/>
          </a:p>
        </p:txBody>
      </p:sp>
      <p:sp>
        <p:nvSpPr>
          <p:cNvPr id="11" name="Text 9"/>
          <p:cNvSpPr/>
          <p:nvPr/>
        </p:nvSpPr>
        <p:spPr>
          <a:xfrm>
            <a:off x="713232" y="3986784"/>
            <a:ext cx="7955280" cy="365760"/>
          </a:xfrm>
          <a:prstGeom prst="rect">
            <a:avLst/>
          </a:prstGeom>
          <a:noFill/>
          <a:ln/>
        </p:spPr>
        <p:txBody>
          <a:bodyPr wrap="square" lIns="0" tIns="0" rIns="0" bIns="0" rtlCol="0" anchor="t"/>
          <a:lstStyle/>
          <a:p>
            <a:pPr marL="190500" indent="-190500">
              <a:lnSpc>
                <a:spcPct val="112000"/>
              </a:lnSpc>
              <a:spcAft>
                <a:spcPts val="600"/>
              </a:spcAft>
              <a:buSzPct val="100000"/>
              <a:buChar char="–"/>
            </a:pPr>
            <a:r>
              <a:rPr lang="en-US" sz="1200" dirty="0">
                <a:solidFill>
                  <a:srgbClr val="383858"/>
                </a:solidFill>
                <a:latin typeface="Meiryo" pitchFamily="34" charset="0"/>
                <a:ea typeface="Meiryo" pitchFamily="34" charset="-122"/>
                <a:cs typeface="Meiryo" pitchFamily="34" charset="-120"/>
              </a:rPr>
              <a:t>賛成・反対の論証を構造的にバランスして提示することで、反対意見の理解度や過剰な自信は変わるか</a:t>
            </a:r>
            <a:endParaRPr lang="en-US" sz="1200" dirty="0"/>
          </a:p>
        </p:txBody>
      </p:sp>
      <p:sp>
        <p:nvSpPr>
          <p:cNvPr id="12" name="Text 10"/>
          <p:cNvSpPr/>
          <p:nvPr/>
        </p:nvSpPr>
        <p:spPr>
          <a:xfrm>
            <a:off x="457200" y="4297680"/>
            <a:ext cx="8229600" cy="292608"/>
          </a:xfrm>
          <a:prstGeom prst="rect">
            <a:avLst/>
          </a:prstGeom>
          <a:noFill/>
          <a:ln/>
        </p:spPr>
        <p:txBody>
          <a:bodyPr wrap="square" lIns="0" tIns="0" rIns="0" bIns="0" rtlCol="0" anchor="ctr"/>
          <a:lstStyle/>
          <a:p>
            <a:pPr marL="0" indent="0">
              <a:buNone/>
            </a:pPr>
            <a:r>
              <a:rPr lang="en-US" sz="1276" b="1" dirty="0">
                <a:solidFill>
                  <a:srgbClr val="285888"/>
                </a:solidFill>
                <a:latin typeface="Meiryo" pitchFamily="34" charset="0"/>
                <a:ea typeface="Meiryo" pitchFamily="34" charset="-122"/>
                <a:cs typeface="Meiryo" pitchFamily="34" charset="-120"/>
              </a:rPr>
              <a:t>RQ3  介入の透明性が参加者に与える影響</a:t>
            </a:r>
            <a:endParaRPr lang="en-US" sz="1276" dirty="0"/>
          </a:p>
        </p:txBody>
      </p:sp>
      <p:sp>
        <p:nvSpPr>
          <p:cNvPr id="13" name="Text 11"/>
          <p:cNvSpPr/>
          <p:nvPr/>
        </p:nvSpPr>
        <p:spPr>
          <a:xfrm>
            <a:off x="713232" y="4590288"/>
            <a:ext cx="7955280" cy="365760"/>
          </a:xfrm>
          <a:prstGeom prst="rect">
            <a:avLst/>
          </a:prstGeom>
          <a:noFill/>
          <a:ln/>
        </p:spPr>
        <p:txBody>
          <a:bodyPr wrap="square" lIns="0" tIns="0" rIns="0" bIns="0" rtlCol="0" anchor="t"/>
          <a:lstStyle/>
          <a:p>
            <a:pPr marL="190500" indent="-190500">
              <a:lnSpc>
                <a:spcPct val="112000"/>
              </a:lnSpc>
              <a:spcAft>
                <a:spcPts val="600"/>
              </a:spcAft>
              <a:buSzPct val="100000"/>
              <a:buChar char="–"/>
            </a:pPr>
            <a:r>
              <a:rPr lang="en-US" sz="1200" dirty="0">
                <a:solidFill>
                  <a:srgbClr val="383858"/>
                </a:solidFill>
                <a:latin typeface="Meiryo" pitchFamily="34" charset="0"/>
                <a:ea typeface="Meiryo" pitchFamily="34" charset="-122"/>
                <a:cs typeface="Meiryo" pitchFamily="34" charset="-120"/>
              </a:rPr>
              <a:t>介入根拠が論証構造として明示されることで、納得感や情報活用度にどう影響するか</a:t>
            </a:r>
            <a:endParaRPr lang="en-US" sz="1200" dirty="0"/>
          </a:p>
        </p:txBody>
      </p:sp>
    </p:spTree>
    <p:extLst>
      <p:ext uri="{BB962C8B-B14F-4D97-AF65-F5344CB8AC3E}">
        <p14:creationId xmlns:p14="http://schemas.microsoft.com/office/powerpoint/2010/main" val="26674230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37744"/>
            <a:ext cx="8229600" cy="274320"/>
          </a:xfrm>
          <a:prstGeom prst="rect">
            <a:avLst/>
          </a:prstGeom>
          <a:noFill/>
          <a:ln/>
        </p:spPr>
        <p:txBody>
          <a:bodyPr wrap="square" lIns="0" tIns="0" rIns="0" bIns="0" rtlCol="0" anchor="ctr"/>
          <a:lstStyle/>
          <a:p>
            <a:pPr marL="0" indent="0">
              <a:buNone/>
            </a:pPr>
            <a:r>
              <a:rPr lang="en-US" sz="1200" dirty="0">
                <a:solidFill>
                  <a:srgbClr val="285888"/>
                </a:solidFill>
                <a:latin typeface="Meiryo" pitchFamily="34" charset="0"/>
                <a:ea typeface="Meiryo" pitchFamily="34" charset="-122"/>
                <a:cs typeface="Meiryo" pitchFamily="34" charset="-120"/>
              </a:rPr>
              <a:t>3. 提案手法</a:t>
            </a:r>
            <a:endParaRPr lang="en-US" sz="1200" dirty="0"/>
          </a:p>
        </p:txBody>
      </p:sp>
      <p:sp>
        <p:nvSpPr>
          <p:cNvPr id="3" name="Text 1"/>
          <p:cNvSpPr/>
          <p:nvPr/>
        </p:nvSpPr>
        <p:spPr>
          <a:xfrm>
            <a:off x="457200" y="493776"/>
            <a:ext cx="8229600" cy="566928"/>
          </a:xfrm>
          <a:prstGeom prst="rect">
            <a:avLst/>
          </a:prstGeom>
          <a:noFill/>
          <a:ln/>
        </p:spPr>
        <p:txBody>
          <a:bodyPr wrap="square" lIns="0" tIns="0" rIns="0" bIns="0" rtlCol="0" anchor="ctr"/>
          <a:lstStyle/>
          <a:p>
            <a:pPr marL="0" indent="0">
              <a:buNone/>
            </a:pPr>
            <a:r>
              <a:rPr lang="en-US" sz="2112" b="1" dirty="0">
                <a:solidFill>
                  <a:srgbClr val="181828"/>
                </a:solidFill>
                <a:latin typeface="Meiryo" pitchFamily="34" charset="0"/>
                <a:ea typeface="Meiryo" pitchFamily="34" charset="-122"/>
                <a:cs typeface="Meiryo" pitchFamily="34" charset="-120"/>
              </a:rPr>
              <a:t>提案手法：全体構成</a:t>
            </a:r>
            <a:endParaRPr lang="en-US" sz="2112" dirty="0"/>
          </a:p>
        </p:txBody>
      </p:sp>
      <p:sp>
        <p:nvSpPr>
          <p:cNvPr id="4" name="Shape 2"/>
          <p:cNvSpPr/>
          <p:nvPr/>
        </p:nvSpPr>
        <p:spPr>
          <a:xfrm>
            <a:off x="475488" y="1097280"/>
            <a:ext cx="1005840" cy="41148"/>
          </a:xfrm>
          <a:prstGeom prst="rect">
            <a:avLst/>
          </a:prstGeom>
          <a:solidFill>
            <a:srgbClr val="285888"/>
          </a:solidFill>
          <a:ln/>
        </p:spPr>
        <p:txBody>
          <a:bodyPr/>
          <a:lstStyle/>
          <a:p>
            <a:endParaRPr lang="ja-JP" altLang="en-US"/>
          </a:p>
        </p:txBody>
      </p:sp>
      <p:sp>
        <p:nvSpPr>
          <p:cNvPr id="5" name="Shape 3"/>
          <p:cNvSpPr/>
          <p:nvPr/>
        </p:nvSpPr>
        <p:spPr>
          <a:xfrm>
            <a:off x="457200" y="4873752"/>
            <a:ext cx="8229600" cy="27432"/>
          </a:xfrm>
          <a:prstGeom prst="rect">
            <a:avLst/>
          </a:prstGeom>
          <a:solidFill>
            <a:srgbClr val="243F66"/>
          </a:solidFill>
          <a:ln/>
        </p:spPr>
        <p:txBody>
          <a:bodyPr/>
          <a:lstStyle/>
          <a:p>
            <a:endParaRPr lang="ja-JP" altLang="en-US"/>
          </a:p>
        </p:txBody>
      </p:sp>
      <p:sp>
        <p:nvSpPr>
          <p:cNvPr id="6" name="Text 4"/>
          <p:cNvSpPr/>
          <p:nvPr/>
        </p:nvSpPr>
        <p:spPr>
          <a:xfrm>
            <a:off x="457200" y="1371600"/>
            <a:ext cx="8229600" cy="292608"/>
          </a:xfrm>
          <a:prstGeom prst="rect">
            <a:avLst/>
          </a:prstGeom>
          <a:noFill/>
          <a:ln/>
        </p:spPr>
        <p:txBody>
          <a:bodyPr wrap="square" lIns="0" tIns="0" rIns="0" bIns="0" rtlCol="0" anchor="ctr"/>
          <a:lstStyle/>
          <a:p>
            <a:pPr marL="0" indent="0">
              <a:buNone/>
            </a:pPr>
            <a:r>
              <a:rPr lang="en-US" sz="1276" b="1" dirty="0">
                <a:solidFill>
                  <a:srgbClr val="285888"/>
                </a:solidFill>
                <a:latin typeface="Meiryo" pitchFamily="34" charset="0"/>
                <a:ea typeface="Meiryo" pitchFamily="34" charset="-122"/>
                <a:cs typeface="Meiryo" pitchFamily="34" charset="-120"/>
              </a:rPr>
              <a:t>アプローチ</a:t>
            </a:r>
            <a:endParaRPr lang="en-US" sz="1276" dirty="0"/>
          </a:p>
        </p:txBody>
      </p:sp>
      <p:sp>
        <p:nvSpPr>
          <p:cNvPr id="7" name="Text 5"/>
          <p:cNvSpPr/>
          <p:nvPr/>
        </p:nvSpPr>
        <p:spPr>
          <a:xfrm>
            <a:off x="502920" y="1737360"/>
            <a:ext cx="8229600" cy="914400"/>
          </a:xfrm>
          <a:prstGeom prst="rect">
            <a:avLst/>
          </a:prstGeom>
          <a:noFill/>
          <a:ln/>
        </p:spPr>
        <p:txBody>
          <a:bodyPr wrap="square" lIns="0" tIns="0" rIns="0" bIns="0" rtlCol="0" anchor="t"/>
          <a:lstStyle/>
          <a:p>
            <a:pPr marL="190500" indent="-190500">
              <a:lnSpc>
                <a:spcPct val="112000"/>
              </a:lnSpc>
              <a:spcAft>
                <a:spcPts val="600"/>
              </a:spcAft>
              <a:buSzPct val="100000"/>
              <a:buChar char="•"/>
            </a:pPr>
            <a:r>
              <a:rPr lang="en-US" sz="1200" dirty="0">
                <a:solidFill>
                  <a:srgbClr val="383858"/>
                </a:solidFill>
                <a:latin typeface="Meiryo" pitchFamily="34" charset="0"/>
                <a:ea typeface="Meiryo" pitchFamily="34" charset="-122"/>
                <a:cs typeface="Meiryo" pitchFamily="34" charset="-120"/>
              </a:rPr>
              <a:t>議論ログ側と外部知識側の双方を議論グラフ (AF) として構造化</a:t>
            </a:r>
            <a:endParaRPr lang="en-US" sz="1200" dirty="0"/>
          </a:p>
          <a:p>
            <a:pPr marL="190500" indent="-190500">
              <a:lnSpc>
                <a:spcPct val="112000"/>
              </a:lnSpc>
              <a:spcAft>
                <a:spcPts val="600"/>
              </a:spcAft>
              <a:buSzPct val="100000"/>
              <a:buChar char="•"/>
            </a:pPr>
            <a:r>
              <a:rPr lang="en-US" sz="1200" dirty="0">
                <a:solidFill>
                  <a:srgbClr val="383858"/>
                </a:solidFill>
                <a:latin typeface="Meiryo" pitchFamily="34" charset="0"/>
                <a:ea typeface="Meiryo" pitchFamily="34" charset="-122"/>
                <a:cs typeface="Meiryo" pitchFamily="34" charset="-120"/>
              </a:rPr>
              <a:t>両者を支持・攻撃エッジで連結し、単一の統合議論グラフとして保持</a:t>
            </a:r>
            <a:endParaRPr lang="en-US" sz="1200" dirty="0"/>
          </a:p>
          <a:p>
            <a:pPr marL="190500" indent="-190500">
              <a:lnSpc>
                <a:spcPct val="112000"/>
              </a:lnSpc>
              <a:spcAft>
                <a:spcPts val="600"/>
              </a:spcAft>
              <a:buSzPct val="100000"/>
              <a:buChar char="•"/>
            </a:pPr>
            <a:r>
              <a:rPr lang="en-US" sz="1200" dirty="0">
                <a:solidFill>
                  <a:srgbClr val="383858"/>
                </a:solidFill>
                <a:latin typeface="Meiryo" pitchFamily="34" charset="0"/>
                <a:ea typeface="Meiryo" pitchFamily="34" charset="-122"/>
                <a:cs typeface="Meiryo" pitchFamily="34" charset="-120"/>
              </a:rPr>
              <a:t>この構築・運用を 5 種類の専門エージェントの分業として実現</a:t>
            </a:r>
            <a:endParaRPr lang="en-US" sz="1200" dirty="0"/>
          </a:p>
        </p:txBody>
      </p:sp>
      <p:sp>
        <p:nvSpPr>
          <p:cNvPr id="8" name="Text 6"/>
          <p:cNvSpPr/>
          <p:nvPr/>
        </p:nvSpPr>
        <p:spPr>
          <a:xfrm>
            <a:off x="457200" y="2578608"/>
            <a:ext cx="8229600" cy="292608"/>
          </a:xfrm>
          <a:prstGeom prst="rect">
            <a:avLst/>
          </a:prstGeom>
          <a:noFill/>
          <a:ln/>
        </p:spPr>
        <p:txBody>
          <a:bodyPr wrap="square" lIns="0" tIns="0" rIns="0" bIns="0" rtlCol="0" anchor="ctr"/>
          <a:lstStyle/>
          <a:p>
            <a:pPr marL="0" indent="0">
              <a:buNone/>
            </a:pPr>
            <a:r>
              <a:rPr lang="en-US" sz="1276" b="1" dirty="0">
                <a:solidFill>
                  <a:srgbClr val="285888"/>
                </a:solidFill>
                <a:latin typeface="Meiryo" pitchFamily="34" charset="0"/>
                <a:ea typeface="Meiryo" pitchFamily="34" charset="-122"/>
                <a:cs typeface="Meiryo" pitchFamily="34" charset="-120"/>
              </a:rPr>
              <a:t>グラフの更新</a:t>
            </a:r>
            <a:endParaRPr lang="en-US" sz="1276" dirty="0"/>
          </a:p>
        </p:txBody>
      </p:sp>
      <p:sp>
        <p:nvSpPr>
          <p:cNvPr id="9" name="Text 7"/>
          <p:cNvSpPr/>
          <p:nvPr/>
        </p:nvSpPr>
        <p:spPr>
          <a:xfrm>
            <a:off x="502920" y="2944368"/>
            <a:ext cx="8229600" cy="731520"/>
          </a:xfrm>
          <a:prstGeom prst="rect">
            <a:avLst/>
          </a:prstGeom>
          <a:noFill/>
          <a:ln/>
        </p:spPr>
        <p:txBody>
          <a:bodyPr wrap="square" lIns="0" tIns="0" rIns="0" bIns="0" rtlCol="0" anchor="t"/>
          <a:lstStyle/>
          <a:p>
            <a:pPr marL="190500" indent="-190500">
              <a:lnSpc>
                <a:spcPct val="112000"/>
              </a:lnSpc>
              <a:spcAft>
                <a:spcPts val="600"/>
              </a:spcAft>
              <a:buSzPct val="100000"/>
              <a:buChar char="•"/>
            </a:pPr>
            <a:r>
              <a:rPr lang="en-US" sz="1200" dirty="0">
                <a:solidFill>
                  <a:srgbClr val="383858"/>
                </a:solidFill>
                <a:latin typeface="Meiryo" pitchFamily="34" charset="0"/>
                <a:ea typeface="Meiryo" pitchFamily="34" charset="-122"/>
                <a:cs typeface="Meiryo" pitchFamily="34" charset="-120"/>
              </a:rPr>
              <a:t>各エージェントは独立に動き、共有の統合議論グラフに対して書き込み・読み出しを行う</a:t>
            </a:r>
            <a:endParaRPr lang="en-US" sz="1200" dirty="0"/>
          </a:p>
          <a:p>
            <a:pPr marL="190500" indent="-190500">
              <a:lnSpc>
                <a:spcPct val="112000"/>
              </a:lnSpc>
              <a:spcAft>
                <a:spcPts val="600"/>
              </a:spcAft>
              <a:buSzPct val="100000"/>
              <a:buChar char="•"/>
            </a:pPr>
            <a:r>
              <a:rPr lang="en-US" sz="1200" dirty="0">
                <a:solidFill>
                  <a:srgbClr val="383858"/>
                </a:solidFill>
                <a:latin typeface="Meiryo" pitchFamily="34" charset="0"/>
                <a:ea typeface="Meiryo" pitchFamily="34" charset="-122"/>
                <a:cs typeface="Meiryo" pitchFamily="34" charset="-120"/>
              </a:rPr>
              <a:t>発言や情報源が新しく入るたびにグラフはリアルタイムに更新される</a:t>
            </a:r>
            <a:endParaRPr lang="en-US" sz="1200" dirty="0"/>
          </a:p>
        </p:txBody>
      </p:sp>
      <p:sp>
        <p:nvSpPr>
          <p:cNvPr id="10" name="Text 8"/>
          <p:cNvSpPr/>
          <p:nvPr/>
        </p:nvSpPr>
        <p:spPr>
          <a:xfrm>
            <a:off x="457200" y="3621024"/>
            <a:ext cx="8229600" cy="292608"/>
          </a:xfrm>
          <a:prstGeom prst="rect">
            <a:avLst/>
          </a:prstGeom>
          <a:noFill/>
          <a:ln/>
        </p:spPr>
        <p:txBody>
          <a:bodyPr wrap="square" lIns="0" tIns="0" rIns="0" bIns="0" rtlCol="0" anchor="ctr"/>
          <a:lstStyle/>
          <a:p>
            <a:pPr marL="0" indent="0">
              <a:buNone/>
            </a:pPr>
            <a:r>
              <a:rPr lang="en-US" sz="1276" b="1" dirty="0">
                <a:solidFill>
                  <a:srgbClr val="285888"/>
                </a:solidFill>
                <a:latin typeface="Meiryo" pitchFamily="34" charset="0"/>
                <a:ea typeface="Meiryo" pitchFamily="34" charset="-122"/>
                <a:cs typeface="Meiryo" pitchFamily="34" charset="-120"/>
              </a:rPr>
              <a:t>5 つの専門エージェント</a:t>
            </a:r>
            <a:endParaRPr lang="en-US" sz="1276" dirty="0"/>
          </a:p>
        </p:txBody>
      </p:sp>
      <p:sp>
        <p:nvSpPr>
          <p:cNvPr id="11" name="Text 9"/>
          <p:cNvSpPr/>
          <p:nvPr/>
        </p:nvSpPr>
        <p:spPr>
          <a:xfrm>
            <a:off x="502920" y="3931920"/>
            <a:ext cx="8229600" cy="914400"/>
          </a:xfrm>
          <a:prstGeom prst="rect">
            <a:avLst/>
          </a:prstGeom>
          <a:noFill/>
          <a:ln/>
        </p:spPr>
        <p:txBody>
          <a:bodyPr wrap="square" lIns="0" tIns="0" rIns="0" bIns="0" rtlCol="0" anchor="t"/>
          <a:lstStyle/>
          <a:p>
            <a:pPr marL="190500" indent="-190500">
              <a:buSzPct val="100000"/>
              <a:buChar char="•"/>
            </a:pPr>
            <a:r>
              <a:rPr lang="en-US" sz="1200" b="1" dirty="0">
                <a:solidFill>
                  <a:srgbClr val="181828"/>
                </a:solidFill>
              </a:rPr>
              <a:t xml:space="preserve">論証抽出 </a:t>
            </a:r>
            <a:r>
              <a:rPr lang="en-US" sz="1200" dirty="0">
                <a:solidFill>
                  <a:srgbClr val="383858"/>
                </a:solidFill>
              </a:rPr>
              <a:t>— 発話を論証単位に分解しグラフに書き込む</a:t>
            </a:r>
            <a:endParaRPr lang="en-US" sz="1200" dirty="0"/>
          </a:p>
          <a:p>
            <a:pPr marL="190500" indent="-190500">
              <a:buSzPct val="100000"/>
              <a:buChar char="•"/>
            </a:pPr>
            <a:r>
              <a:rPr lang="en-US" sz="1200" b="1" dirty="0">
                <a:solidFill>
                  <a:srgbClr val="181828"/>
                </a:solidFill>
              </a:rPr>
              <a:t xml:space="preserve">ドキュメント知識 </a:t>
            </a:r>
            <a:r>
              <a:rPr lang="en-US" sz="1200" dirty="0">
                <a:solidFill>
                  <a:srgbClr val="383858"/>
                </a:solidFill>
              </a:rPr>
              <a:t>— 事前資料をAF化して保持・検索（深い知識）</a:t>
            </a:r>
            <a:endParaRPr lang="en-US" sz="1200" dirty="0"/>
          </a:p>
          <a:p>
            <a:pPr marL="190500" indent="-190500">
              <a:buSzPct val="100000"/>
              <a:buChar char="•"/>
            </a:pPr>
            <a:r>
              <a:rPr lang="en-US" sz="1200" b="1" dirty="0">
                <a:solidFill>
                  <a:srgbClr val="181828"/>
                </a:solidFill>
              </a:rPr>
              <a:t xml:space="preserve">Web検索 </a:t>
            </a:r>
            <a:r>
              <a:rPr lang="en-US" sz="1200" dirty="0">
                <a:solidFill>
                  <a:srgbClr val="383858"/>
                </a:solidFill>
              </a:rPr>
              <a:t>— 新論点をリアルタイム検索しAFノード化（広い知識）</a:t>
            </a:r>
            <a:endParaRPr lang="en-US" sz="1200" dirty="0"/>
          </a:p>
          <a:p>
            <a:pPr marL="190500" indent="-190500">
              <a:buSzPct val="100000"/>
              <a:buChar char="•"/>
            </a:pPr>
            <a:r>
              <a:rPr lang="en-US" sz="1200" b="1" dirty="0">
                <a:solidFill>
                  <a:srgbClr val="181828"/>
                </a:solidFill>
              </a:rPr>
              <a:t xml:space="preserve">連結 </a:t>
            </a:r>
            <a:r>
              <a:rPr lang="en-US" sz="1200" dirty="0">
                <a:solidFill>
                  <a:srgbClr val="383858"/>
                </a:solidFill>
              </a:rPr>
              <a:t>— 議論側と知識側の間に支持・攻撃エッジを推定</a:t>
            </a:r>
            <a:endParaRPr lang="en-US" sz="1200" dirty="0"/>
          </a:p>
          <a:p>
            <a:pPr marL="190500" indent="-190500">
              <a:buSzPct val="100000"/>
              <a:buChar char="•"/>
            </a:pPr>
            <a:r>
              <a:rPr lang="en-US" sz="1200" b="1" dirty="0">
                <a:solidFill>
                  <a:srgbClr val="181828"/>
                </a:solidFill>
              </a:rPr>
              <a:t xml:space="preserve">ファシリテーション </a:t>
            </a:r>
            <a:r>
              <a:rPr lang="en-US" sz="1200" dirty="0">
                <a:solidFill>
                  <a:srgbClr val="383858"/>
                </a:solidFill>
              </a:rPr>
              <a:t>— グラフ全体を読み、何をいつ誰に提示するか判断</a:t>
            </a:r>
            <a:endParaRPr lang="en-US" sz="1200" dirty="0"/>
          </a:p>
        </p:txBody>
      </p:sp>
    </p:spTree>
    <p:extLst>
      <p:ext uri="{BB962C8B-B14F-4D97-AF65-F5344CB8AC3E}">
        <p14:creationId xmlns:p14="http://schemas.microsoft.com/office/powerpoint/2010/main" val="9171052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37744"/>
            <a:ext cx="8229600" cy="274320"/>
          </a:xfrm>
          <a:prstGeom prst="rect">
            <a:avLst/>
          </a:prstGeom>
          <a:noFill/>
          <a:ln/>
        </p:spPr>
        <p:txBody>
          <a:bodyPr wrap="square" lIns="0" tIns="0" rIns="0" bIns="0" rtlCol="0" anchor="ctr"/>
          <a:lstStyle/>
          <a:p>
            <a:pPr marL="0" indent="0">
              <a:buNone/>
            </a:pPr>
            <a:r>
              <a:rPr lang="en-US" sz="1200" dirty="0">
                <a:solidFill>
                  <a:srgbClr val="285888"/>
                </a:solidFill>
                <a:latin typeface="Meiryo" pitchFamily="34" charset="0"/>
                <a:ea typeface="Meiryo" pitchFamily="34" charset="-122"/>
                <a:cs typeface="Meiryo" pitchFamily="34" charset="-120"/>
              </a:rPr>
              <a:t>3. 提案手法</a:t>
            </a:r>
            <a:endParaRPr lang="en-US" sz="1200" dirty="0"/>
          </a:p>
        </p:txBody>
      </p:sp>
      <p:sp>
        <p:nvSpPr>
          <p:cNvPr id="3" name="Text 1"/>
          <p:cNvSpPr/>
          <p:nvPr/>
        </p:nvSpPr>
        <p:spPr>
          <a:xfrm>
            <a:off x="457200" y="493776"/>
            <a:ext cx="8229600" cy="566928"/>
          </a:xfrm>
          <a:prstGeom prst="rect">
            <a:avLst/>
          </a:prstGeom>
          <a:noFill/>
          <a:ln/>
        </p:spPr>
        <p:txBody>
          <a:bodyPr wrap="square" lIns="0" tIns="0" rIns="0" bIns="0" rtlCol="0" anchor="ctr"/>
          <a:lstStyle/>
          <a:p>
            <a:pPr marL="0" indent="0">
              <a:buNone/>
            </a:pPr>
            <a:r>
              <a:rPr lang="en-US" sz="2112" b="1" dirty="0">
                <a:solidFill>
                  <a:srgbClr val="181828"/>
                </a:solidFill>
                <a:latin typeface="Meiryo" pitchFamily="34" charset="0"/>
                <a:ea typeface="Meiryo" pitchFamily="34" charset="-122"/>
                <a:cs typeface="Meiryo" pitchFamily="34" charset="-120"/>
              </a:rPr>
              <a:t>提案手法：システム構成</a:t>
            </a:r>
            <a:endParaRPr lang="en-US" sz="2112" dirty="0"/>
          </a:p>
        </p:txBody>
      </p:sp>
      <p:sp>
        <p:nvSpPr>
          <p:cNvPr id="4" name="Shape 2"/>
          <p:cNvSpPr/>
          <p:nvPr/>
        </p:nvSpPr>
        <p:spPr>
          <a:xfrm>
            <a:off x="475488" y="1097280"/>
            <a:ext cx="1005840" cy="41148"/>
          </a:xfrm>
          <a:prstGeom prst="rect">
            <a:avLst/>
          </a:prstGeom>
          <a:solidFill>
            <a:srgbClr val="285888"/>
          </a:solidFill>
          <a:ln/>
        </p:spPr>
        <p:txBody>
          <a:bodyPr/>
          <a:lstStyle/>
          <a:p>
            <a:endParaRPr lang="ja-JP" altLang="en-US"/>
          </a:p>
        </p:txBody>
      </p:sp>
      <p:sp>
        <p:nvSpPr>
          <p:cNvPr id="5" name="Shape 3"/>
          <p:cNvSpPr/>
          <p:nvPr/>
        </p:nvSpPr>
        <p:spPr>
          <a:xfrm>
            <a:off x="457200" y="4873752"/>
            <a:ext cx="8229600" cy="27432"/>
          </a:xfrm>
          <a:prstGeom prst="rect">
            <a:avLst/>
          </a:prstGeom>
          <a:solidFill>
            <a:srgbClr val="243F66"/>
          </a:solidFill>
          <a:ln/>
        </p:spPr>
        <p:txBody>
          <a:bodyPr/>
          <a:lstStyle/>
          <a:p>
            <a:endParaRPr lang="ja-JP" altLang="en-US"/>
          </a:p>
        </p:txBody>
      </p:sp>
      <p:sp>
        <p:nvSpPr>
          <p:cNvPr id="6" name="Shape 4"/>
          <p:cNvSpPr/>
          <p:nvPr/>
        </p:nvSpPr>
        <p:spPr>
          <a:xfrm>
            <a:off x="2743200" y="1417320"/>
            <a:ext cx="3611880" cy="2606040"/>
          </a:xfrm>
          <a:prstGeom prst="rect">
            <a:avLst/>
          </a:prstGeom>
          <a:solidFill>
            <a:srgbClr val="F2F5FA"/>
          </a:solidFill>
          <a:ln w="12700">
            <a:solidFill>
              <a:srgbClr val="285888"/>
            </a:solidFill>
            <a:prstDash val="solid"/>
          </a:ln>
        </p:spPr>
        <p:txBody>
          <a:bodyPr/>
          <a:lstStyle/>
          <a:p>
            <a:endParaRPr lang="ja-JP" altLang="en-US"/>
          </a:p>
        </p:txBody>
      </p:sp>
      <p:sp>
        <p:nvSpPr>
          <p:cNvPr id="7" name="Text 5"/>
          <p:cNvSpPr/>
          <p:nvPr/>
        </p:nvSpPr>
        <p:spPr>
          <a:xfrm>
            <a:off x="2743200" y="1463040"/>
            <a:ext cx="3611880" cy="274320"/>
          </a:xfrm>
          <a:prstGeom prst="rect">
            <a:avLst/>
          </a:prstGeom>
          <a:noFill/>
          <a:ln/>
        </p:spPr>
        <p:txBody>
          <a:bodyPr wrap="square" lIns="0" tIns="0" rIns="0" bIns="0" rtlCol="0" anchor="ctr"/>
          <a:lstStyle/>
          <a:p>
            <a:pPr marL="0" indent="0" algn="ctr">
              <a:buNone/>
            </a:pPr>
            <a:r>
              <a:rPr lang="en-US" sz="1200" b="1" dirty="0">
                <a:solidFill>
                  <a:srgbClr val="285888"/>
                </a:solidFill>
                <a:latin typeface="Meiryo" pitchFamily="34" charset="0"/>
                <a:ea typeface="Meiryo" pitchFamily="34" charset="-122"/>
                <a:cs typeface="Meiryo" pitchFamily="34" charset="-120"/>
              </a:rPr>
              <a:t>統合議論グラフ (AF)</a:t>
            </a:r>
            <a:endParaRPr lang="en-US" sz="1200" dirty="0"/>
          </a:p>
        </p:txBody>
      </p:sp>
      <p:sp>
        <p:nvSpPr>
          <p:cNvPr id="8" name="Text 6"/>
          <p:cNvSpPr/>
          <p:nvPr/>
        </p:nvSpPr>
        <p:spPr>
          <a:xfrm>
            <a:off x="2907792" y="1792224"/>
            <a:ext cx="1371600" cy="201168"/>
          </a:xfrm>
          <a:prstGeom prst="rect">
            <a:avLst/>
          </a:prstGeom>
          <a:noFill/>
          <a:ln/>
        </p:spPr>
        <p:txBody>
          <a:bodyPr wrap="square" lIns="0" tIns="0" rIns="0" bIns="0" rtlCol="0" anchor="ctr"/>
          <a:lstStyle/>
          <a:p>
            <a:pPr marL="0" indent="0">
              <a:buNone/>
            </a:pPr>
            <a:r>
              <a:rPr lang="en-US" sz="1200" dirty="0">
                <a:solidFill>
                  <a:srgbClr val="5A5A72"/>
                </a:solidFill>
                <a:latin typeface="Meiryo" pitchFamily="34" charset="0"/>
                <a:ea typeface="Meiryo" pitchFamily="34" charset="-122"/>
                <a:cs typeface="Meiryo" pitchFamily="34" charset="-120"/>
              </a:rPr>
              <a:t>議論ログ側</a:t>
            </a:r>
            <a:endParaRPr lang="en-US" sz="1200" dirty="0"/>
          </a:p>
        </p:txBody>
      </p:sp>
      <p:sp>
        <p:nvSpPr>
          <p:cNvPr id="9" name="Text 7"/>
          <p:cNvSpPr/>
          <p:nvPr/>
        </p:nvSpPr>
        <p:spPr>
          <a:xfrm>
            <a:off x="4846320" y="1792224"/>
            <a:ext cx="1371600" cy="201168"/>
          </a:xfrm>
          <a:prstGeom prst="rect">
            <a:avLst/>
          </a:prstGeom>
          <a:noFill/>
          <a:ln/>
        </p:spPr>
        <p:txBody>
          <a:bodyPr wrap="square" lIns="0" tIns="0" rIns="0" bIns="0" rtlCol="0" anchor="ctr"/>
          <a:lstStyle/>
          <a:p>
            <a:pPr marL="0" indent="0" algn="r">
              <a:buNone/>
            </a:pPr>
            <a:r>
              <a:rPr lang="en-US" sz="1200" dirty="0">
                <a:solidFill>
                  <a:srgbClr val="5A5A72"/>
                </a:solidFill>
                <a:latin typeface="Meiryo" pitchFamily="34" charset="0"/>
                <a:ea typeface="Meiryo" pitchFamily="34" charset="-122"/>
                <a:cs typeface="Meiryo" pitchFamily="34" charset="-120"/>
              </a:rPr>
              <a:t>外部知識側</a:t>
            </a:r>
            <a:endParaRPr lang="en-US" sz="1200" dirty="0"/>
          </a:p>
        </p:txBody>
      </p:sp>
      <p:sp>
        <p:nvSpPr>
          <p:cNvPr id="10" name="Text 8"/>
          <p:cNvSpPr/>
          <p:nvPr/>
        </p:nvSpPr>
        <p:spPr>
          <a:xfrm>
            <a:off x="2926080" y="2084832"/>
            <a:ext cx="1143000" cy="411480"/>
          </a:xfrm>
          <a:prstGeom prst="roundRect">
            <a:avLst>
              <a:gd name="adj" fmla="val 11111"/>
            </a:avLst>
          </a:prstGeom>
          <a:solidFill>
            <a:srgbClr val="E6EAF2"/>
          </a:solidFill>
          <a:ln w="9525">
            <a:solidFill>
              <a:srgbClr val="243F66"/>
            </a:solidFill>
          </a:ln>
        </p:spPr>
        <p:txBody>
          <a:bodyPr wrap="square" lIns="0" tIns="0" rIns="0" bIns="0" rtlCol="0" anchor="ctr"/>
          <a:lstStyle/>
          <a:p>
            <a:pPr marL="0" indent="0" algn="ctr">
              <a:buNone/>
            </a:pPr>
            <a:r>
              <a:rPr lang="en-US" sz="1200" dirty="0">
                <a:solidFill>
                  <a:srgbClr val="181828"/>
                </a:solidFill>
                <a:latin typeface="Meiryo" pitchFamily="34" charset="0"/>
                <a:ea typeface="Meiryo" pitchFamily="34" charset="-122"/>
                <a:cs typeface="Meiryo" pitchFamily="34" charset="-120"/>
              </a:rPr>
              <a:t>発話</a:t>
            </a:r>
            <a:endParaRPr lang="en-US" sz="1200" dirty="0"/>
          </a:p>
        </p:txBody>
      </p:sp>
      <p:sp>
        <p:nvSpPr>
          <p:cNvPr id="11" name="Text 9"/>
          <p:cNvSpPr/>
          <p:nvPr/>
        </p:nvSpPr>
        <p:spPr>
          <a:xfrm>
            <a:off x="2926080" y="2816352"/>
            <a:ext cx="1143000" cy="411480"/>
          </a:xfrm>
          <a:prstGeom prst="roundRect">
            <a:avLst>
              <a:gd name="adj" fmla="val 11111"/>
            </a:avLst>
          </a:prstGeom>
          <a:solidFill>
            <a:srgbClr val="E6EAF2"/>
          </a:solidFill>
          <a:ln w="9525">
            <a:solidFill>
              <a:srgbClr val="243F66"/>
            </a:solidFill>
          </a:ln>
        </p:spPr>
        <p:txBody>
          <a:bodyPr wrap="square" lIns="0" tIns="0" rIns="0" bIns="0" rtlCol="0" anchor="ctr"/>
          <a:lstStyle/>
          <a:p>
            <a:pPr marL="0" indent="0" algn="ctr">
              <a:buNone/>
            </a:pPr>
            <a:r>
              <a:rPr lang="en-US" sz="1200" dirty="0">
                <a:solidFill>
                  <a:srgbClr val="181828"/>
                </a:solidFill>
                <a:latin typeface="Meiryo" pitchFamily="34" charset="0"/>
                <a:ea typeface="Meiryo" pitchFamily="34" charset="-122"/>
                <a:cs typeface="Meiryo" pitchFamily="34" charset="-120"/>
              </a:rPr>
              <a:t>発話</a:t>
            </a:r>
            <a:endParaRPr lang="en-US" sz="1200" dirty="0"/>
          </a:p>
        </p:txBody>
      </p:sp>
      <p:sp>
        <p:nvSpPr>
          <p:cNvPr id="12" name="Text 10"/>
          <p:cNvSpPr/>
          <p:nvPr/>
        </p:nvSpPr>
        <p:spPr>
          <a:xfrm>
            <a:off x="5029200" y="2084832"/>
            <a:ext cx="1143000" cy="411480"/>
          </a:xfrm>
          <a:prstGeom prst="roundRect">
            <a:avLst>
              <a:gd name="adj" fmla="val 11111"/>
            </a:avLst>
          </a:prstGeom>
          <a:solidFill>
            <a:srgbClr val="EDEDED"/>
          </a:solidFill>
          <a:ln w="9525">
            <a:solidFill>
              <a:srgbClr val="243F66"/>
            </a:solidFill>
          </a:ln>
        </p:spPr>
        <p:txBody>
          <a:bodyPr wrap="square" lIns="0" tIns="0" rIns="0" bIns="0" rtlCol="0" anchor="ctr"/>
          <a:lstStyle/>
          <a:p>
            <a:pPr marL="0" indent="0" algn="ctr">
              <a:buNone/>
            </a:pPr>
            <a:r>
              <a:rPr lang="en-US" sz="1200" dirty="0">
                <a:solidFill>
                  <a:srgbClr val="181828"/>
                </a:solidFill>
                <a:latin typeface="Meiryo" pitchFamily="34" charset="0"/>
                <a:ea typeface="Meiryo" pitchFamily="34" charset="-122"/>
                <a:cs typeface="Meiryo" pitchFamily="34" charset="-120"/>
              </a:rPr>
              <a:t>文献</a:t>
            </a:r>
            <a:endParaRPr lang="en-US" sz="1200" dirty="0"/>
          </a:p>
        </p:txBody>
      </p:sp>
      <p:sp>
        <p:nvSpPr>
          <p:cNvPr id="13" name="Text 11"/>
          <p:cNvSpPr/>
          <p:nvPr/>
        </p:nvSpPr>
        <p:spPr>
          <a:xfrm>
            <a:off x="5029200" y="2816352"/>
            <a:ext cx="1143000" cy="411480"/>
          </a:xfrm>
          <a:prstGeom prst="roundRect">
            <a:avLst>
              <a:gd name="adj" fmla="val 11111"/>
            </a:avLst>
          </a:prstGeom>
          <a:solidFill>
            <a:srgbClr val="EDEDED"/>
          </a:solidFill>
          <a:ln w="9525">
            <a:solidFill>
              <a:srgbClr val="243F66"/>
            </a:solidFill>
          </a:ln>
        </p:spPr>
        <p:txBody>
          <a:bodyPr wrap="square" lIns="0" tIns="0" rIns="0" bIns="0" rtlCol="0" anchor="ctr"/>
          <a:lstStyle/>
          <a:p>
            <a:pPr marL="0" indent="0" algn="ctr">
              <a:buNone/>
            </a:pPr>
            <a:r>
              <a:rPr lang="en-US" sz="1200" dirty="0">
                <a:solidFill>
                  <a:srgbClr val="181828"/>
                </a:solidFill>
                <a:latin typeface="Meiryo" pitchFamily="34" charset="0"/>
                <a:ea typeface="Meiryo" pitchFamily="34" charset="-122"/>
                <a:cs typeface="Meiryo" pitchFamily="34" charset="-120"/>
              </a:rPr>
              <a:t>Web</a:t>
            </a:r>
            <a:endParaRPr lang="en-US" sz="1200" dirty="0"/>
          </a:p>
        </p:txBody>
      </p:sp>
      <p:sp>
        <p:nvSpPr>
          <p:cNvPr id="14" name="Shape 12"/>
          <p:cNvSpPr/>
          <p:nvPr/>
        </p:nvSpPr>
        <p:spPr>
          <a:xfrm>
            <a:off x="4069080" y="2286000"/>
            <a:ext cx="960120" cy="0"/>
          </a:xfrm>
          <a:prstGeom prst="line">
            <a:avLst/>
          </a:prstGeom>
          <a:noFill/>
          <a:ln w="19050">
            <a:solidFill>
              <a:srgbClr val="2E7D32"/>
            </a:solidFill>
            <a:prstDash val="solid"/>
            <a:tailEnd type="triangle"/>
          </a:ln>
        </p:spPr>
        <p:txBody>
          <a:bodyPr/>
          <a:lstStyle/>
          <a:p>
            <a:endParaRPr lang="ja-JP" altLang="en-US"/>
          </a:p>
        </p:txBody>
      </p:sp>
      <p:sp>
        <p:nvSpPr>
          <p:cNvPr id="15" name="Text 13"/>
          <p:cNvSpPr/>
          <p:nvPr/>
        </p:nvSpPr>
        <p:spPr>
          <a:xfrm>
            <a:off x="4114800" y="2039112"/>
            <a:ext cx="868680" cy="201168"/>
          </a:xfrm>
          <a:prstGeom prst="rect">
            <a:avLst/>
          </a:prstGeom>
          <a:noFill/>
          <a:ln/>
        </p:spPr>
        <p:txBody>
          <a:bodyPr wrap="square" lIns="0" tIns="0" rIns="0" bIns="0" rtlCol="0" anchor="ctr"/>
          <a:lstStyle/>
          <a:p>
            <a:pPr marL="0" indent="0" algn="ctr">
              <a:buNone/>
            </a:pPr>
            <a:r>
              <a:rPr lang="en-US" sz="1200" b="1" dirty="0">
                <a:solidFill>
                  <a:srgbClr val="2E7D32"/>
                </a:solidFill>
                <a:latin typeface="Meiryo" pitchFamily="34" charset="0"/>
                <a:ea typeface="Meiryo" pitchFamily="34" charset="-122"/>
                <a:cs typeface="Meiryo" pitchFamily="34" charset="-120"/>
              </a:rPr>
              <a:t>支持</a:t>
            </a:r>
            <a:endParaRPr lang="en-US" sz="1200" dirty="0"/>
          </a:p>
        </p:txBody>
      </p:sp>
      <p:sp>
        <p:nvSpPr>
          <p:cNvPr id="16" name="Shape 14"/>
          <p:cNvSpPr/>
          <p:nvPr/>
        </p:nvSpPr>
        <p:spPr>
          <a:xfrm>
            <a:off x="4069080" y="3017520"/>
            <a:ext cx="960120" cy="0"/>
          </a:xfrm>
          <a:prstGeom prst="line">
            <a:avLst/>
          </a:prstGeom>
          <a:noFill/>
          <a:ln w="19050">
            <a:solidFill>
              <a:srgbClr val="C0392B"/>
            </a:solidFill>
            <a:prstDash val="solid"/>
            <a:tailEnd type="triangle"/>
          </a:ln>
        </p:spPr>
        <p:txBody>
          <a:bodyPr/>
          <a:lstStyle/>
          <a:p>
            <a:endParaRPr lang="ja-JP" altLang="en-US"/>
          </a:p>
        </p:txBody>
      </p:sp>
      <p:sp>
        <p:nvSpPr>
          <p:cNvPr id="17" name="Text 15"/>
          <p:cNvSpPr/>
          <p:nvPr/>
        </p:nvSpPr>
        <p:spPr>
          <a:xfrm>
            <a:off x="4114800" y="3026664"/>
            <a:ext cx="868680" cy="201168"/>
          </a:xfrm>
          <a:prstGeom prst="rect">
            <a:avLst/>
          </a:prstGeom>
          <a:noFill/>
          <a:ln/>
        </p:spPr>
        <p:txBody>
          <a:bodyPr wrap="square" lIns="0" tIns="0" rIns="0" bIns="0" rtlCol="0" anchor="ctr"/>
          <a:lstStyle/>
          <a:p>
            <a:pPr marL="0" indent="0" algn="ctr">
              <a:buNone/>
            </a:pPr>
            <a:r>
              <a:rPr lang="en-US" sz="1200" b="1" dirty="0">
                <a:solidFill>
                  <a:srgbClr val="C0392B"/>
                </a:solidFill>
                <a:latin typeface="Meiryo" pitchFamily="34" charset="0"/>
                <a:ea typeface="Meiryo" pitchFamily="34" charset="-122"/>
                <a:cs typeface="Meiryo" pitchFamily="34" charset="-120"/>
              </a:rPr>
              <a:t>攻撃</a:t>
            </a:r>
            <a:endParaRPr lang="en-US" sz="1200" dirty="0"/>
          </a:p>
        </p:txBody>
      </p:sp>
      <p:sp>
        <p:nvSpPr>
          <p:cNvPr id="18" name="Text 16"/>
          <p:cNvSpPr/>
          <p:nvPr/>
        </p:nvSpPr>
        <p:spPr>
          <a:xfrm>
            <a:off x="2788920" y="3630168"/>
            <a:ext cx="3520440" cy="274320"/>
          </a:xfrm>
          <a:prstGeom prst="rect">
            <a:avLst/>
          </a:prstGeom>
          <a:noFill/>
          <a:ln/>
        </p:spPr>
        <p:txBody>
          <a:bodyPr wrap="square" lIns="0" tIns="0" rIns="0" bIns="0" rtlCol="0" anchor="ctr"/>
          <a:lstStyle/>
          <a:p>
            <a:pPr marL="0" indent="0" algn="ctr">
              <a:buNone/>
            </a:pPr>
            <a:r>
              <a:rPr lang="en-US" sz="1200" i="1" dirty="0">
                <a:solidFill>
                  <a:srgbClr val="285888"/>
                </a:solidFill>
                <a:latin typeface="Meiryo" pitchFamily="34" charset="0"/>
                <a:ea typeface="Meiryo" pitchFamily="34" charset="-122"/>
                <a:cs typeface="Meiryo" pitchFamily="34" charset="-120"/>
              </a:rPr>
              <a:t>連結エージェントが支持・攻撃エッジを推定</a:t>
            </a:r>
            <a:endParaRPr lang="en-US" sz="1200" dirty="0"/>
          </a:p>
        </p:txBody>
      </p:sp>
      <p:sp>
        <p:nvSpPr>
          <p:cNvPr id="19" name="Text 17"/>
          <p:cNvSpPr/>
          <p:nvPr/>
        </p:nvSpPr>
        <p:spPr>
          <a:xfrm>
            <a:off x="411480" y="2194560"/>
            <a:ext cx="1874520" cy="548640"/>
          </a:xfrm>
          <a:prstGeom prst="roundRect">
            <a:avLst>
              <a:gd name="adj" fmla="val 8333"/>
            </a:avLst>
          </a:prstGeom>
          <a:solidFill>
            <a:srgbClr val="FFFFFF"/>
          </a:solidFill>
          <a:ln w="12700">
            <a:solidFill>
              <a:srgbClr val="285888"/>
            </a:solidFill>
          </a:ln>
        </p:spPr>
        <p:txBody>
          <a:bodyPr wrap="square" lIns="25400" tIns="25400" rIns="25400" bIns="25400" rtlCol="0" anchor="ctr"/>
          <a:lstStyle/>
          <a:p>
            <a:pPr marL="0" indent="0" algn="ctr">
              <a:buNone/>
            </a:pPr>
            <a:r>
              <a:rPr lang="en-US" sz="1200" b="1" dirty="0">
                <a:solidFill>
                  <a:srgbClr val="243F66"/>
                </a:solidFill>
                <a:latin typeface="Meiryo" pitchFamily="34" charset="0"/>
                <a:ea typeface="Meiryo" pitchFamily="34" charset="-122"/>
                <a:cs typeface="Meiryo" pitchFamily="34" charset="-120"/>
              </a:rPr>
              <a:t>論証抽出</a:t>
            </a:r>
            <a:endParaRPr lang="en-US" sz="1200" dirty="0"/>
          </a:p>
          <a:p>
            <a:pPr marL="0" indent="0" algn="ctr">
              <a:buNone/>
            </a:pPr>
            <a:r>
              <a:rPr lang="en-US" sz="1200" b="1" dirty="0">
                <a:solidFill>
                  <a:srgbClr val="243F66"/>
                </a:solidFill>
                <a:latin typeface="Meiryo" pitchFamily="34" charset="0"/>
                <a:ea typeface="Meiryo" pitchFamily="34" charset="-122"/>
                <a:cs typeface="Meiryo" pitchFamily="34" charset="-120"/>
              </a:rPr>
              <a:t>（発話を論証化）</a:t>
            </a:r>
            <a:endParaRPr lang="en-US" sz="1200" dirty="0"/>
          </a:p>
        </p:txBody>
      </p:sp>
      <p:sp>
        <p:nvSpPr>
          <p:cNvPr id="20" name="Shape 18"/>
          <p:cNvSpPr/>
          <p:nvPr/>
        </p:nvSpPr>
        <p:spPr>
          <a:xfrm>
            <a:off x="2286000" y="2468880"/>
            <a:ext cx="457200" cy="0"/>
          </a:xfrm>
          <a:prstGeom prst="line">
            <a:avLst/>
          </a:prstGeom>
          <a:noFill/>
          <a:ln w="15875">
            <a:solidFill>
              <a:srgbClr val="808088"/>
            </a:solidFill>
            <a:prstDash val="solid"/>
            <a:tailEnd type="triangle"/>
          </a:ln>
        </p:spPr>
        <p:txBody>
          <a:bodyPr/>
          <a:lstStyle/>
          <a:p>
            <a:endParaRPr lang="ja-JP" altLang="en-US"/>
          </a:p>
        </p:txBody>
      </p:sp>
      <p:sp>
        <p:nvSpPr>
          <p:cNvPr id="21" name="Text 19"/>
          <p:cNvSpPr/>
          <p:nvPr/>
        </p:nvSpPr>
        <p:spPr>
          <a:xfrm>
            <a:off x="6858000" y="1828800"/>
            <a:ext cx="1874520" cy="548640"/>
          </a:xfrm>
          <a:prstGeom prst="roundRect">
            <a:avLst>
              <a:gd name="adj" fmla="val 8333"/>
            </a:avLst>
          </a:prstGeom>
          <a:solidFill>
            <a:srgbClr val="FFFFFF"/>
          </a:solidFill>
          <a:ln w="12700">
            <a:solidFill>
              <a:srgbClr val="285888"/>
            </a:solidFill>
          </a:ln>
        </p:spPr>
        <p:txBody>
          <a:bodyPr wrap="square" lIns="25400" tIns="25400" rIns="25400" bIns="25400" rtlCol="0" anchor="ctr"/>
          <a:lstStyle/>
          <a:p>
            <a:pPr marL="0" indent="0" algn="ctr">
              <a:buNone/>
            </a:pPr>
            <a:r>
              <a:rPr lang="en-US" sz="1200" b="1" dirty="0">
                <a:solidFill>
                  <a:srgbClr val="243F66"/>
                </a:solidFill>
                <a:latin typeface="Meiryo" pitchFamily="34" charset="0"/>
                <a:ea typeface="Meiryo" pitchFamily="34" charset="-122"/>
                <a:cs typeface="Meiryo" pitchFamily="34" charset="-120"/>
              </a:rPr>
              <a:t>ドキュメント知識</a:t>
            </a:r>
            <a:endParaRPr lang="en-US" sz="1200" dirty="0"/>
          </a:p>
          <a:p>
            <a:pPr marL="0" indent="0" algn="ctr">
              <a:buNone/>
            </a:pPr>
            <a:r>
              <a:rPr lang="en-US" sz="1200" b="1" dirty="0">
                <a:solidFill>
                  <a:srgbClr val="243F66"/>
                </a:solidFill>
                <a:latin typeface="Meiryo" pitchFamily="34" charset="0"/>
                <a:ea typeface="Meiryo" pitchFamily="34" charset="-122"/>
                <a:cs typeface="Meiryo" pitchFamily="34" charset="-120"/>
              </a:rPr>
              <a:t>（深い知識）</a:t>
            </a:r>
            <a:endParaRPr lang="en-US" sz="1200" dirty="0"/>
          </a:p>
        </p:txBody>
      </p:sp>
      <p:sp>
        <p:nvSpPr>
          <p:cNvPr id="22" name="Shape 20"/>
          <p:cNvSpPr/>
          <p:nvPr/>
        </p:nvSpPr>
        <p:spPr>
          <a:xfrm>
            <a:off x="6858000" y="2121408"/>
            <a:ext cx="0" cy="0"/>
          </a:xfrm>
          <a:prstGeom prst="line">
            <a:avLst/>
          </a:prstGeom>
          <a:noFill/>
          <a:ln w="15875">
            <a:solidFill>
              <a:srgbClr val="808088"/>
            </a:solidFill>
            <a:prstDash val="solid"/>
            <a:tailEnd type="triangle"/>
          </a:ln>
        </p:spPr>
        <p:txBody>
          <a:bodyPr/>
          <a:lstStyle/>
          <a:p>
            <a:endParaRPr lang="ja-JP" altLang="en-US"/>
          </a:p>
        </p:txBody>
      </p:sp>
      <p:sp>
        <p:nvSpPr>
          <p:cNvPr id="23" name="Text 21"/>
          <p:cNvSpPr/>
          <p:nvPr/>
        </p:nvSpPr>
        <p:spPr>
          <a:xfrm>
            <a:off x="6858000" y="2724912"/>
            <a:ext cx="1874520" cy="548640"/>
          </a:xfrm>
          <a:prstGeom prst="roundRect">
            <a:avLst>
              <a:gd name="adj" fmla="val 8333"/>
            </a:avLst>
          </a:prstGeom>
          <a:solidFill>
            <a:srgbClr val="FFFFFF"/>
          </a:solidFill>
          <a:ln w="12700">
            <a:solidFill>
              <a:srgbClr val="285888"/>
            </a:solidFill>
          </a:ln>
        </p:spPr>
        <p:txBody>
          <a:bodyPr wrap="square" lIns="25400" tIns="25400" rIns="25400" bIns="25400" rtlCol="0" anchor="ctr"/>
          <a:lstStyle/>
          <a:p>
            <a:pPr marL="0" indent="0" algn="ctr">
              <a:buNone/>
            </a:pPr>
            <a:r>
              <a:rPr lang="en-US" sz="1200" b="1" dirty="0">
                <a:solidFill>
                  <a:srgbClr val="243F66"/>
                </a:solidFill>
                <a:latin typeface="Meiryo" pitchFamily="34" charset="0"/>
                <a:ea typeface="Meiryo" pitchFamily="34" charset="-122"/>
                <a:cs typeface="Meiryo" pitchFamily="34" charset="-120"/>
              </a:rPr>
              <a:t>Web検索</a:t>
            </a:r>
            <a:endParaRPr lang="en-US" sz="1200" dirty="0"/>
          </a:p>
          <a:p>
            <a:pPr marL="0" indent="0" algn="ctr">
              <a:buNone/>
            </a:pPr>
            <a:r>
              <a:rPr lang="en-US" sz="1200" b="1" dirty="0">
                <a:solidFill>
                  <a:srgbClr val="243F66"/>
                </a:solidFill>
                <a:latin typeface="Meiryo" pitchFamily="34" charset="0"/>
                <a:ea typeface="Meiryo" pitchFamily="34" charset="-122"/>
                <a:cs typeface="Meiryo" pitchFamily="34" charset="-120"/>
              </a:rPr>
              <a:t>（広い知識）</a:t>
            </a:r>
            <a:endParaRPr lang="en-US" sz="1200" dirty="0"/>
          </a:p>
        </p:txBody>
      </p:sp>
      <p:sp>
        <p:nvSpPr>
          <p:cNvPr id="24" name="Shape 22"/>
          <p:cNvSpPr/>
          <p:nvPr/>
        </p:nvSpPr>
        <p:spPr>
          <a:xfrm>
            <a:off x="6858000" y="2907792"/>
            <a:ext cx="0" cy="0"/>
          </a:xfrm>
          <a:prstGeom prst="line">
            <a:avLst/>
          </a:prstGeom>
          <a:noFill/>
          <a:ln w="15875">
            <a:solidFill>
              <a:srgbClr val="808088"/>
            </a:solidFill>
            <a:prstDash val="solid"/>
            <a:tailEnd type="triangle"/>
          </a:ln>
        </p:spPr>
        <p:txBody>
          <a:bodyPr/>
          <a:lstStyle/>
          <a:p>
            <a:endParaRPr lang="ja-JP" altLang="en-US"/>
          </a:p>
        </p:txBody>
      </p:sp>
      <p:sp>
        <p:nvSpPr>
          <p:cNvPr id="25" name="Text 23"/>
          <p:cNvSpPr/>
          <p:nvPr/>
        </p:nvSpPr>
        <p:spPr>
          <a:xfrm>
            <a:off x="868680" y="4224528"/>
            <a:ext cx="5486400" cy="457200"/>
          </a:xfrm>
          <a:prstGeom prst="rect">
            <a:avLst/>
          </a:prstGeom>
          <a:solidFill>
            <a:srgbClr val="EAEFF6"/>
          </a:solidFill>
          <a:ln w="9525">
            <a:solidFill>
              <a:srgbClr val="285888"/>
            </a:solidFill>
          </a:ln>
        </p:spPr>
        <p:txBody>
          <a:bodyPr wrap="square" lIns="25400" tIns="25400" rIns="25400" bIns="25400" rtlCol="0" anchor="ctr"/>
          <a:lstStyle/>
          <a:p>
            <a:pPr marL="0" indent="0" algn="ctr">
              <a:buNone/>
            </a:pPr>
            <a:r>
              <a:rPr lang="en-US" sz="1200" dirty="0">
                <a:solidFill>
                  <a:srgbClr val="181828"/>
                </a:solidFill>
                <a:latin typeface="Meiryo" pitchFamily="34" charset="0"/>
                <a:ea typeface="Meiryo" pitchFamily="34" charset="-122"/>
                <a:cs typeface="Meiryo" pitchFamily="34" charset="-120"/>
              </a:rPr>
              <a:t>ファシリテーションエージェント — グラフ全体を読み、いつ・誰に・何を提示するか判断</a:t>
            </a:r>
            <a:endParaRPr lang="en-US" sz="1200" dirty="0"/>
          </a:p>
        </p:txBody>
      </p:sp>
      <p:sp>
        <p:nvSpPr>
          <p:cNvPr id="26" name="Shape 24"/>
          <p:cNvSpPr/>
          <p:nvPr/>
        </p:nvSpPr>
        <p:spPr>
          <a:xfrm>
            <a:off x="4544568" y="4023360"/>
            <a:ext cx="0" cy="201168"/>
          </a:xfrm>
          <a:prstGeom prst="line">
            <a:avLst/>
          </a:prstGeom>
          <a:noFill/>
          <a:ln w="15875">
            <a:solidFill>
              <a:srgbClr val="808088"/>
            </a:solidFill>
            <a:prstDash val="solid"/>
            <a:tailEnd type="triangle"/>
          </a:ln>
        </p:spPr>
        <p:txBody>
          <a:bodyPr/>
          <a:lstStyle/>
          <a:p>
            <a:endParaRPr lang="ja-JP" altLang="en-US"/>
          </a:p>
        </p:txBody>
      </p:sp>
      <p:sp>
        <p:nvSpPr>
          <p:cNvPr id="27" name="Text 25"/>
          <p:cNvSpPr/>
          <p:nvPr/>
        </p:nvSpPr>
        <p:spPr>
          <a:xfrm>
            <a:off x="6858000" y="4224528"/>
            <a:ext cx="1874520" cy="457200"/>
          </a:xfrm>
          <a:prstGeom prst="roundRect">
            <a:avLst>
              <a:gd name="adj" fmla="val 10000"/>
            </a:avLst>
          </a:prstGeom>
          <a:solidFill>
            <a:srgbClr val="FFFFFF"/>
          </a:solidFill>
          <a:ln w="12700">
            <a:solidFill>
              <a:srgbClr val="243F66"/>
            </a:solidFill>
          </a:ln>
        </p:spPr>
        <p:txBody>
          <a:bodyPr wrap="square" lIns="12700" tIns="12700" rIns="12700" bIns="12700" rtlCol="0" anchor="ctr"/>
          <a:lstStyle/>
          <a:p>
            <a:pPr marL="0" indent="0" algn="ctr">
              <a:buNone/>
            </a:pPr>
            <a:r>
              <a:rPr lang="en-US" sz="1200" b="1" dirty="0">
                <a:solidFill>
                  <a:srgbClr val="243F66"/>
                </a:solidFill>
                <a:latin typeface="Meiryo" pitchFamily="34" charset="0"/>
                <a:ea typeface="Meiryo" pitchFamily="34" charset="-122"/>
                <a:cs typeface="Meiryo" pitchFamily="34" charset="-120"/>
              </a:rPr>
              <a:t>参加者へ</a:t>
            </a:r>
            <a:endParaRPr lang="en-US" sz="1200" dirty="0"/>
          </a:p>
          <a:p>
            <a:pPr marL="0" indent="0" algn="ctr">
              <a:buNone/>
            </a:pPr>
            <a:r>
              <a:rPr lang="en-US" sz="1200" b="1" dirty="0">
                <a:solidFill>
                  <a:srgbClr val="243F66"/>
                </a:solidFill>
                <a:latin typeface="Meiryo" pitchFamily="34" charset="0"/>
                <a:ea typeface="Meiryo" pitchFamily="34" charset="-122"/>
                <a:cs typeface="Meiryo" pitchFamily="34" charset="-120"/>
              </a:rPr>
              <a:t>4層提示</a:t>
            </a:r>
            <a:endParaRPr lang="en-US" sz="1200" dirty="0"/>
          </a:p>
        </p:txBody>
      </p:sp>
      <p:sp>
        <p:nvSpPr>
          <p:cNvPr id="28" name="Shape 26"/>
          <p:cNvSpPr/>
          <p:nvPr/>
        </p:nvSpPr>
        <p:spPr>
          <a:xfrm>
            <a:off x="6355080" y="4453128"/>
            <a:ext cx="457200" cy="0"/>
          </a:xfrm>
          <a:prstGeom prst="line">
            <a:avLst/>
          </a:prstGeom>
          <a:noFill/>
          <a:ln w="15875">
            <a:solidFill>
              <a:srgbClr val="808088"/>
            </a:solidFill>
            <a:prstDash val="solid"/>
            <a:tailEnd type="triangle"/>
          </a:ln>
        </p:spPr>
        <p:txBody>
          <a:bodyPr/>
          <a:lstStyle/>
          <a:p>
            <a:endParaRPr lang="ja-JP" altLang="en-US"/>
          </a:p>
        </p:txBody>
      </p:sp>
    </p:spTree>
    <p:extLst>
      <p:ext uri="{BB962C8B-B14F-4D97-AF65-F5344CB8AC3E}">
        <p14:creationId xmlns:p14="http://schemas.microsoft.com/office/powerpoint/2010/main" val="38662782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37744"/>
            <a:ext cx="8229600" cy="274320"/>
          </a:xfrm>
          <a:prstGeom prst="rect">
            <a:avLst/>
          </a:prstGeom>
          <a:noFill/>
          <a:ln/>
        </p:spPr>
        <p:txBody>
          <a:bodyPr wrap="square" lIns="0" tIns="0" rIns="0" bIns="0" rtlCol="0" anchor="ctr"/>
          <a:lstStyle/>
          <a:p>
            <a:pPr marL="0" indent="0">
              <a:buNone/>
            </a:pPr>
            <a:r>
              <a:rPr lang="en-US" sz="1200" dirty="0">
                <a:solidFill>
                  <a:srgbClr val="285888"/>
                </a:solidFill>
                <a:latin typeface="Meiryo" pitchFamily="34" charset="0"/>
                <a:ea typeface="Meiryo" pitchFamily="34" charset="-122"/>
                <a:cs typeface="Meiryo" pitchFamily="34" charset="-120"/>
              </a:rPr>
              <a:t>3. 提案手法</a:t>
            </a:r>
            <a:endParaRPr lang="en-US" sz="1200" dirty="0"/>
          </a:p>
        </p:txBody>
      </p:sp>
      <p:sp>
        <p:nvSpPr>
          <p:cNvPr id="3" name="Text 1"/>
          <p:cNvSpPr/>
          <p:nvPr/>
        </p:nvSpPr>
        <p:spPr>
          <a:xfrm>
            <a:off x="457200" y="493776"/>
            <a:ext cx="8229600" cy="566928"/>
          </a:xfrm>
          <a:prstGeom prst="rect">
            <a:avLst/>
          </a:prstGeom>
          <a:noFill/>
          <a:ln/>
        </p:spPr>
        <p:txBody>
          <a:bodyPr wrap="square" lIns="0" tIns="0" rIns="0" bIns="0" rtlCol="0" anchor="ctr"/>
          <a:lstStyle/>
          <a:p>
            <a:pPr marL="0" indent="0">
              <a:buNone/>
            </a:pPr>
            <a:r>
              <a:rPr lang="en-US" sz="2112" b="1" dirty="0">
                <a:solidFill>
                  <a:srgbClr val="181828"/>
                </a:solidFill>
                <a:latin typeface="Meiryo" pitchFamily="34" charset="0"/>
                <a:ea typeface="Meiryo" pitchFamily="34" charset="-122"/>
                <a:cs typeface="Meiryo" pitchFamily="34" charset="-120"/>
              </a:rPr>
              <a:t>具体例：議論グラフの構築過程</a:t>
            </a:r>
            <a:endParaRPr lang="en-US" sz="2112" dirty="0"/>
          </a:p>
        </p:txBody>
      </p:sp>
      <p:sp>
        <p:nvSpPr>
          <p:cNvPr id="4" name="Shape 2"/>
          <p:cNvSpPr/>
          <p:nvPr/>
        </p:nvSpPr>
        <p:spPr>
          <a:xfrm>
            <a:off x="475488" y="1097280"/>
            <a:ext cx="1005840" cy="41148"/>
          </a:xfrm>
          <a:prstGeom prst="rect">
            <a:avLst/>
          </a:prstGeom>
          <a:solidFill>
            <a:srgbClr val="285888"/>
          </a:solidFill>
          <a:ln/>
        </p:spPr>
        <p:txBody>
          <a:bodyPr/>
          <a:lstStyle/>
          <a:p>
            <a:endParaRPr lang="ja-JP" altLang="en-US"/>
          </a:p>
        </p:txBody>
      </p:sp>
      <p:sp>
        <p:nvSpPr>
          <p:cNvPr id="5" name="Shape 3"/>
          <p:cNvSpPr/>
          <p:nvPr/>
        </p:nvSpPr>
        <p:spPr>
          <a:xfrm>
            <a:off x="457200" y="4873752"/>
            <a:ext cx="8229600" cy="27432"/>
          </a:xfrm>
          <a:prstGeom prst="rect">
            <a:avLst/>
          </a:prstGeom>
          <a:solidFill>
            <a:srgbClr val="243F66"/>
          </a:solidFill>
          <a:ln/>
        </p:spPr>
        <p:txBody>
          <a:bodyPr/>
          <a:lstStyle/>
          <a:p>
            <a:endParaRPr lang="ja-JP" altLang="en-US"/>
          </a:p>
        </p:txBody>
      </p:sp>
      <p:sp>
        <p:nvSpPr>
          <p:cNvPr id="6" name="Text 4"/>
          <p:cNvSpPr/>
          <p:nvPr/>
        </p:nvSpPr>
        <p:spPr>
          <a:xfrm>
            <a:off x="457200" y="1371600"/>
            <a:ext cx="8229600" cy="274320"/>
          </a:xfrm>
          <a:prstGeom prst="rect">
            <a:avLst/>
          </a:prstGeom>
          <a:noFill/>
          <a:ln/>
        </p:spPr>
        <p:txBody>
          <a:bodyPr wrap="square" lIns="0" tIns="0" rIns="0" bIns="0" rtlCol="0" anchor="ctr"/>
          <a:lstStyle/>
          <a:p>
            <a:pPr marL="0" indent="0">
              <a:buNone/>
            </a:pPr>
            <a:r>
              <a:rPr lang="en-US" sz="1200" b="1" dirty="0">
                <a:solidFill>
                  <a:srgbClr val="285888"/>
                </a:solidFill>
                <a:latin typeface="Meiryo" pitchFamily="34" charset="0"/>
                <a:ea typeface="Meiryo" pitchFamily="34" charset="-122"/>
                <a:cs typeface="Meiryo" pitchFamily="34" charset="-120"/>
              </a:rPr>
              <a:t>設定：「大学のカフェテリアでプラスチック容器を廃止すべきか」</a:t>
            </a:r>
            <a:endParaRPr lang="en-US" sz="1200" dirty="0"/>
          </a:p>
        </p:txBody>
      </p:sp>
      <p:sp>
        <p:nvSpPr>
          <p:cNvPr id="7" name="Text 5"/>
          <p:cNvSpPr/>
          <p:nvPr/>
        </p:nvSpPr>
        <p:spPr>
          <a:xfrm>
            <a:off x="914400" y="1874520"/>
            <a:ext cx="2468880" cy="731520"/>
          </a:xfrm>
          <a:prstGeom prst="roundRect">
            <a:avLst>
              <a:gd name="adj" fmla="val 7500"/>
            </a:avLst>
          </a:prstGeom>
          <a:solidFill>
            <a:srgbClr val="E6EAF2"/>
          </a:solidFill>
          <a:ln w="12700">
            <a:solidFill>
              <a:srgbClr val="243F66"/>
            </a:solidFill>
          </a:ln>
        </p:spPr>
        <p:txBody>
          <a:bodyPr wrap="square" lIns="38100" tIns="38100" rIns="38100" bIns="38100" rtlCol="0" anchor="ctr"/>
          <a:lstStyle/>
          <a:p>
            <a:pPr marL="0" indent="0" algn="ctr">
              <a:buNone/>
            </a:pPr>
            <a:r>
              <a:rPr lang="en-US" sz="1200" dirty="0">
                <a:solidFill>
                  <a:srgbClr val="181828"/>
                </a:solidFill>
                <a:latin typeface="Meiryo" pitchFamily="34" charset="0"/>
                <a:ea typeface="Meiryo" pitchFamily="34" charset="-122"/>
                <a:cs typeface="Meiryo" pitchFamily="34" charset="-120"/>
              </a:rPr>
              <a:t>A1  廃止すべき</a:t>
            </a:r>
            <a:endParaRPr lang="en-US" sz="1200" dirty="0"/>
          </a:p>
          <a:p>
            <a:pPr marL="0" indent="0" algn="ctr">
              <a:buNone/>
            </a:pPr>
            <a:r>
              <a:rPr lang="en-US" sz="1200" dirty="0">
                <a:solidFill>
                  <a:srgbClr val="181828"/>
                </a:solidFill>
                <a:latin typeface="Meiryo" pitchFamily="34" charset="0"/>
                <a:ea typeface="Meiryo" pitchFamily="34" charset="-122"/>
                <a:cs typeface="Meiryo" pitchFamily="34" charset="-120"/>
              </a:rPr>
              <a:t>（発話・Aさん）</a:t>
            </a:r>
            <a:endParaRPr lang="en-US" sz="1200" dirty="0"/>
          </a:p>
        </p:txBody>
      </p:sp>
      <p:sp>
        <p:nvSpPr>
          <p:cNvPr id="8" name="Text 6"/>
          <p:cNvSpPr/>
          <p:nvPr/>
        </p:nvSpPr>
        <p:spPr>
          <a:xfrm>
            <a:off x="914400" y="3200400"/>
            <a:ext cx="2468880" cy="731520"/>
          </a:xfrm>
          <a:prstGeom prst="roundRect">
            <a:avLst>
              <a:gd name="adj" fmla="val 7500"/>
            </a:avLst>
          </a:prstGeom>
          <a:solidFill>
            <a:srgbClr val="E6EAF2"/>
          </a:solidFill>
          <a:ln w="12700">
            <a:solidFill>
              <a:srgbClr val="243F66"/>
            </a:solidFill>
          </a:ln>
        </p:spPr>
        <p:txBody>
          <a:bodyPr wrap="square" lIns="38100" tIns="38100" rIns="38100" bIns="38100" rtlCol="0" anchor="ctr"/>
          <a:lstStyle/>
          <a:p>
            <a:pPr marL="0" indent="0" algn="ctr">
              <a:buNone/>
            </a:pPr>
            <a:r>
              <a:rPr lang="en-US" sz="1200" dirty="0">
                <a:solidFill>
                  <a:srgbClr val="181828"/>
                </a:solidFill>
                <a:latin typeface="Meiryo" pitchFamily="34" charset="0"/>
                <a:ea typeface="Meiryo" pitchFamily="34" charset="-122"/>
                <a:cs typeface="Meiryo" pitchFamily="34" charset="-120"/>
              </a:rPr>
              <a:t>A2  紙容器はコスト3倍</a:t>
            </a:r>
            <a:endParaRPr lang="en-US" sz="1200" dirty="0"/>
          </a:p>
          <a:p>
            <a:pPr marL="0" indent="0" algn="ctr">
              <a:buNone/>
            </a:pPr>
            <a:r>
              <a:rPr lang="en-US" sz="1200" dirty="0">
                <a:solidFill>
                  <a:srgbClr val="181828"/>
                </a:solidFill>
                <a:latin typeface="Meiryo" pitchFamily="34" charset="0"/>
                <a:ea typeface="Meiryo" pitchFamily="34" charset="-122"/>
                <a:cs typeface="Meiryo" pitchFamily="34" charset="-120"/>
              </a:rPr>
              <a:t>（発話・Bさん）</a:t>
            </a:r>
            <a:endParaRPr lang="en-US" sz="1200" dirty="0"/>
          </a:p>
        </p:txBody>
      </p:sp>
      <p:sp>
        <p:nvSpPr>
          <p:cNvPr id="9" name="Text 7"/>
          <p:cNvSpPr/>
          <p:nvPr/>
        </p:nvSpPr>
        <p:spPr>
          <a:xfrm>
            <a:off x="5669280" y="1874520"/>
            <a:ext cx="2468880" cy="731520"/>
          </a:xfrm>
          <a:prstGeom prst="roundRect">
            <a:avLst>
              <a:gd name="adj" fmla="val 7500"/>
            </a:avLst>
          </a:prstGeom>
          <a:solidFill>
            <a:srgbClr val="EDEDED"/>
          </a:solidFill>
          <a:ln w="12700">
            <a:solidFill>
              <a:srgbClr val="243F66"/>
            </a:solidFill>
          </a:ln>
        </p:spPr>
        <p:txBody>
          <a:bodyPr wrap="square" lIns="38100" tIns="38100" rIns="38100" bIns="38100" rtlCol="0" anchor="ctr"/>
          <a:lstStyle/>
          <a:p>
            <a:pPr marL="0" indent="0" algn="ctr">
              <a:buNone/>
            </a:pPr>
            <a:r>
              <a:rPr lang="en-US" sz="1200" dirty="0">
                <a:solidFill>
                  <a:srgbClr val="181828"/>
                </a:solidFill>
                <a:latin typeface="Meiryo" pitchFamily="34" charset="0"/>
                <a:ea typeface="Meiryo" pitchFamily="34" charset="-122"/>
                <a:cs typeface="Meiryo" pitchFamily="34" charset="-120"/>
              </a:rPr>
              <a:t>A4  バイオプラで代替可</a:t>
            </a:r>
            <a:endParaRPr lang="en-US" sz="1200" dirty="0"/>
          </a:p>
          <a:p>
            <a:pPr marL="0" indent="0" algn="ctr">
              <a:buNone/>
            </a:pPr>
            <a:r>
              <a:rPr lang="en-US" sz="1200" dirty="0">
                <a:solidFill>
                  <a:srgbClr val="181828"/>
                </a:solidFill>
                <a:latin typeface="Meiryo" pitchFamily="34" charset="0"/>
                <a:ea typeface="Meiryo" pitchFamily="34" charset="-122"/>
                <a:cs typeface="Meiryo" pitchFamily="34" charset="-120"/>
              </a:rPr>
              <a:t>（Web検索）</a:t>
            </a:r>
            <a:endParaRPr lang="en-US" sz="1200" dirty="0"/>
          </a:p>
        </p:txBody>
      </p:sp>
      <p:sp>
        <p:nvSpPr>
          <p:cNvPr id="10" name="Text 8"/>
          <p:cNvSpPr/>
          <p:nvPr/>
        </p:nvSpPr>
        <p:spPr>
          <a:xfrm>
            <a:off x="5669280" y="3200400"/>
            <a:ext cx="2468880" cy="731520"/>
          </a:xfrm>
          <a:prstGeom prst="roundRect">
            <a:avLst>
              <a:gd name="adj" fmla="val 7500"/>
            </a:avLst>
          </a:prstGeom>
          <a:solidFill>
            <a:srgbClr val="EDEDED"/>
          </a:solidFill>
          <a:ln w="12700">
            <a:solidFill>
              <a:srgbClr val="243F66"/>
            </a:solidFill>
          </a:ln>
        </p:spPr>
        <p:txBody>
          <a:bodyPr wrap="square" lIns="38100" tIns="38100" rIns="38100" bIns="38100" rtlCol="0" anchor="ctr"/>
          <a:lstStyle/>
          <a:p>
            <a:pPr marL="0" indent="0" algn="ctr">
              <a:buNone/>
            </a:pPr>
            <a:r>
              <a:rPr lang="en-US" sz="1200" dirty="0">
                <a:solidFill>
                  <a:srgbClr val="181828"/>
                </a:solidFill>
                <a:latin typeface="Meiryo" pitchFamily="34" charset="0"/>
                <a:ea typeface="Meiryo" pitchFamily="34" charset="-122"/>
                <a:cs typeface="Meiryo" pitchFamily="34" charset="-120"/>
              </a:rPr>
              <a:t>A3  コスト増は初年度のみ</a:t>
            </a:r>
            <a:endParaRPr lang="en-US" sz="1200" dirty="0"/>
          </a:p>
          <a:p>
            <a:pPr marL="0" indent="0" algn="ctr">
              <a:buNone/>
            </a:pPr>
            <a:r>
              <a:rPr lang="en-US" sz="1200" dirty="0">
                <a:solidFill>
                  <a:srgbClr val="181828"/>
                </a:solidFill>
                <a:latin typeface="Meiryo" pitchFamily="34" charset="0"/>
                <a:ea typeface="Meiryo" pitchFamily="34" charset="-122"/>
                <a:cs typeface="Meiryo" pitchFamily="34" charset="-120"/>
              </a:rPr>
              <a:t>（文献）</a:t>
            </a:r>
            <a:endParaRPr lang="en-US" sz="1200" dirty="0"/>
          </a:p>
        </p:txBody>
      </p:sp>
      <p:sp>
        <p:nvSpPr>
          <p:cNvPr id="11" name="Shape 9"/>
          <p:cNvSpPr/>
          <p:nvPr/>
        </p:nvSpPr>
        <p:spPr>
          <a:xfrm>
            <a:off x="2148840" y="3200400"/>
            <a:ext cx="0" cy="0"/>
          </a:xfrm>
          <a:prstGeom prst="line">
            <a:avLst/>
          </a:prstGeom>
          <a:noFill/>
          <a:ln w="22225">
            <a:solidFill>
              <a:srgbClr val="C0392B"/>
            </a:solidFill>
            <a:prstDash val="solid"/>
            <a:tailEnd type="triangle"/>
          </a:ln>
        </p:spPr>
        <p:txBody>
          <a:bodyPr/>
          <a:lstStyle/>
          <a:p>
            <a:endParaRPr lang="ja-JP" altLang="en-US"/>
          </a:p>
        </p:txBody>
      </p:sp>
      <p:sp>
        <p:nvSpPr>
          <p:cNvPr id="12" name="Text 10"/>
          <p:cNvSpPr/>
          <p:nvPr/>
        </p:nvSpPr>
        <p:spPr>
          <a:xfrm>
            <a:off x="2212848" y="2788920"/>
            <a:ext cx="731520" cy="201168"/>
          </a:xfrm>
          <a:prstGeom prst="rect">
            <a:avLst/>
          </a:prstGeom>
          <a:noFill/>
          <a:ln/>
        </p:spPr>
        <p:txBody>
          <a:bodyPr wrap="square" lIns="0" tIns="0" rIns="0" bIns="0" rtlCol="0" anchor="ctr"/>
          <a:lstStyle/>
          <a:p>
            <a:pPr marL="0" indent="0">
              <a:buNone/>
            </a:pPr>
            <a:r>
              <a:rPr lang="en-US" sz="1200" b="1" dirty="0">
                <a:solidFill>
                  <a:srgbClr val="C0392B"/>
                </a:solidFill>
                <a:latin typeface="Meiryo" pitchFamily="34" charset="0"/>
                <a:ea typeface="Meiryo" pitchFamily="34" charset="-122"/>
                <a:cs typeface="Meiryo" pitchFamily="34" charset="-120"/>
              </a:rPr>
              <a:t>攻撃</a:t>
            </a:r>
            <a:endParaRPr lang="en-US" sz="1200" dirty="0"/>
          </a:p>
        </p:txBody>
      </p:sp>
      <p:sp>
        <p:nvSpPr>
          <p:cNvPr id="13" name="Shape 11"/>
          <p:cNvSpPr/>
          <p:nvPr/>
        </p:nvSpPr>
        <p:spPr>
          <a:xfrm>
            <a:off x="5669280" y="3566160"/>
            <a:ext cx="0" cy="0"/>
          </a:xfrm>
          <a:prstGeom prst="line">
            <a:avLst/>
          </a:prstGeom>
          <a:noFill/>
          <a:ln w="22225">
            <a:solidFill>
              <a:srgbClr val="C0392B"/>
            </a:solidFill>
            <a:prstDash val="solid"/>
            <a:tailEnd type="triangle"/>
          </a:ln>
        </p:spPr>
        <p:txBody>
          <a:bodyPr/>
          <a:lstStyle/>
          <a:p>
            <a:endParaRPr lang="ja-JP" altLang="en-US"/>
          </a:p>
        </p:txBody>
      </p:sp>
      <p:sp>
        <p:nvSpPr>
          <p:cNvPr id="14" name="Text 12"/>
          <p:cNvSpPr/>
          <p:nvPr/>
        </p:nvSpPr>
        <p:spPr>
          <a:xfrm>
            <a:off x="4206240" y="3310128"/>
            <a:ext cx="731520" cy="201168"/>
          </a:xfrm>
          <a:prstGeom prst="rect">
            <a:avLst/>
          </a:prstGeom>
          <a:noFill/>
          <a:ln/>
        </p:spPr>
        <p:txBody>
          <a:bodyPr wrap="square" lIns="0" tIns="0" rIns="0" bIns="0" rtlCol="0" anchor="ctr"/>
          <a:lstStyle/>
          <a:p>
            <a:pPr marL="0" indent="0" algn="ctr">
              <a:buNone/>
            </a:pPr>
            <a:r>
              <a:rPr lang="en-US" sz="1200" b="1" dirty="0">
                <a:solidFill>
                  <a:srgbClr val="C0392B"/>
                </a:solidFill>
                <a:latin typeface="Meiryo" pitchFamily="34" charset="0"/>
                <a:ea typeface="Meiryo" pitchFamily="34" charset="-122"/>
                <a:cs typeface="Meiryo" pitchFamily="34" charset="-120"/>
              </a:rPr>
              <a:t>攻撃</a:t>
            </a:r>
            <a:endParaRPr lang="en-US" sz="1200" dirty="0"/>
          </a:p>
        </p:txBody>
      </p:sp>
      <p:sp>
        <p:nvSpPr>
          <p:cNvPr id="15" name="Shape 13"/>
          <p:cNvSpPr/>
          <p:nvPr/>
        </p:nvSpPr>
        <p:spPr>
          <a:xfrm>
            <a:off x="5669280" y="2240280"/>
            <a:ext cx="0" cy="0"/>
          </a:xfrm>
          <a:prstGeom prst="line">
            <a:avLst/>
          </a:prstGeom>
          <a:noFill/>
          <a:ln w="22225">
            <a:solidFill>
              <a:srgbClr val="2E7D32"/>
            </a:solidFill>
            <a:prstDash val="solid"/>
            <a:tailEnd type="triangle"/>
          </a:ln>
        </p:spPr>
        <p:txBody>
          <a:bodyPr/>
          <a:lstStyle/>
          <a:p>
            <a:endParaRPr lang="ja-JP" altLang="en-US"/>
          </a:p>
        </p:txBody>
      </p:sp>
      <p:sp>
        <p:nvSpPr>
          <p:cNvPr id="16" name="Text 14"/>
          <p:cNvSpPr/>
          <p:nvPr/>
        </p:nvSpPr>
        <p:spPr>
          <a:xfrm>
            <a:off x="4206240" y="1984248"/>
            <a:ext cx="731520" cy="201168"/>
          </a:xfrm>
          <a:prstGeom prst="rect">
            <a:avLst/>
          </a:prstGeom>
          <a:noFill/>
          <a:ln/>
        </p:spPr>
        <p:txBody>
          <a:bodyPr wrap="square" lIns="0" tIns="0" rIns="0" bIns="0" rtlCol="0" anchor="ctr"/>
          <a:lstStyle/>
          <a:p>
            <a:pPr marL="0" indent="0" algn="ctr">
              <a:buNone/>
            </a:pPr>
            <a:r>
              <a:rPr lang="en-US" sz="1200" b="1" dirty="0">
                <a:solidFill>
                  <a:srgbClr val="2E7D32"/>
                </a:solidFill>
                <a:latin typeface="Meiryo" pitchFamily="34" charset="0"/>
                <a:ea typeface="Meiryo" pitchFamily="34" charset="-122"/>
                <a:cs typeface="Meiryo" pitchFamily="34" charset="-120"/>
              </a:rPr>
              <a:t>支持</a:t>
            </a:r>
            <a:endParaRPr lang="en-US" sz="1200" dirty="0"/>
          </a:p>
        </p:txBody>
      </p:sp>
      <p:sp>
        <p:nvSpPr>
          <p:cNvPr id="17" name="Shape 15"/>
          <p:cNvSpPr/>
          <p:nvPr/>
        </p:nvSpPr>
        <p:spPr>
          <a:xfrm>
            <a:off x="457200" y="4251960"/>
            <a:ext cx="8229600" cy="530352"/>
          </a:xfrm>
          <a:prstGeom prst="rect">
            <a:avLst/>
          </a:prstGeom>
          <a:solidFill>
            <a:srgbClr val="EAEFF6"/>
          </a:solidFill>
          <a:ln/>
        </p:spPr>
        <p:txBody>
          <a:bodyPr/>
          <a:lstStyle/>
          <a:p>
            <a:endParaRPr lang="ja-JP" altLang="en-US"/>
          </a:p>
        </p:txBody>
      </p:sp>
      <p:sp>
        <p:nvSpPr>
          <p:cNvPr id="18" name="Shape 16"/>
          <p:cNvSpPr/>
          <p:nvPr/>
        </p:nvSpPr>
        <p:spPr>
          <a:xfrm>
            <a:off x="457200" y="4251960"/>
            <a:ext cx="73152" cy="530352"/>
          </a:xfrm>
          <a:prstGeom prst="rect">
            <a:avLst/>
          </a:prstGeom>
          <a:solidFill>
            <a:srgbClr val="285888"/>
          </a:solidFill>
          <a:ln/>
        </p:spPr>
        <p:txBody>
          <a:bodyPr/>
          <a:lstStyle/>
          <a:p>
            <a:endParaRPr lang="ja-JP" altLang="en-US"/>
          </a:p>
        </p:txBody>
      </p:sp>
      <p:sp>
        <p:nvSpPr>
          <p:cNvPr id="19" name="Text 17"/>
          <p:cNvSpPr/>
          <p:nvPr/>
        </p:nvSpPr>
        <p:spPr>
          <a:xfrm>
            <a:off x="640080" y="4270248"/>
            <a:ext cx="7955280" cy="493776"/>
          </a:xfrm>
          <a:prstGeom prst="rect">
            <a:avLst/>
          </a:prstGeom>
          <a:noFill/>
          <a:ln/>
        </p:spPr>
        <p:txBody>
          <a:bodyPr wrap="square" lIns="0" tIns="0" rIns="0" bIns="0" rtlCol="0" anchor="ctr"/>
          <a:lstStyle/>
          <a:p>
            <a:pPr marL="0" indent="0">
              <a:buNone/>
            </a:pPr>
            <a:r>
              <a:rPr lang="en-US" sz="1200" b="1" dirty="0">
                <a:solidFill>
                  <a:srgbClr val="285888"/>
                </a:solidFill>
                <a:latin typeface="Meiryo" pitchFamily="34" charset="0"/>
                <a:ea typeface="Meiryo" pitchFamily="34" charset="-122"/>
                <a:cs typeface="Meiryo" pitchFamily="34" charset="-120"/>
              </a:rPr>
              <a:t xml:space="preserve">ファシリテーション介入： </a:t>
            </a:r>
            <a:r>
              <a:rPr lang="en-US" sz="1200" dirty="0">
                <a:solidFill>
                  <a:srgbClr val="383858"/>
                </a:solidFill>
                <a:latin typeface="Meiryo" pitchFamily="34" charset="0"/>
                <a:ea typeface="Meiryo" pitchFamily="34" charset="-122"/>
                <a:cs typeface="Meiryo" pitchFamily="34" charset="-120"/>
              </a:rPr>
              <a:t>A2が未反論のまま残っていることを検出 →「コスト面の懸念に対して、X大学の事例（A3）が反論になっている」と提示</a:t>
            </a:r>
            <a:endParaRPr lang="en-US" sz="1200" dirty="0"/>
          </a:p>
        </p:txBody>
      </p:sp>
    </p:spTree>
    <p:extLst>
      <p:ext uri="{BB962C8B-B14F-4D97-AF65-F5344CB8AC3E}">
        <p14:creationId xmlns:p14="http://schemas.microsoft.com/office/powerpoint/2010/main" val="1624394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37744"/>
            <a:ext cx="8229600" cy="274320"/>
          </a:xfrm>
          <a:prstGeom prst="rect">
            <a:avLst/>
          </a:prstGeom>
          <a:noFill/>
          <a:ln/>
        </p:spPr>
        <p:txBody>
          <a:bodyPr wrap="square" lIns="0" tIns="0" rIns="0" bIns="0" rtlCol="0" anchor="ctr"/>
          <a:lstStyle/>
          <a:p>
            <a:pPr marL="0" indent="0">
              <a:buNone/>
            </a:pPr>
            <a:r>
              <a:rPr lang="en-US" sz="1200" dirty="0">
                <a:solidFill>
                  <a:srgbClr val="285888"/>
                </a:solidFill>
                <a:latin typeface="Meiryo" pitchFamily="34" charset="0"/>
                <a:ea typeface="Meiryo" pitchFamily="34" charset="-122"/>
                <a:cs typeface="Meiryo" pitchFamily="34" charset="-120"/>
              </a:rPr>
              <a:t>3. 提案手法</a:t>
            </a:r>
            <a:endParaRPr lang="en-US" sz="1200" dirty="0"/>
          </a:p>
        </p:txBody>
      </p:sp>
      <p:sp>
        <p:nvSpPr>
          <p:cNvPr id="3" name="Text 1"/>
          <p:cNvSpPr/>
          <p:nvPr/>
        </p:nvSpPr>
        <p:spPr>
          <a:xfrm>
            <a:off x="457200" y="493776"/>
            <a:ext cx="8229600" cy="566928"/>
          </a:xfrm>
          <a:prstGeom prst="rect">
            <a:avLst/>
          </a:prstGeom>
          <a:noFill/>
          <a:ln/>
        </p:spPr>
        <p:txBody>
          <a:bodyPr wrap="square" lIns="0" tIns="0" rIns="0" bIns="0" rtlCol="0" anchor="ctr"/>
          <a:lstStyle/>
          <a:p>
            <a:pPr marL="0" indent="0">
              <a:buNone/>
            </a:pPr>
            <a:r>
              <a:rPr lang="en-US" sz="2112" b="1" dirty="0">
                <a:solidFill>
                  <a:srgbClr val="181828"/>
                </a:solidFill>
                <a:latin typeface="Meiryo" pitchFamily="34" charset="0"/>
                <a:ea typeface="Meiryo" pitchFamily="34" charset="-122"/>
                <a:cs typeface="Meiryo" pitchFamily="34" charset="-120"/>
              </a:rPr>
              <a:t>エージェント詳細</a:t>
            </a:r>
            <a:endParaRPr lang="en-US" sz="2112" dirty="0"/>
          </a:p>
        </p:txBody>
      </p:sp>
      <p:sp>
        <p:nvSpPr>
          <p:cNvPr id="4" name="Shape 2"/>
          <p:cNvSpPr/>
          <p:nvPr/>
        </p:nvSpPr>
        <p:spPr>
          <a:xfrm>
            <a:off x="475488" y="1097280"/>
            <a:ext cx="1005840" cy="41148"/>
          </a:xfrm>
          <a:prstGeom prst="rect">
            <a:avLst/>
          </a:prstGeom>
          <a:solidFill>
            <a:srgbClr val="285888"/>
          </a:solidFill>
          <a:ln/>
        </p:spPr>
        <p:txBody>
          <a:bodyPr/>
          <a:lstStyle/>
          <a:p>
            <a:endParaRPr lang="ja-JP" altLang="en-US"/>
          </a:p>
        </p:txBody>
      </p:sp>
      <p:sp>
        <p:nvSpPr>
          <p:cNvPr id="5" name="Shape 3"/>
          <p:cNvSpPr/>
          <p:nvPr/>
        </p:nvSpPr>
        <p:spPr>
          <a:xfrm>
            <a:off x="457200" y="4873752"/>
            <a:ext cx="8229600" cy="27432"/>
          </a:xfrm>
          <a:prstGeom prst="rect">
            <a:avLst/>
          </a:prstGeom>
          <a:solidFill>
            <a:srgbClr val="243F66"/>
          </a:solidFill>
          <a:ln/>
        </p:spPr>
        <p:txBody>
          <a:bodyPr/>
          <a:lstStyle/>
          <a:p>
            <a:endParaRPr lang="ja-JP" altLang="en-US"/>
          </a:p>
        </p:txBody>
      </p:sp>
      <p:sp>
        <p:nvSpPr>
          <p:cNvPr id="6" name="Text 4"/>
          <p:cNvSpPr/>
          <p:nvPr/>
        </p:nvSpPr>
        <p:spPr>
          <a:xfrm>
            <a:off x="457200" y="1417320"/>
            <a:ext cx="4023360" cy="274320"/>
          </a:xfrm>
          <a:prstGeom prst="rect">
            <a:avLst/>
          </a:prstGeom>
          <a:noFill/>
          <a:ln/>
        </p:spPr>
        <p:txBody>
          <a:bodyPr wrap="square" lIns="0" tIns="0" rIns="0" bIns="0" rtlCol="0" anchor="ctr"/>
          <a:lstStyle/>
          <a:p>
            <a:pPr marL="0" indent="0">
              <a:buNone/>
            </a:pPr>
            <a:r>
              <a:rPr lang="en-US" sz="1200" b="1" dirty="0">
                <a:solidFill>
                  <a:srgbClr val="285888"/>
                </a:solidFill>
                <a:latin typeface="Meiryo" pitchFamily="34" charset="0"/>
                <a:ea typeface="Meiryo" pitchFamily="34" charset="-122"/>
                <a:cs typeface="Meiryo" pitchFamily="34" charset="-120"/>
              </a:rPr>
              <a:t>論証抽出エージェント</a:t>
            </a:r>
            <a:endParaRPr lang="en-US" sz="1200" dirty="0"/>
          </a:p>
        </p:txBody>
      </p:sp>
      <p:sp>
        <p:nvSpPr>
          <p:cNvPr id="7" name="Text 5"/>
          <p:cNvSpPr/>
          <p:nvPr/>
        </p:nvSpPr>
        <p:spPr>
          <a:xfrm>
            <a:off x="502920" y="1709928"/>
            <a:ext cx="4023360" cy="822960"/>
          </a:xfrm>
          <a:prstGeom prst="rect">
            <a:avLst/>
          </a:prstGeom>
          <a:noFill/>
          <a:ln/>
        </p:spPr>
        <p:txBody>
          <a:bodyPr wrap="square" lIns="0" tIns="0" rIns="0" bIns="0" rtlCol="0" anchor="t"/>
          <a:lstStyle/>
          <a:p>
            <a:pPr marL="165100" indent="-165100">
              <a:lnSpc>
                <a:spcPct val="108000"/>
              </a:lnSpc>
              <a:spcAft>
                <a:spcPts val="200"/>
              </a:spcAft>
              <a:buSzPct val="100000"/>
              <a:buChar char="–"/>
            </a:pPr>
            <a:r>
              <a:rPr lang="en-US" sz="1200" dirty="0">
                <a:solidFill>
                  <a:srgbClr val="383858"/>
                </a:solidFill>
                <a:latin typeface="Meiryo" pitchFamily="34" charset="0"/>
                <a:ea typeface="Meiryo" pitchFamily="34" charset="-122"/>
                <a:cs typeface="Meiryo" pitchFamily="34" charset="-120"/>
              </a:rPr>
              <a:t>対面議論をマイク＋カメラで話者識別付きに取得し文字起こし</a:t>
            </a:r>
            <a:endParaRPr lang="en-US" sz="1200" dirty="0"/>
          </a:p>
          <a:p>
            <a:pPr marL="165100" indent="-165100">
              <a:lnSpc>
                <a:spcPct val="108000"/>
              </a:lnSpc>
              <a:spcAft>
                <a:spcPts val="200"/>
              </a:spcAft>
              <a:buSzPct val="100000"/>
              <a:buChar char="–"/>
            </a:pPr>
            <a:r>
              <a:rPr lang="en-US" sz="1200" dirty="0">
                <a:solidFill>
                  <a:srgbClr val="383858"/>
                </a:solidFill>
                <a:latin typeface="Meiryo" pitchFamily="34" charset="0"/>
                <a:ea typeface="Meiryo" pitchFamily="34" charset="-122"/>
                <a:cs typeface="Meiryo" pitchFamily="34" charset="-120"/>
              </a:rPr>
              <a:t>claim / premise / attack / support に分解</a:t>
            </a:r>
            <a:endParaRPr lang="en-US" sz="1200" dirty="0"/>
          </a:p>
          <a:p>
            <a:pPr marL="165100" indent="-165100">
              <a:lnSpc>
                <a:spcPct val="108000"/>
              </a:lnSpc>
              <a:spcAft>
                <a:spcPts val="200"/>
              </a:spcAft>
              <a:buSzPct val="100000"/>
              <a:buChar char="–"/>
            </a:pPr>
            <a:r>
              <a:rPr lang="en-US" sz="1200" dirty="0">
                <a:solidFill>
                  <a:srgbClr val="383858"/>
                </a:solidFill>
                <a:latin typeface="Meiryo" pitchFamily="34" charset="0"/>
                <a:ea typeface="Meiryo" pitchFamily="34" charset="-122"/>
                <a:cs typeface="Meiryo" pitchFamily="34" charset="-120"/>
              </a:rPr>
              <a:t>各ノードに「誰が・いつ・何を」が紐づく</a:t>
            </a:r>
            <a:endParaRPr lang="en-US" sz="1200" dirty="0"/>
          </a:p>
        </p:txBody>
      </p:sp>
      <p:sp>
        <p:nvSpPr>
          <p:cNvPr id="8" name="Text 6"/>
          <p:cNvSpPr/>
          <p:nvPr/>
        </p:nvSpPr>
        <p:spPr>
          <a:xfrm>
            <a:off x="457200" y="2670048"/>
            <a:ext cx="4023360" cy="274320"/>
          </a:xfrm>
          <a:prstGeom prst="rect">
            <a:avLst/>
          </a:prstGeom>
          <a:noFill/>
          <a:ln/>
        </p:spPr>
        <p:txBody>
          <a:bodyPr wrap="square" lIns="0" tIns="0" rIns="0" bIns="0" rtlCol="0" anchor="ctr"/>
          <a:lstStyle/>
          <a:p>
            <a:pPr marL="0" indent="0">
              <a:buNone/>
            </a:pPr>
            <a:r>
              <a:rPr lang="en-US" sz="1200" b="1" dirty="0">
                <a:solidFill>
                  <a:srgbClr val="285888"/>
                </a:solidFill>
                <a:latin typeface="Meiryo" pitchFamily="34" charset="0"/>
                <a:ea typeface="Meiryo" pitchFamily="34" charset="-122"/>
                <a:cs typeface="Meiryo" pitchFamily="34" charset="-120"/>
              </a:rPr>
              <a:t>ドキュメント知識エージェント</a:t>
            </a:r>
            <a:r>
              <a:rPr lang="en-US" sz="1200" dirty="0">
                <a:solidFill>
                  <a:srgbClr val="5A5A72"/>
                </a:solidFill>
                <a:latin typeface="Meiryo" pitchFamily="34" charset="0"/>
                <a:ea typeface="Meiryo" pitchFamily="34" charset="-122"/>
                <a:cs typeface="Meiryo" pitchFamily="34" charset="-120"/>
              </a:rPr>
              <a:t>　ドメイン知識</a:t>
            </a:r>
            <a:endParaRPr lang="en-US" sz="1200" dirty="0"/>
          </a:p>
        </p:txBody>
      </p:sp>
      <p:sp>
        <p:nvSpPr>
          <p:cNvPr id="9" name="Text 7"/>
          <p:cNvSpPr/>
          <p:nvPr/>
        </p:nvSpPr>
        <p:spPr>
          <a:xfrm>
            <a:off x="502920" y="2962656"/>
            <a:ext cx="4023360" cy="822960"/>
          </a:xfrm>
          <a:prstGeom prst="rect">
            <a:avLst/>
          </a:prstGeom>
          <a:noFill/>
          <a:ln/>
        </p:spPr>
        <p:txBody>
          <a:bodyPr wrap="square" lIns="0" tIns="0" rIns="0" bIns="0" rtlCol="0" anchor="t"/>
          <a:lstStyle/>
          <a:p>
            <a:pPr marL="165100" indent="-165100">
              <a:lnSpc>
                <a:spcPct val="108000"/>
              </a:lnSpc>
              <a:spcAft>
                <a:spcPts val="200"/>
              </a:spcAft>
              <a:buSzPct val="100000"/>
              <a:buChar char="–"/>
            </a:pPr>
            <a:r>
              <a:rPr lang="en-US" sz="1200" dirty="0">
                <a:solidFill>
                  <a:srgbClr val="383858"/>
                </a:solidFill>
                <a:latin typeface="Meiryo" pitchFamily="34" charset="0"/>
                <a:ea typeface="Meiryo" pitchFamily="34" charset="-122"/>
                <a:cs typeface="Meiryo" pitchFamily="34" charset="-120"/>
              </a:rPr>
              <a:t>外部資料群を事前にAFとして永続化</a:t>
            </a:r>
            <a:endParaRPr lang="en-US" sz="1200" dirty="0"/>
          </a:p>
          <a:p>
            <a:pPr marL="165100" indent="-165100">
              <a:lnSpc>
                <a:spcPct val="108000"/>
              </a:lnSpc>
              <a:spcAft>
                <a:spcPts val="200"/>
              </a:spcAft>
              <a:buSzPct val="100000"/>
              <a:buChar char="–"/>
            </a:pPr>
            <a:r>
              <a:rPr lang="en-US" sz="1200" dirty="0">
                <a:solidFill>
                  <a:srgbClr val="383858"/>
                </a:solidFill>
                <a:latin typeface="Meiryo" pitchFamily="34" charset="0"/>
                <a:ea typeface="Meiryo" pitchFamily="34" charset="-122"/>
                <a:cs typeface="Meiryo" pitchFamily="34" charset="-120"/>
              </a:rPr>
              <a:t>新発言ノードに対して支持・攻撃ノードを検索・提示</a:t>
            </a:r>
            <a:endParaRPr lang="en-US" sz="1200" dirty="0"/>
          </a:p>
        </p:txBody>
      </p:sp>
      <p:sp>
        <p:nvSpPr>
          <p:cNvPr id="10" name="Text 8"/>
          <p:cNvSpPr/>
          <p:nvPr/>
        </p:nvSpPr>
        <p:spPr>
          <a:xfrm>
            <a:off x="457200" y="3675888"/>
            <a:ext cx="4023360" cy="274320"/>
          </a:xfrm>
          <a:prstGeom prst="rect">
            <a:avLst/>
          </a:prstGeom>
          <a:noFill/>
          <a:ln/>
        </p:spPr>
        <p:txBody>
          <a:bodyPr wrap="square" lIns="0" tIns="0" rIns="0" bIns="0" rtlCol="0" anchor="ctr"/>
          <a:lstStyle/>
          <a:p>
            <a:pPr marL="0" indent="0">
              <a:buNone/>
            </a:pPr>
            <a:r>
              <a:rPr lang="en-US" sz="1200" b="1" dirty="0">
                <a:solidFill>
                  <a:srgbClr val="285888"/>
                </a:solidFill>
                <a:latin typeface="Meiryo" pitchFamily="34" charset="0"/>
                <a:ea typeface="Meiryo" pitchFamily="34" charset="-122"/>
                <a:cs typeface="Meiryo" pitchFamily="34" charset="-120"/>
              </a:rPr>
              <a:t>Web検索エージェント</a:t>
            </a:r>
            <a:r>
              <a:rPr lang="en-US" sz="1200" dirty="0">
                <a:solidFill>
                  <a:srgbClr val="5A5A72"/>
                </a:solidFill>
                <a:latin typeface="Meiryo" pitchFamily="34" charset="0"/>
                <a:ea typeface="Meiryo" pitchFamily="34" charset="-122"/>
                <a:cs typeface="Meiryo" pitchFamily="34" charset="-120"/>
              </a:rPr>
              <a:t>　広い知識</a:t>
            </a:r>
            <a:endParaRPr lang="en-US" sz="1200" dirty="0"/>
          </a:p>
        </p:txBody>
      </p:sp>
      <p:sp>
        <p:nvSpPr>
          <p:cNvPr id="11" name="Text 9"/>
          <p:cNvSpPr/>
          <p:nvPr/>
        </p:nvSpPr>
        <p:spPr>
          <a:xfrm>
            <a:off x="502920" y="3968496"/>
            <a:ext cx="4023360" cy="822960"/>
          </a:xfrm>
          <a:prstGeom prst="rect">
            <a:avLst/>
          </a:prstGeom>
          <a:noFill/>
          <a:ln/>
        </p:spPr>
        <p:txBody>
          <a:bodyPr wrap="square" lIns="0" tIns="0" rIns="0" bIns="0" rtlCol="0" anchor="t"/>
          <a:lstStyle/>
          <a:p>
            <a:pPr marL="165100" indent="-165100">
              <a:lnSpc>
                <a:spcPct val="108000"/>
              </a:lnSpc>
              <a:spcAft>
                <a:spcPts val="200"/>
              </a:spcAft>
              <a:buSzPct val="100000"/>
              <a:buChar char="–"/>
            </a:pPr>
            <a:r>
              <a:rPr lang="en-US" sz="1200" dirty="0">
                <a:solidFill>
                  <a:srgbClr val="383858"/>
                </a:solidFill>
                <a:latin typeface="Meiryo" pitchFamily="34" charset="0"/>
                <a:ea typeface="Meiryo" pitchFamily="34" charset="-122"/>
                <a:cs typeface="Meiryo" pitchFamily="34" charset="-120"/>
              </a:rPr>
              <a:t>事前資料にない論点・時事情報をリアルタイム検索</a:t>
            </a:r>
            <a:endParaRPr lang="en-US" sz="1200" dirty="0"/>
          </a:p>
          <a:p>
            <a:pPr marL="165100" indent="-165100">
              <a:lnSpc>
                <a:spcPct val="108000"/>
              </a:lnSpc>
              <a:spcAft>
                <a:spcPts val="200"/>
              </a:spcAft>
              <a:buSzPct val="100000"/>
              <a:buChar char="–"/>
            </a:pPr>
            <a:r>
              <a:rPr lang="en-US" sz="1200" dirty="0">
                <a:solidFill>
                  <a:srgbClr val="383858"/>
                </a:solidFill>
                <a:latin typeface="Meiryo" pitchFamily="34" charset="0"/>
                <a:ea typeface="Meiryo" pitchFamily="34" charset="-122"/>
                <a:cs typeface="Meiryo" pitchFamily="34" charset="-120"/>
              </a:rPr>
              <a:t>検索結果をそのまま渡さず、AFノードに整形して統合グラフに追加</a:t>
            </a:r>
            <a:endParaRPr lang="en-US" sz="1200" dirty="0"/>
          </a:p>
        </p:txBody>
      </p:sp>
      <p:sp>
        <p:nvSpPr>
          <p:cNvPr id="12" name="Text 10"/>
          <p:cNvSpPr/>
          <p:nvPr/>
        </p:nvSpPr>
        <p:spPr>
          <a:xfrm>
            <a:off x="4709160" y="1417320"/>
            <a:ext cx="4023360" cy="274320"/>
          </a:xfrm>
          <a:prstGeom prst="rect">
            <a:avLst/>
          </a:prstGeom>
          <a:noFill/>
          <a:ln/>
        </p:spPr>
        <p:txBody>
          <a:bodyPr wrap="square" lIns="0" tIns="0" rIns="0" bIns="0" rtlCol="0" anchor="ctr"/>
          <a:lstStyle/>
          <a:p>
            <a:pPr marL="0" indent="0">
              <a:buNone/>
            </a:pPr>
            <a:r>
              <a:rPr lang="en-US" sz="1200" b="1" dirty="0">
                <a:solidFill>
                  <a:srgbClr val="285888"/>
                </a:solidFill>
                <a:latin typeface="Meiryo" pitchFamily="34" charset="0"/>
                <a:ea typeface="Meiryo" pitchFamily="34" charset="-122"/>
                <a:cs typeface="Meiryo" pitchFamily="34" charset="-120"/>
              </a:rPr>
              <a:t>連結エージェント</a:t>
            </a:r>
            <a:endParaRPr lang="en-US" sz="1200" dirty="0"/>
          </a:p>
        </p:txBody>
      </p:sp>
      <p:sp>
        <p:nvSpPr>
          <p:cNvPr id="13" name="Text 11"/>
          <p:cNvSpPr/>
          <p:nvPr/>
        </p:nvSpPr>
        <p:spPr>
          <a:xfrm>
            <a:off x="4754880" y="1709928"/>
            <a:ext cx="4023360" cy="822960"/>
          </a:xfrm>
          <a:prstGeom prst="rect">
            <a:avLst/>
          </a:prstGeom>
          <a:noFill/>
          <a:ln/>
        </p:spPr>
        <p:txBody>
          <a:bodyPr wrap="square" lIns="0" tIns="0" rIns="0" bIns="0" rtlCol="0" anchor="t"/>
          <a:lstStyle/>
          <a:p>
            <a:pPr marL="165100" indent="-165100">
              <a:lnSpc>
                <a:spcPct val="108000"/>
              </a:lnSpc>
              <a:spcAft>
                <a:spcPts val="200"/>
              </a:spcAft>
              <a:buSzPct val="100000"/>
              <a:buChar char="–"/>
            </a:pPr>
            <a:r>
              <a:rPr lang="en-US" sz="1200" dirty="0">
                <a:solidFill>
                  <a:srgbClr val="383858"/>
                </a:solidFill>
                <a:latin typeface="Meiryo" pitchFamily="34" charset="0"/>
                <a:ea typeface="Meiryo" pitchFamily="34" charset="-122"/>
                <a:cs typeface="Meiryo" pitchFamily="34" charset="-120"/>
              </a:rPr>
              <a:t>議論側ノードと知識側ノードの間に支持・攻撃エッジを推定</a:t>
            </a:r>
            <a:endParaRPr lang="en-US" sz="1200" dirty="0"/>
          </a:p>
          <a:p>
            <a:pPr marL="165100" indent="-165100">
              <a:lnSpc>
                <a:spcPct val="108000"/>
              </a:lnSpc>
              <a:spcAft>
                <a:spcPts val="200"/>
              </a:spcAft>
              <a:buSzPct val="100000"/>
              <a:buChar char="–"/>
            </a:pPr>
            <a:r>
              <a:rPr lang="en-US" sz="1200" dirty="0">
                <a:solidFill>
                  <a:srgbClr val="383858"/>
                </a:solidFill>
                <a:latin typeface="Meiryo" pitchFamily="34" charset="0"/>
                <a:ea typeface="Meiryo" pitchFamily="34" charset="-122"/>
                <a:cs typeface="Meiryo" pitchFamily="34" charset="-120"/>
              </a:rPr>
              <a:t>これにより議論側と知識側が1つの統合グラフとして一体化</a:t>
            </a:r>
            <a:endParaRPr lang="en-US" sz="1200" dirty="0"/>
          </a:p>
        </p:txBody>
      </p:sp>
      <p:sp>
        <p:nvSpPr>
          <p:cNvPr id="14" name="Text 12"/>
          <p:cNvSpPr/>
          <p:nvPr/>
        </p:nvSpPr>
        <p:spPr>
          <a:xfrm>
            <a:off x="4709160" y="2670048"/>
            <a:ext cx="4023360" cy="274320"/>
          </a:xfrm>
          <a:prstGeom prst="rect">
            <a:avLst/>
          </a:prstGeom>
          <a:noFill/>
          <a:ln/>
        </p:spPr>
        <p:txBody>
          <a:bodyPr wrap="square" lIns="0" tIns="0" rIns="0" bIns="0" rtlCol="0" anchor="ctr"/>
          <a:lstStyle/>
          <a:p>
            <a:pPr marL="0" indent="0">
              <a:buNone/>
            </a:pPr>
            <a:r>
              <a:rPr lang="en-US" sz="1200" b="1" dirty="0">
                <a:solidFill>
                  <a:srgbClr val="285888"/>
                </a:solidFill>
                <a:latin typeface="Meiryo" pitchFamily="34" charset="0"/>
                <a:ea typeface="Meiryo" pitchFamily="34" charset="-122"/>
                <a:cs typeface="Meiryo" pitchFamily="34" charset="-120"/>
              </a:rPr>
              <a:t>ファシリテーションエージェント</a:t>
            </a:r>
            <a:endParaRPr lang="en-US" sz="1200" dirty="0"/>
          </a:p>
        </p:txBody>
      </p:sp>
      <p:sp>
        <p:nvSpPr>
          <p:cNvPr id="15" name="Text 13"/>
          <p:cNvSpPr/>
          <p:nvPr/>
        </p:nvSpPr>
        <p:spPr>
          <a:xfrm>
            <a:off x="4754880" y="2962656"/>
            <a:ext cx="4023360" cy="822960"/>
          </a:xfrm>
          <a:prstGeom prst="rect">
            <a:avLst/>
          </a:prstGeom>
          <a:noFill/>
          <a:ln/>
        </p:spPr>
        <p:txBody>
          <a:bodyPr wrap="square" lIns="0" tIns="0" rIns="0" bIns="0" rtlCol="0" anchor="t"/>
          <a:lstStyle/>
          <a:p>
            <a:pPr marL="165100" indent="-165100">
              <a:lnSpc>
                <a:spcPct val="108000"/>
              </a:lnSpc>
              <a:spcAft>
                <a:spcPts val="200"/>
              </a:spcAft>
              <a:buSzPct val="100000"/>
              <a:buChar char="–"/>
            </a:pPr>
            <a:r>
              <a:rPr lang="en-US" sz="1200" dirty="0">
                <a:solidFill>
                  <a:srgbClr val="383858"/>
                </a:solidFill>
                <a:latin typeface="Meiryo" pitchFamily="34" charset="0"/>
                <a:ea typeface="Meiryo" pitchFamily="34" charset="-122"/>
                <a:cs typeface="Meiryo" pitchFamily="34" charset="-120"/>
              </a:rPr>
              <a:t>統合グラフ全体を読み、いつ・誰に・何を提示するか判断する中央調停者</a:t>
            </a:r>
            <a:endParaRPr lang="en-US" sz="1200" dirty="0"/>
          </a:p>
          <a:p>
            <a:pPr marL="165100" indent="-165100">
              <a:lnSpc>
                <a:spcPct val="108000"/>
              </a:lnSpc>
              <a:spcAft>
                <a:spcPts val="200"/>
              </a:spcAft>
              <a:buSzPct val="100000"/>
              <a:buChar char="–"/>
            </a:pPr>
            <a:r>
              <a:rPr lang="en-US" sz="1200" dirty="0">
                <a:solidFill>
                  <a:srgbClr val="383858"/>
                </a:solidFill>
                <a:latin typeface="Meiryo" pitchFamily="34" charset="0"/>
                <a:ea typeface="Meiryo" pitchFamily="34" charset="-122"/>
                <a:cs typeface="Meiryo" pitchFamily="34" charset="-120"/>
              </a:rPr>
              <a:t>最新発言を支持・攻撃する外部ノードを提示</a:t>
            </a:r>
            <a:endParaRPr lang="en-US" sz="1200" dirty="0"/>
          </a:p>
          <a:p>
            <a:pPr marL="165100" indent="-165100">
              <a:lnSpc>
                <a:spcPct val="108000"/>
              </a:lnSpc>
              <a:spcAft>
                <a:spcPts val="200"/>
              </a:spcAft>
              <a:buSzPct val="100000"/>
              <a:buChar char="–"/>
            </a:pPr>
            <a:r>
              <a:rPr lang="en-US" sz="1200" dirty="0">
                <a:solidFill>
                  <a:srgbClr val="383858"/>
                </a:solidFill>
                <a:latin typeface="Meiryo" pitchFamily="34" charset="0"/>
                <a:ea typeface="Meiryo" pitchFamily="34" charset="-122"/>
                <a:cs typeface="Meiryo" pitchFamily="34" charset="-120"/>
              </a:rPr>
              <a:t>一方の立場への偏りを構造的に検知し反対側を補強</a:t>
            </a:r>
            <a:endParaRPr lang="en-US" sz="1200" dirty="0"/>
          </a:p>
          <a:p>
            <a:pPr marL="165100" indent="-165100">
              <a:lnSpc>
                <a:spcPct val="108000"/>
              </a:lnSpc>
              <a:spcAft>
                <a:spcPts val="200"/>
              </a:spcAft>
              <a:buSzPct val="100000"/>
              <a:buChar char="–"/>
            </a:pPr>
            <a:r>
              <a:rPr lang="en-US" sz="1200" dirty="0">
                <a:solidFill>
                  <a:srgbClr val="383858"/>
                </a:solidFill>
                <a:latin typeface="Meiryo" pitchFamily="34" charset="0"/>
                <a:ea typeface="Meiryo" pitchFamily="34" charset="-122"/>
                <a:cs typeface="Meiryo" pitchFamily="34" charset="-120"/>
              </a:rPr>
              <a:t>議論ステージ（発散・収束）に応じて介入方針を切り替え</a:t>
            </a:r>
            <a:endParaRPr lang="en-US" sz="1200" dirty="0"/>
          </a:p>
        </p:txBody>
      </p:sp>
      <p:sp>
        <p:nvSpPr>
          <p:cNvPr id="16" name="Shape 14"/>
          <p:cNvSpPr/>
          <p:nvPr/>
        </p:nvSpPr>
        <p:spPr>
          <a:xfrm>
            <a:off x="4572000" y="1463040"/>
            <a:ext cx="18288" cy="3200400"/>
          </a:xfrm>
          <a:prstGeom prst="rect">
            <a:avLst/>
          </a:prstGeom>
          <a:solidFill>
            <a:srgbClr val="D5D9E2"/>
          </a:solidFill>
          <a:ln/>
        </p:spPr>
        <p:txBody>
          <a:bodyPr/>
          <a:lstStyle/>
          <a:p>
            <a:endParaRPr lang="ja-JP" altLang="en-US"/>
          </a:p>
        </p:txBody>
      </p:sp>
    </p:spTree>
    <p:extLst>
      <p:ext uri="{BB962C8B-B14F-4D97-AF65-F5344CB8AC3E}">
        <p14:creationId xmlns:p14="http://schemas.microsoft.com/office/powerpoint/2010/main" val="2244391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37744"/>
            <a:ext cx="8229600" cy="274320"/>
          </a:xfrm>
          <a:prstGeom prst="rect">
            <a:avLst/>
          </a:prstGeom>
          <a:noFill/>
          <a:ln/>
        </p:spPr>
        <p:txBody>
          <a:bodyPr wrap="square" lIns="0" tIns="0" rIns="0" bIns="0" rtlCol="0" anchor="ctr"/>
          <a:lstStyle/>
          <a:p>
            <a:pPr marL="0" indent="0">
              <a:buNone/>
            </a:pPr>
            <a:r>
              <a:rPr lang="en-US" sz="1200" dirty="0">
                <a:solidFill>
                  <a:srgbClr val="285888"/>
                </a:solidFill>
                <a:latin typeface="Meiryo" pitchFamily="34" charset="0"/>
                <a:ea typeface="Meiryo" pitchFamily="34" charset="-122"/>
                <a:cs typeface="Meiryo" pitchFamily="34" charset="-120"/>
              </a:rPr>
              <a:t>3. 提案手法</a:t>
            </a:r>
            <a:endParaRPr lang="en-US" sz="1200" dirty="0"/>
          </a:p>
        </p:txBody>
      </p:sp>
      <p:sp>
        <p:nvSpPr>
          <p:cNvPr id="3" name="Text 1"/>
          <p:cNvSpPr/>
          <p:nvPr/>
        </p:nvSpPr>
        <p:spPr>
          <a:xfrm>
            <a:off x="457200" y="493776"/>
            <a:ext cx="8229600" cy="566928"/>
          </a:xfrm>
          <a:prstGeom prst="rect">
            <a:avLst/>
          </a:prstGeom>
          <a:noFill/>
          <a:ln/>
        </p:spPr>
        <p:txBody>
          <a:bodyPr wrap="square" lIns="0" tIns="0" rIns="0" bIns="0" rtlCol="0" anchor="ctr"/>
          <a:lstStyle/>
          <a:p>
            <a:pPr marL="0" indent="0">
              <a:buNone/>
            </a:pPr>
            <a:r>
              <a:rPr lang="en-US" sz="2112" b="1" dirty="0">
                <a:solidFill>
                  <a:srgbClr val="181828"/>
                </a:solidFill>
                <a:latin typeface="Meiryo" pitchFamily="34" charset="0"/>
                <a:ea typeface="Meiryo" pitchFamily="34" charset="-122"/>
                <a:cs typeface="Meiryo" pitchFamily="34" charset="-120"/>
              </a:rPr>
              <a:t>情報提示の 4 層設計</a:t>
            </a:r>
            <a:endParaRPr lang="en-US" sz="2112" dirty="0"/>
          </a:p>
        </p:txBody>
      </p:sp>
      <p:sp>
        <p:nvSpPr>
          <p:cNvPr id="4" name="Shape 2"/>
          <p:cNvSpPr/>
          <p:nvPr/>
        </p:nvSpPr>
        <p:spPr>
          <a:xfrm>
            <a:off x="475488" y="1097280"/>
            <a:ext cx="1005840" cy="41148"/>
          </a:xfrm>
          <a:prstGeom prst="rect">
            <a:avLst/>
          </a:prstGeom>
          <a:solidFill>
            <a:srgbClr val="285888"/>
          </a:solidFill>
          <a:ln/>
        </p:spPr>
        <p:txBody>
          <a:bodyPr/>
          <a:lstStyle/>
          <a:p>
            <a:endParaRPr lang="ja-JP" altLang="en-US"/>
          </a:p>
        </p:txBody>
      </p:sp>
      <p:sp>
        <p:nvSpPr>
          <p:cNvPr id="5" name="Shape 3"/>
          <p:cNvSpPr/>
          <p:nvPr/>
        </p:nvSpPr>
        <p:spPr>
          <a:xfrm>
            <a:off x="457200" y="4873752"/>
            <a:ext cx="8229600" cy="27432"/>
          </a:xfrm>
          <a:prstGeom prst="rect">
            <a:avLst/>
          </a:prstGeom>
          <a:solidFill>
            <a:srgbClr val="243F66"/>
          </a:solidFill>
          <a:ln/>
        </p:spPr>
        <p:txBody>
          <a:bodyPr/>
          <a:lstStyle/>
          <a:p>
            <a:endParaRPr lang="ja-JP" altLang="en-US"/>
          </a:p>
        </p:txBody>
      </p:sp>
      <p:sp>
        <p:nvSpPr>
          <p:cNvPr id="6" name="Text 4"/>
          <p:cNvSpPr/>
          <p:nvPr/>
        </p:nvSpPr>
        <p:spPr>
          <a:xfrm>
            <a:off x="457200" y="1417320"/>
            <a:ext cx="8229600" cy="274320"/>
          </a:xfrm>
          <a:prstGeom prst="rect">
            <a:avLst/>
          </a:prstGeom>
          <a:noFill/>
          <a:ln/>
        </p:spPr>
        <p:txBody>
          <a:bodyPr wrap="square" lIns="0" tIns="0" rIns="0" bIns="0" rtlCol="0" anchor="ctr"/>
          <a:lstStyle/>
          <a:p>
            <a:pPr marL="0" indent="0">
              <a:buNone/>
            </a:pPr>
            <a:r>
              <a:rPr lang="en-US" sz="1200" i="1" dirty="0">
                <a:solidFill>
                  <a:srgbClr val="5A5A72"/>
                </a:solidFill>
                <a:latin typeface="Meiryo" pitchFamily="34" charset="0"/>
                <a:ea typeface="Meiryo" pitchFamily="34" charset="-122"/>
                <a:cs typeface="Meiryo" pitchFamily="34" charset="-120"/>
              </a:rPr>
              <a:t>グラフは内部表現にとどめ、用途に応じた形で情報を届ける</a:t>
            </a:r>
            <a:endParaRPr lang="en-US" sz="1200" dirty="0"/>
          </a:p>
        </p:txBody>
      </p:sp>
      <p:sp>
        <p:nvSpPr>
          <p:cNvPr id="7" name="Text 5"/>
          <p:cNvSpPr/>
          <p:nvPr/>
        </p:nvSpPr>
        <p:spPr>
          <a:xfrm>
            <a:off x="457200" y="1965960"/>
            <a:ext cx="8229600" cy="292608"/>
          </a:xfrm>
          <a:prstGeom prst="rect">
            <a:avLst/>
          </a:prstGeom>
          <a:noFill/>
          <a:ln/>
        </p:spPr>
        <p:txBody>
          <a:bodyPr wrap="square" lIns="0" tIns="0" rIns="0" bIns="0" rtlCol="0" anchor="ctr"/>
          <a:lstStyle/>
          <a:p>
            <a:pPr marL="0" indent="0">
              <a:buNone/>
            </a:pPr>
            <a:r>
              <a:rPr lang="en-US" sz="1276" b="1" dirty="0">
                <a:solidFill>
                  <a:srgbClr val="285888"/>
                </a:solidFill>
                <a:latin typeface="Meiryo" pitchFamily="34" charset="0"/>
                <a:ea typeface="Meiryo" pitchFamily="34" charset="-122"/>
                <a:cs typeface="Meiryo" pitchFamily="34" charset="-120"/>
              </a:rPr>
              <a:t>L1  参加者向けの個別化通知</a:t>
            </a:r>
            <a:endParaRPr lang="en-US" sz="1276" dirty="0"/>
          </a:p>
        </p:txBody>
      </p:sp>
      <p:sp>
        <p:nvSpPr>
          <p:cNvPr id="8" name="Text 6"/>
          <p:cNvSpPr/>
          <p:nvPr/>
        </p:nvSpPr>
        <p:spPr>
          <a:xfrm>
            <a:off x="713232" y="2276856"/>
            <a:ext cx="7955280" cy="365760"/>
          </a:xfrm>
          <a:prstGeom prst="rect">
            <a:avLst/>
          </a:prstGeom>
          <a:noFill/>
          <a:ln/>
        </p:spPr>
        <p:txBody>
          <a:bodyPr wrap="square" lIns="0" tIns="0" rIns="0" bIns="0" rtlCol="0" anchor="t"/>
          <a:lstStyle/>
          <a:p>
            <a:pPr marL="190500" indent="-190500">
              <a:lnSpc>
                <a:spcPct val="112000"/>
              </a:lnSpc>
              <a:spcAft>
                <a:spcPts val="600"/>
              </a:spcAft>
              <a:buSzPct val="100000"/>
              <a:buChar char="–"/>
            </a:pPr>
            <a:r>
              <a:rPr lang="en-US" sz="1200" dirty="0">
                <a:solidFill>
                  <a:srgbClr val="383858"/>
                </a:solidFill>
                <a:latin typeface="Meiryo" pitchFamily="34" charset="0"/>
                <a:ea typeface="Meiryo" pitchFamily="34" charset="-122"/>
                <a:cs typeface="Meiryo" pitchFamily="34" charset="-120"/>
              </a:rPr>
              <a:t>自分の最新発言と論証関係にある支持・攻撃ノードを 1〜2 件短文通知</a:t>
            </a:r>
            <a:endParaRPr lang="en-US" sz="1200" dirty="0"/>
          </a:p>
        </p:txBody>
      </p:sp>
      <p:sp>
        <p:nvSpPr>
          <p:cNvPr id="9" name="Text 7"/>
          <p:cNvSpPr/>
          <p:nvPr/>
        </p:nvSpPr>
        <p:spPr>
          <a:xfrm>
            <a:off x="457200" y="2926080"/>
            <a:ext cx="8229600" cy="292608"/>
          </a:xfrm>
          <a:prstGeom prst="rect">
            <a:avLst/>
          </a:prstGeom>
          <a:noFill/>
          <a:ln/>
        </p:spPr>
        <p:txBody>
          <a:bodyPr wrap="square" lIns="0" tIns="0" rIns="0" bIns="0" rtlCol="0" anchor="ctr"/>
          <a:lstStyle/>
          <a:p>
            <a:pPr marL="0" indent="0">
              <a:buNone/>
            </a:pPr>
            <a:r>
              <a:rPr lang="en-US" sz="1276" b="1" dirty="0">
                <a:solidFill>
                  <a:srgbClr val="285888"/>
                </a:solidFill>
                <a:latin typeface="Meiryo" pitchFamily="34" charset="0"/>
                <a:ea typeface="Meiryo" pitchFamily="34" charset="-122"/>
                <a:cs typeface="Meiryo" pitchFamily="34" charset="-120"/>
              </a:rPr>
              <a:t>L2  全員共有：議論の区切りでの自然言語要約</a:t>
            </a:r>
            <a:endParaRPr lang="en-US" sz="1276" dirty="0"/>
          </a:p>
        </p:txBody>
      </p:sp>
      <p:sp>
        <p:nvSpPr>
          <p:cNvPr id="10" name="Text 8"/>
          <p:cNvSpPr/>
          <p:nvPr/>
        </p:nvSpPr>
        <p:spPr>
          <a:xfrm>
            <a:off x="713232" y="3236976"/>
            <a:ext cx="7955280" cy="365760"/>
          </a:xfrm>
          <a:prstGeom prst="rect">
            <a:avLst/>
          </a:prstGeom>
          <a:noFill/>
          <a:ln/>
        </p:spPr>
        <p:txBody>
          <a:bodyPr wrap="square" lIns="0" tIns="0" rIns="0" bIns="0" rtlCol="0" anchor="t"/>
          <a:lstStyle/>
          <a:p>
            <a:pPr marL="190500" indent="-190500">
              <a:lnSpc>
                <a:spcPct val="112000"/>
              </a:lnSpc>
              <a:spcAft>
                <a:spcPts val="600"/>
              </a:spcAft>
              <a:buSzPct val="100000"/>
              <a:buChar char="–"/>
            </a:pPr>
            <a:r>
              <a:rPr lang="en-US" sz="1200" dirty="0">
                <a:solidFill>
                  <a:srgbClr val="383858"/>
                </a:solidFill>
                <a:latin typeface="Meiryo" pitchFamily="34" charset="0"/>
                <a:ea typeface="Meiryo" pitchFamily="34" charset="-122"/>
                <a:cs typeface="Meiryo" pitchFamily="34" charset="-120"/>
              </a:rPr>
              <a:t>「論点A vs B、支持3件/2件、未応答反論1件」のように自然文へ整形して共有</a:t>
            </a:r>
            <a:endParaRPr lang="en-US" sz="1200" dirty="0"/>
          </a:p>
        </p:txBody>
      </p:sp>
      <p:sp>
        <p:nvSpPr>
          <p:cNvPr id="11" name="Text 9"/>
          <p:cNvSpPr/>
          <p:nvPr/>
        </p:nvSpPr>
        <p:spPr>
          <a:xfrm>
            <a:off x="457200" y="3886200"/>
            <a:ext cx="8229600" cy="292608"/>
          </a:xfrm>
          <a:prstGeom prst="rect">
            <a:avLst/>
          </a:prstGeom>
          <a:noFill/>
          <a:ln/>
        </p:spPr>
        <p:txBody>
          <a:bodyPr wrap="square" lIns="0" tIns="0" rIns="0" bIns="0" rtlCol="0" anchor="ctr"/>
          <a:lstStyle/>
          <a:p>
            <a:pPr marL="0" indent="0">
              <a:buNone/>
            </a:pPr>
            <a:r>
              <a:rPr lang="en-US" sz="1276" b="1" dirty="0">
                <a:solidFill>
                  <a:srgbClr val="285888"/>
                </a:solidFill>
                <a:latin typeface="Meiryo" pitchFamily="34" charset="0"/>
                <a:ea typeface="Meiryo" pitchFamily="34" charset="-122"/>
                <a:cs typeface="Meiryo" pitchFamily="34" charset="-120"/>
              </a:rPr>
              <a:t>L3  議論後：振り返り時のグラフ可視化</a:t>
            </a:r>
            <a:endParaRPr lang="en-US" sz="1276" dirty="0"/>
          </a:p>
        </p:txBody>
      </p:sp>
      <p:sp>
        <p:nvSpPr>
          <p:cNvPr id="12" name="Text 10"/>
          <p:cNvSpPr/>
          <p:nvPr/>
        </p:nvSpPr>
        <p:spPr>
          <a:xfrm>
            <a:off x="713232" y="4197096"/>
            <a:ext cx="7955280" cy="365760"/>
          </a:xfrm>
          <a:prstGeom prst="rect">
            <a:avLst/>
          </a:prstGeom>
          <a:noFill/>
          <a:ln/>
        </p:spPr>
        <p:txBody>
          <a:bodyPr wrap="square" lIns="0" tIns="0" rIns="0" bIns="0" rtlCol="0" anchor="t"/>
          <a:lstStyle/>
          <a:p>
            <a:pPr marL="190500" indent="-190500">
              <a:lnSpc>
                <a:spcPct val="112000"/>
              </a:lnSpc>
              <a:spcAft>
                <a:spcPts val="600"/>
              </a:spcAft>
              <a:buSzPct val="100000"/>
              <a:buChar char="–"/>
            </a:pPr>
            <a:r>
              <a:rPr lang="en-US" sz="1200" dirty="0">
                <a:solidFill>
                  <a:srgbClr val="383858"/>
                </a:solidFill>
                <a:latin typeface="Meiryo" pitchFamily="34" charset="0"/>
                <a:ea typeface="Meiryo" pitchFamily="34" charset="-122"/>
                <a:cs typeface="Meiryo" pitchFamily="34" charset="-120"/>
              </a:rPr>
              <a:t>「反応しなかった論点」「立場と対立した主張」など個別化フィードバック</a:t>
            </a:r>
            <a:endParaRPr lang="en-US" sz="1200" dirty="0"/>
          </a:p>
        </p:txBody>
      </p:sp>
    </p:spTree>
    <p:extLst>
      <p:ext uri="{BB962C8B-B14F-4D97-AF65-F5344CB8AC3E}">
        <p14:creationId xmlns:p14="http://schemas.microsoft.com/office/powerpoint/2010/main" val="27267791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37744"/>
            <a:ext cx="8229600" cy="274320"/>
          </a:xfrm>
          <a:prstGeom prst="rect">
            <a:avLst/>
          </a:prstGeom>
          <a:noFill/>
          <a:ln/>
        </p:spPr>
        <p:txBody>
          <a:bodyPr wrap="square" lIns="0" tIns="0" rIns="0" bIns="0" rtlCol="0" anchor="ctr"/>
          <a:lstStyle/>
          <a:p>
            <a:pPr marL="0" indent="0">
              <a:buNone/>
            </a:pPr>
            <a:r>
              <a:rPr lang="en-US" sz="1200" dirty="0">
                <a:solidFill>
                  <a:srgbClr val="285888"/>
                </a:solidFill>
                <a:latin typeface="Meiryo" pitchFamily="34" charset="0"/>
                <a:ea typeface="Meiryo" pitchFamily="34" charset="-122"/>
                <a:cs typeface="Meiryo" pitchFamily="34" charset="-120"/>
              </a:rPr>
              <a:t>4. 進捗</a:t>
            </a:r>
            <a:endParaRPr lang="en-US" sz="1200" dirty="0"/>
          </a:p>
        </p:txBody>
      </p:sp>
      <p:sp>
        <p:nvSpPr>
          <p:cNvPr id="3" name="Text 1"/>
          <p:cNvSpPr/>
          <p:nvPr/>
        </p:nvSpPr>
        <p:spPr>
          <a:xfrm>
            <a:off x="457200" y="493776"/>
            <a:ext cx="8229600" cy="566928"/>
          </a:xfrm>
          <a:prstGeom prst="rect">
            <a:avLst/>
          </a:prstGeom>
          <a:noFill/>
          <a:ln/>
        </p:spPr>
        <p:txBody>
          <a:bodyPr wrap="square" lIns="0" tIns="0" rIns="0" bIns="0" rtlCol="0" anchor="ctr"/>
          <a:lstStyle/>
          <a:p>
            <a:pPr marL="0" indent="0">
              <a:buNone/>
            </a:pPr>
            <a:r>
              <a:rPr lang="en-US" sz="2112" b="1" dirty="0">
                <a:solidFill>
                  <a:srgbClr val="181828"/>
                </a:solidFill>
                <a:latin typeface="Meiryo" pitchFamily="34" charset="0"/>
                <a:ea typeface="Meiryo" pitchFamily="34" charset="-122"/>
                <a:cs typeface="Meiryo" pitchFamily="34" charset="-120"/>
              </a:rPr>
              <a:t>現在の進捗と今後の予定</a:t>
            </a:r>
            <a:endParaRPr lang="en-US" sz="2112" dirty="0"/>
          </a:p>
        </p:txBody>
      </p:sp>
      <p:sp>
        <p:nvSpPr>
          <p:cNvPr id="4" name="Shape 2"/>
          <p:cNvSpPr/>
          <p:nvPr/>
        </p:nvSpPr>
        <p:spPr>
          <a:xfrm>
            <a:off x="475488" y="1097280"/>
            <a:ext cx="1005840" cy="41148"/>
          </a:xfrm>
          <a:prstGeom prst="rect">
            <a:avLst/>
          </a:prstGeom>
          <a:solidFill>
            <a:srgbClr val="285888"/>
          </a:solidFill>
          <a:ln/>
        </p:spPr>
        <p:txBody>
          <a:bodyPr/>
          <a:lstStyle/>
          <a:p>
            <a:endParaRPr lang="ja-JP" altLang="en-US"/>
          </a:p>
        </p:txBody>
      </p:sp>
      <p:sp>
        <p:nvSpPr>
          <p:cNvPr id="5" name="Shape 3"/>
          <p:cNvSpPr/>
          <p:nvPr/>
        </p:nvSpPr>
        <p:spPr>
          <a:xfrm>
            <a:off x="457200" y="4873752"/>
            <a:ext cx="8229600" cy="27432"/>
          </a:xfrm>
          <a:prstGeom prst="rect">
            <a:avLst/>
          </a:prstGeom>
          <a:solidFill>
            <a:srgbClr val="243F66"/>
          </a:solidFill>
          <a:ln/>
        </p:spPr>
        <p:txBody>
          <a:bodyPr/>
          <a:lstStyle/>
          <a:p>
            <a:endParaRPr lang="ja-JP" altLang="en-US"/>
          </a:p>
        </p:txBody>
      </p:sp>
      <p:sp>
        <p:nvSpPr>
          <p:cNvPr id="6" name="Text 4"/>
          <p:cNvSpPr/>
          <p:nvPr/>
        </p:nvSpPr>
        <p:spPr>
          <a:xfrm>
            <a:off x="457200" y="1508760"/>
            <a:ext cx="4114800" cy="292608"/>
          </a:xfrm>
          <a:prstGeom prst="rect">
            <a:avLst/>
          </a:prstGeom>
          <a:noFill/>
          <a:ln/>
        </p:spPr>
        <p:txBody>
          <a:bodyPr wrap="square" lIns="0" tIns="0" rIns="0" bIns="0" rtlCol="0" anchor="ctr"/>
          <a:lstStyle/>
          <a:p>
            <a:pPr marL="0" indent="0">
              <a:buNone/>
            </a:pPr>
            <a:r>
              <a:rPr lang="en-US" sz="1276" b="1" dirty="0">
                <a:solidFill>
                  <a:srgbClr val="2E7D32"/>
                </a:solidFill>
                <a:latin typeface="Meiryo" pitchFamily="34" charset="0"/>
                <a:ea typeface="Meiryo" pitchFamily="34" charset="-122"/>
                <a:cs typeface="Meiryo" pitchFamily="34" charset="-120"/>
              </a:rPr>
              <a:t>✓ 完了済み</a:t>
            </a:r>
            <a:endParaRPr lang="en-US" sz="1276" dirty="0"/>
          </a:p>
        </p:txBody>
      </p:sp>
      <p:sp>
        <p:nvSpPr>
          <p:cNvPr id="7" name="Text 5"/>
          <p:cNvSpPr/>
          <p:nvPr/>
        </p:nvSpPr>
        <p:spPr>
          <a:xfrm>
            <a:off x="502920" y="1901952"/>
            <a:ext cx="4023360" cy="1828800"/>
          </a:xfrm>
          <a:prstGeom prst="rect">
            <a:avLst/>
          </a:prstGeom>
          <a:noFill/>
          <a:ln/>
        </p:spPr>
        <p:txBody>
          <a:bodyPr wrap="square" lIns="0" tIns="0" rIns="0" bIns="0" rtlCol="0" anchor="t"/>
          <a:lstStyle/>
          <a:p>
            <a:pPr marL="190500" indent="-190500">
              <a:lnSpc>
                <a:spcPct val="112000"/>
              </a:lnSpc>
              <a:spcAft>
                <a:spcPts val="600"/>
              </a:spcAft>
              <a:buSzPct val="100000"/>
              <a:buChar char="•"/>
            </a:pPr>
            <a:r>
              <a:rPr lang="en-US" sz="1200" dirty="0">
                <a:solidFill>
                  <a:srgbClr val="383858"/>
                </a:solidFill>
                <a:latin typeface="Meiryo" pitchFamily="34" charset="0"/>
                <a:ea typeface="Meiryo" pitchFamily="34" charset="-122"/>
                <a:cs typeface="Meiryo" pitchFamily="34" charset="-120"/>
              </a:rPr>
              <a:t>リアルタイム音声認識（OpenAI Whisper）</a:t>
            </a:r>
            <a:endParaRPr lang="en-US" sz="1200" dirty="0"/>
          </a:p>
          <a:p>
            <a:pPr marL="190500" indent="-190500">
              <a:lnSpc>
                <a:spcPct val="112000"/>
              </a:lnSpc>
              <a:spcAft>
                <a:spcPts val="600"/>
              </a:spcAft>
              <a:buSzPct val="100000"/>
              <a:buChar char="•"/>
            </a:pPr>
            <a:r>
              <a:rPr lang="en-US" sz="1200" dirty="0">
                <a:solidFill>
                  <a:srgbClr val="383858"/>
                </a:solidFill>
                <a:latin typeface="Meiryo" pitchFamily="34" charset="0"/>
                <a:ea typeface="Meiryo" pitchFamily="34" charset="-122"/>
                <a:cs typeface="Meiryo" pitchFamily="34" charset="-120"/>
              </a:rPr>
              <a:t>複数デバイスからの発話収集と話者ラベル付与</a:t>
            </a:r>
            <a:endParaRPr lang="en-US" sz="1200" dirty="0"/>
          </a:p>
          <a:p>
            <a:pPr marL="190500" indent="-190500">
              <a:lnSpc>
                <a:spcPct val="112000"/>
              </a:lnSpc>
              <a:spcAft>
                <a:spcPts val="600"/>
              </a:spcAft>
              <a:buSzPct val="100000"/>
              <a:buChar char="•"/>
            </a:pPr>
            <a:r>
              <a:rPr lang="en-US" sz="1200" dirty="0">
                <a:solidFill>
                  <a:srgbClr val="383858"/>
                </a:solidFill>
                <a:latin typeface="Meiryo" pitchFamily="34" charset="0"/>
                <a:ea typeface="Meiryo" pitchFamily="34" charset="-122"/>
                <a:cs typeface="Meiryo" pitchFamily="34" charset="-120"/>
              </a:rPr>
              <a:t>LLMによる論証構造化（claim/premise/attack/support）</a:t>
            </a:r>
            <a:endParaRPr lang="en-US" sz="1200" dirty="0"/>
          </a:p>
        </p:txBody>
      </p:sp>
      <p:sp>
        <p:nvSpPr>
          <p:cNvPr id="8" name="Text 6"/>
          <p:cNvSpPr/>
          <p:nvPr/>
        </p:nvSpPr>
        <p:spPr>
          <a:xfrm>
            <a:off x="4709160" y="1508760"/>
            <a:ext cx="3931920" cy="292608"/>
          </a:xfrm>
          <a:prstGeom prst="rect">
            <a:avLst/>
          </a:prstGeom>
          <a:noFill/>
          <a:ln/>
        </p:spPr>
        <p:txBody>
          <a:bodyPr wrap="square" lIns="0" tIns="0" rIns="0" bIns="0" rtlCol="0" anchor="ctr"/>
          <a:lstStyle/>
          <a:p>
            <a:pPr marL="0" indent="0">
              <a:buNone/>
            </a:pPr>
            <a:r>
              <a:rPr lang="en-US" sz="1276" b="1" dirty="0">
                <a:solidFill>
                  <a:srgbClr val="285888"/>
                </a:solidFill>
                <a:latin typeface="Meiryo" pitchFamily="34" charset="0"/>
                <a:ea typeface="Meiryo" pitchFamily="34" charset="-122"/>
                <a:cs typeface="Meiryo" pitchFamily="34" charset="-120"/>
              </a:rPr>
              <a:t>→ 今後の予定</a:t>
            </a:r>
            <a:endParaRPr lang="en-US" sz="1276" dirty="0"/>
          </a:p>
        </p:txBody>
      </p:sp>
      <p:sp>
        <p:nvSpPr>
          <p:cNvPr id="9" name="Text 7"/>
          <p:cNvSpPr/>
          <p:nvPr/>
        </p:nvSpPr>
        <p:spPr>
          <a:xfrm>
            <a:off x="4754880" y="1901952"/>
            <a:ext cx="3931920" cy="1828800"/>
          </a:xfrm>
          <a:prstGeom prst="rect">
            <a:avLst/>
          </a:prstGeom>
          <a:noFill/>
          <a:ln/>
        </p:spPr>
        <p:txBody>
          <a:bodyPr wrap="square" lIns="0" tIns="0" rIns="0" bIns="0" rtlCol="0" anchor="t"/>
          <a:lstStyle/>
          <a:p>
            <a:pPr marL="190500" indent="-190500">
              <a:lnSpc>
                <a:spcPct val="112000"/>
              </a:lnSpc>
              <a:spcAft>
                <a:spcPts val="600"/>
              </a:spcAft>
              <a:buSzPct val="100000"/>
              <a:buChar char="•"/>
            </a:pPr>
            <a:r>
              <a:rPr lang="en-US" sz="1200" dirty="0">
                <a:solidFill>
                  <a:srgbClr val="383858"/>
                </a:solidFill>
                <a:latin typeface="Meiryo" pitchFamily="34" charset="0"/>
                <a:ea typeface="Meiryo" pitchFamily="34" charset="-122"/>
                <a:cs typeface="Meiryo" pitchFamily="34" charset="-120"/>
              </a:rPr>
              <a:t>iPhoneをデバイスとした実装に置き換え（伊藤先生と協力）</a:t>
            </a:r>
            <a:endParaRPr lang="en-US" sz="1200" dirty="0"/>
          </a:p>
          <a:p>
            <a:pPr marL="190500" indent="-190500">
              <a:lnSpc>
                <a:spcPct val="112000"/>
              </a:lnSpc>
              <a:spcAft>
                <a:spcPts val="600"/>
              </a:spcAft>
              <a:buSzPct val="100000"/>
              <a:buChar char="•"/>
            </a:pPr>
            <a:r>
              <a:rPr lang="en-US" sz="1200" dirty="0">
                <a:solidFill>
                  <a:srgbClr val="383858"/>
                </a:solidFill>
                <a:latin typeface="Meiryo" pitchFamily="34" charset="0"/>
                <a:ea typeface="Meiryo" pitchFamily="34" charset="-122"/>
                <a:cs typeface="Meiryo" pitchFamily="34" charset="-120"/>
              </a:rPr>
              <a:t>ドキュメント知識 / Web検索エージェントの統合</a:t>
            </a:r>
            <a:endParaRPr lang="en-US" sz="1200" dirty="0"/>
          </a:p>
        </p:txBody>
      </p:sp>
      <p:sp>
        <p:nvSpPr>
          <p:cNvPr id="10" name="Shape 8"/>
          <p:cNvSpPr/>
          <p:nvPr/>
        </p:nvSpPr>
        <p:spPr>
          <a:xfrm>
            <a:off x="4572000" y="1600200"/>
            <a:ext cx="18288" cy="2286000"/>
          </a:xfrm>
          <a:prstGeom prst="rect">
            <a:avLst/>
          </a:prstGeom>
          <a:solidFill>
            <a:srgbClr val="D5D9E2"/>
          </a:solidFill>
          <a:ln/>
        </p:spPr>
        <p:txBody>
          <a:bodyPr/>
          <a:lstStyle/>
          <a:p>
            <a:endParaRPr lang="ja-JP" altLang="en-US"/>
          </a:p>
        </p:txBody>
      </p:sp>
    </p:spTree>
    <p:extLst>
      <p:ext uri="{BB962C8B-B14F-4D97-AF65-F5344CB8AC3E}">
        <p14:creationId xmlns:p14="http://schemas.microsoft.com/office/powerpoint/2010/main" val="3322002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37744"/>
            <a:ext cx="8229600" cy="274320"/>
          </a:xfrm>
          <a:prstGeom prst="rect">
            <a:avLst/>
          </a:prstGeom>
          <a:noFill/>
          <a:ln/>
        </p:spPr>
        <p:txBody>
          <a:bodyPr wrap="square" lIns="0" tIns="0" rIns="0" bIns="0" rtlCol="0" anchor="ctr"/>
          <a:lstStyle/>
          <a:p>
            <a:pPr marL="0" indent="0">
              <a:buNone/>
            </a:pPr>
            <a:r>
              <a:rPr lang="en-US" sz="1200" dirty="0">
                <a:solidFill>
                  <a:srgbClr val="285888"/>
                </a:solidFill>
                <a:latin typeface="Meiryo" pitchFamily="34" charset="0"/>
                <a:ea typeface="Meiryo" pitchFamily="34" charset="-122"/>
                <a:cs typeface="Meiryo" pitchFamily="34" charset="-120"/>
              </a:rPr>
              <a:t>5. 評価</a:t>
            </a:r>
            <a:endParaRPr lang="en-US" sz="1200" dirty="0"/>
          </a:p>
        </p:txBody>
      </p:sp>
      <p:sp>
        <p:nvSpPr>
          <p:cNvPr id="3" name="Text 1"/>
          <p:cNvSpPr/>
          <p:nvPr/>
        </p:nvSpPr>
        <p:spPr>
          <a:xfrm>
            <a:off x="457200" y="493776"/>
            <a:ext cx="8229600" cy="566928"/>
          </a:xfrm>
          <a:prstGeom prst="rect">
            <a:avLst/>
          </a:prstGeom>
          <a:noFill/>
          <a:ln/>
        </p:spPr>
        <p:txBody>
          <a:bodyPr wrap="square" lIns="0" tIns="0" rIns="0" bIns="0" rtlCol="0" anchor="ctr"/>
          <a:lstStyle/>
          <a:p>
            <a:pPr marL="0" indent="0">
              <a:buNone/>
            </a:pPr>
            <a:r>
              <a:rPr lang="en-US" sz="2112" b="1" dirty="0">
                <a:solidFill>
                  <a:srgbClr val="181828"/>
                </a:solidFill>
                <a:latin typeface="Meiryo" pitchFamily="34" charset="0"/>
                <a:ea typeface="Meiryo" pitchFamily="34" charset="-122"/>
                <a:cs typeface="Meiryo" pitchFamily="34" charset="-120"/>
              </a:rPr>
              <a:t>評価計画</a:t>
            </a:r>
            <a:endParaRPr lang="en-US" sz="2112" dirty="0"/>
          </a:p>
        </p:txBody>
      </p:sp>
      <p:sp>
        <p:nvSpPr>
          <p:cNvPr id="4" name="Shape 2"/>
          <p:cNvSpPr/>
          <p:nvPr/>
        </p:nvSpPr>
        <p:spPr>
          <a:xfrm>
            <a:off x="475488" y="1097280"/>
            <a:ext cx="1005840" cy="41148"/>
          </a:xfrm>
          <a:prstGeom prst="rect">
            <a:avLst/>
          </a:prstGeom>
          <a:solidFill>
            <a:srgbClr val="285888"/>
          </a:solidFill>
          <a:ln/>
        </p:spPr>
        <p:txBody>
          <a:bodyPr/>
          <a:lstStyle/>
          <a:p>
            <a:endParaRPr lang="ja-JP" altLang="en-US"/>
          </a:p>
        </p:txBody>
      </p:sp>
      <p:sp>
        <p:nvSpPr>
          <p:cNvPr id="5" name="Shape 3"/>
          <p:cNvSpPr/>
          <p:nvPr/>
        </p:nvSpPr>
        <p:spPr>
          <a:xfrm>
            <a:off x="457200" y="4873752"/>
            <a:ext cx="8229600" cy="27432"/>
          </a:xfrm>
          <a:prstGeom prst="rect">
            <a:avLst/>
          </a:prstGeom>
          <a:solidFill>
            <a:srgbClr val="243F66"/>
          </a:solidFill>
          <a:ln/>
        </p:spPr>
        <p:txBody>
          <a:bodyPr/>
          <a:lstStyle/>
          <a:p>
            <a:endParaRPr lang="ja-JP" altLang="en-US"/>
          </a:p>
        </p:txBody>
      </p:sp>
      <p:sp>
        <p:nvSpPr>
          <p:cNvPr id="6" name="Text 4"/>
          <p:cNvSpPr/>
          <p:nvPr/>
        </p:nvSpPr>
        <p:spPr>
          <a:xfrm>
            <a:off x="457200" y="1320800"/>
            <a:ext cx="8229600" cy="292608"/>
          </a:xfrm>
          <a:prstGeom prst="rect">
            <a:avLst/>
          </a:prstGeom>
          <a:noFill/>
          <a:ln/>
        </p:spPr>
        <p:txBody>
          <a:bodyPr wrap="square" lIns="0" tIns="0" rIns="0" bIns="0" rtlCol="0" anchor="ctr"/>
          <a:lstStyle/>
          <a:p>
            <a:pPr marL="0" indent="0">
              <a:buNone/>
            </a:pPr>
            <a:r>
              <a:rPr lang="en-US" sz="1276" b="1" dirty="0">
                <a:solidFill>
                  <a:srgbClr val="285888"/>
                </a:solidFill>
                <a:latin typeface="Meiryo" pitchFamily="34" charset="0"/>
                <a:ea typeface="Meiryo" pitchFamily="34" charset="-122"/>
                <a:cs typeface="Meiryo" pitchFamily="34" charset="-120"/>
              </a:rPr>
              <a:t>シミュレーション評価</a:t>
            </a:r>
            <a:endParaRPr lang="en-US" sz="1276" dirty="0"/>
          </a:p>
        </p:txBody>
      </p:sp>
      <p:sp>
        <p:nvSpPr>
          <p:cNvPr id="7" name="Text 5"/>
          <p:cNvSpPr/>
          <p:nvPr/>
        </p:nvSpPr>
        <p:spPr>
          <a:xfrm>
            <a:off x="713232" y="1626108"/>
            <a:ext cx="7955280" cy="365760"/>
          </a:xfrm>
          <a:prstGeom prst="rect">
            <a:avLst/>
          </a:prstGeom>
          <a:noFill/>
          <a:ln/>
        </p:spPr>
        <p:txBody>
          <a:bodyPr wrap="square" lIns="0" tIns="0" rIns="0" bIns="0" rtlCol="0" anchor="t"/>
          <a:lstStyle/>
          <a:p>
            <a:pPr marL="190500" indent="-190500">
              <a:lnSpc>
                <a:spcPct val="112000"/>
              </a:lnSpc>
              <a:spcAft>
                <a:spcPts val="600"/>
              </a:spcAft>
              <a:buSzPct val="100000"/>
              <a:buChar char="–"/>
            </a:pPr>
            <a:r>
              <a:rPr lang="en-US" sz="1200" dirty="0">
                <a:solidFill>
                  <a:srgbClr val="383858"/>
                </a:solidFill>
                <a:latin typeface="Meiryo" pitchFamily="34" charset="0"/>
                <a:ea typeface="Meiryo" pitchFamily="34" charset="-122"/>
                <a:cs typeface="Meiryo" pitchFamily="34" charset="-120"/>
              </a:rPr>
              <a:t>LLM多人数エージェント議論を多数回。3条件×ablationで比較（RQ1〜RQ3）</a:t>
            </a:r>
            <a:endParaRPr lang="en-US" sz="1200" dirty="0"/>
          </a:p>
        </p:txBody>
      </p:sp>
      <p:sp>
        <p:nvSpPr>
          <p:cNvPr id="8" name="Text 6"/>
          <p:cNvSpPr/>
          <p:nvPr/>
        </p:nvSpPr>
        <p:spPr>
          <a:xfrm>
            <a:off x="457200" y="2093467"/>
            <a:ext cx="8229600" cy="292608"/>
          </a:xfrm>
          <a:prstGeom prst="rect">
            <a:avLst/>
          </a:prstGeom>
          <a:noFill/>
          <a:ln/>
        </p:spPr>
        <p:txBody>
          <a:bodyPr wrap="square" lIns="0" tIns="0" rIns="0" bIns="0" rtlCol="0" anchor="ctr"/>
          <a:lstStyle/>
          <a:p>
            <a:pPr marL="0" indent="0">
              <a:buNone/>
            </a:pPr>
            <a:r>
              <a:rPr lang="en-US" sz="1276" b="1" dirty="0">
                <a:solidFill>
                  <a:srgbClr val="285888"/>
                </a:solidFill>
                <a:latin typeface="Meiryo" pitchFamily="34" charset="0"/>
                <a:ea typeface="Meiryo" pitchFamily="34" charset="-122"/>
                <a:cs typeface="Meiryo" pitchFamily="34" charset="-120"/>
              </a:rPr>
              <a:t>対面参加者実験</a:t>
            </a:r>
            <a:endParaRPr lang="en-US" sz="1276" dirty="0"/>
          </a:p>
        </p:txBody>
      </p:sp>
      <p:sp>
        <p:nvSpPr>
          <p:cNvPr id="9" name="Text 7"/>
          <p:cNvSpPr/>
          <p:nvPr/>
        </p:nvSpPr>
        <p:spPr>
          <a:xfrm>
            <a:off x="713232" y="2398775"/>
            <a:ext cx="7955280" cy="365760"/>
          </a:xfrm>
          <a:prstGeom prst="rect">
            <a:avLst/>
          </a:prstGeom>
          <a:noFill/>
          <a:ln/>
        </p:spPr>
        <p:txBody>
          <a:bodyPr wrap="square" lIns="0" tIns="0" rIns="0" bIns="0" rtlCol="0" anchor="t"/>
          <a:lstStyle/>
          <a:p>
            <a:pPr marL="190500" indent="-190500">
              <a:lnSpc>
                <a:spcPct val="112000"/>
              </a:lnSpc>
              <a:spcAft>
                <a:spcPts val="600"/>
              </a:spcAft>
              <a:buSzPct val="100000"/>
              <a:buChar char="–"/>
            </a:pPr>
            <a:r>
              <a:rPr lang="en-US" sz="1200" dirty="0">
                <a:solidFill>
                  <a:srgbClr val="383858"/>
                </a:solidFill>
                <a:latin typeface="Meiryo" pitchFamily="34" charset="0"/>
                <a:ea typeface="Meiryo" pitchFamily="34" charset="-122"/>
                <a:cs typeface="Meiryo" pitchFamily="34" charset="-120"/>
              </a:rPr>
              <a:t>5〜8名×60分×政策論題。被験者内デザイン＋カウンターバランス</a:t>
            </a:r>
            <a:endParaRPr lang="en-US" sz="1200" dirty="0"/>
          </a:p>
        </p:txBody>
      </p:sp>
      <p:sp>
        <p:nvSpPr>
          <p:cNvPr id="10" name="Text 8"/>
          <p:cNvSpPr/>
          <p:nvPr/>
        </p:nvSpPr>
        <p:spPr>
          <a:xfrm>
            <a:off x="457200" y="2866135"/>
            <a:ext cx="8229600" cy="292608"/>
          </a:xfrm>
          <a:prstGeom prst="rect">
            <a:avLst/>
          </a:prstGeom>
          <a:noFill/>
          <a:ln/>
        </p:spPr>
        <p:txBody>
          <a:bodyPr wrap="square" lIns="0" tIns="0" rIns="0" bIns="0" rtlCol="0" anchor="ctr"/>
          <a:lstStyle/>
          <a:p>
            <a:pPr marL="0" indent="0">
              <a:buNone/>
            </a:pPr>
            <a:r>
              <a:rPr lang="en-US" sz="1276" b="1" dirty="0">
                <a:solidFill>
                  <a:srgbClr val="285888"/>
                </a:solidFill>
                <a:latin typeface="Meiryo" pitchFamily="34" charset="0"/>
                <a:ea typeface="Meiryo" pitchFamily="34" charset="-122"/>
                <a:cs typeface="Meiryo" pitchFamily="34" charset="-120"/>
              </a:rPr>
              <a:t>比較条件</a:t>
            </a:r>
            <a:endParaRPr lang="en-US" sz="1276" dirty="0"/>
          </a:p>
        </p:txBody>
      </p:sp>
      <p:sp>
        <p:nvSpPr>
          <p:cNvPr id="11" name="Text 9"/>
          <p:cNvSpPr/>
          <p:nvPr/>
        </p:nvSpPr>
        <p:spPr>
          <a:xfrm>
            <a:off x="713232" y="3171443"/>
            <a:ext cx="7955280" cy="365760"/>
          </a:xfrm>
          <a:prstGeom prst="rect">
            <a:avLst/>
          </a:prstGeom>
          <a:noFill/>
          <a:ln/>
        </p:spPr>
        <p:txBody>
          <a:bodyPr wrap="square" lIns="0" tIns="0" rIns="0" bIns="0" rtlCol="0" anchor="t"/>
          <a:lstStyle/>
          <a:p>
            <a:pPr marL="190500" indent="-190500">
              <a:lnSpc>
                <a:spcPct val="112000"/>
              </a:lnSpc>
              <a:spcAft>
                <a:spcPts val="600"/>
              </a:spcAft>
              <a:buSzPct val="100000"/>
              <a:buChar char="–"/>
            </a:pPr>
            <a:r>
              <a:rPr lang="en-US" sz="1200" dirty="0">
                <a:solidFill>
                  <a:srgbClr val="383858"/>
                </a:solidFill>
                <a:latin typeface="Meiryo" pitchFamily="34" charset="0"/>
                <a:ea typeface="Meiryo" pitchFamily="34" charset="-122"/>
                <a:cs typeface="Meiryo" pitchFamily="34" charset="-120"/>
              </a:rPr>
              <a:t>(i) 情報提供なし　(ii) フラットRAG　(iii) 提案フル構成</a:t>
            </a:r>
            <a:endParaRPr lang="en-US" sz="1200" dirty="0"/>
          </a:p>
        </p:txBody>
      </p:sp>
      <p:sp>
        <p:nvSpPr>
          <p:cNvPr id="12" name="Text 10"/>
          <p:cNvSpPr/>
          <p:nvPr/>
        </p:nvSpPr>
        <p:spPr>
          <a:xfrm>
            <a:off x="457200" y="3638803"/>
            <a:ext cx="8229600" cy="292608"/>
          </a:xfrm>
          <a:prstGeom prst="rect">
            <a:avLst/>
          </a:prstGeom>
          <a:noFill/>
          <a:ln/>
        </p:spPr>
        <p:txBody>
          <a:bodyPr wrap="square" lIns="0" tIns="0" rIns="0" bIns="0" rtlCol="0" anchor="ctr"/>
          <a:lstStyle/>
          <a:p>
            <a:pPr marL="0" indent="0">
              <a:buNone/>
            </a:pPr>
            <a:r>
              <a:rPr lang="en-US" sz="1276" b="1" dirty="0">
                <a:solidFill>
                  <a:srgbClr val="285888"/>
                </a:solidFill>
                <a:latin typeface="Meiryo" pitchFamily="34" charset="0"/>
                <a:ea typeface="Meiryo" pitchFamily="34" charset="-122"/>
                <a:cs typeface="Meiryo" pitchFamily="34" charset="-120"/>
              </a:rPr>
              <a:t>評価指標</a:t>
            </a:r>
            <a:endParaRPr lang="en-US" sz="1276" dirty="0"/>
          </a:p>
        </p:txBody>
      </p:sp>
      <p:sp>
        <p:nvSpPr>
          <p:cNvPr id="13" name="Text 11"/>
          <p:cNvSpPr/>
          <p:nvPr/>
        </p:nvSpPr>
        <p:spPr>
          <a:xfrm>
            <a:off x="713232" y="3944111"/>
            <a:ext cx="7955280" cy="548640"/>
          </a:xfrm>
          <a:prstGeom prst="rect">
            <a:avLst/>
          </a:prstGeom>
          <a:noFill/>
          <a:ln/>
        </p:spPr>
        <p:txBody>
          <a:bodyPr wrap="square" lIns="0" tIns="0" rIns="0" bIns="0" rtlCol="0" anchor="t"/>
          <a:lstStyle/>
          <a:p>
            <a:pPr marL="190500" indent="-190500">
              <a:lnSpc>
                <a:spcPct val="112000"/>
              </a:lnSpc>
              <a:spcAft>
                <a:spcPts val="600"/>
              </a:spcAft>
              <a:buSzPct val="100000"/>
              <a:buChar char="–"/>
            </a:pPr>
            <a:r>
              <a:rPr lang="en-US" sz="1200" dirty="0">
                <a:solidFill>
                  <a:srgbClr val="383858"/>
                </a:solidFill>
                <a:latin typeface="Meiryo" pitchFamily="34" charset="0"/>
                <a:ea typeface="Meiryo" pitchFamily="34" charset="-122"/>
                <a:cs typeface="Meiryo" pitchFamily="34" charset="-120"/>
              </a:rPr>
              <a:t>主観：合意満足度・納得感・情報活用度（議論前後アンケート）</a:t>
            </a:r>
            <a:endParaRPr lang="en-US" sz="1200" dirty="0"/>
          </a:p>
          <a:p>
            <a:pPr marL="190500" indent="-190500">
              <a:lnSpc>
                <a:spcPct val="112000"/>
              </a:lnSpc>
              <a:spcAft>
                <a:spcPts val="600"/>
              </a:spcAft>
              <a:buSzPct val="100000"/>
              <a:buChar char="–"/>
            </a:pPr>
            <a:r>
              <a:rPr lang="en-US" sz="1200" dirty="0">
                <a:solidFill>
                  <a:srgbClr val="383858"/>
                </a:solidFill>
                <a:latin typeface="Meiryo" pitchFamily="34" charset="0"/>
                <a:ea typeface="Meiryo" pitchFamily="34" charset="-122"/>
                <a:cs typeface="Meiryo" pitchFamily="34" charset="-120"/>
              </a:rPr>
              <a:t>客観：合意到達時間・発話数・反対意見への応答率（ログから自動抽出）</a:t>
            </a:r>
            <a:endParaRPr lang="en-US" sz="1200" dirty="0"/>
          </a:p>
        </p:txBody>
      </p:sp>
    </p:spTree>
    <p:extLst>
      <p:ext uri="{BB962C8B-B14F-4D97-AF65-F5344CB8AC3E}">
        <p14:creationId xmlns:p14="http://schemas.microsoft.com/office/powerpoint/2010/main" val="9042985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37744"/>
            <a:ext cx="8229600" cy="274320"/>
          </a:xfrm>
          <a:prstGeom prst="rect">
            <a:avLst/>
          </a:prstGeom>
          <a:noFill/>
          <a:ln/>
        </p:spPr>
        <p:txBody>
          <a:bodyPr wrap="square" lIns="0" tIns="0" rIns="0" bIns="0" rtlCol="0" anchor="ctr"/>
          <a:lstStyle/>
          <a:p>
            <a:pPr marL="0" indent="0">
              <a:buNone/>
            </a:pPr>
            <a:r>
              <a:rPr lang="en-US" sz="1200" dirty="0">
                <a:solidFill>
                  <a:srgbClr val="285888"/>
                </a:solidFill>
                <a:latin typeface="Meiryo" pitchFamily="34" charset="0"/>
                <a:ea typeface="Meiryo" pitchFamily="34" charset="-122"/>
                <a:cs typeface="Meiryo" pitchFamily="34" charset="-120"/>
              </a:rPr>
              <a:t>参考文献</a:t>
            </a:r>
            <a:endParaRPr lang="en-US" sz="1200" dirty="0"/>
          </a:p>
        </p:txBody>
      </p:sp>
      <p:sp>
        <p:nvSpPr>
          <p:cNvPr id="3" name="Text 1"/>
          <p:cNvSpPr/>
          <p:nvPr/>
        </p:nvSpPr>
        <p:spPr>
          <a:xfrm>
            <a:off x="457200" y="493776"/>
            <a:ext cx="8229600" cy="566928"/>
          </a:xfrm>
          <a:prstGeom prst="rect">
            <a:avLst/>
          </a:prstGeom>
          <a:noFill/>
          <a:ln/>
        </p:spPr>
        <p:txBody>
          <a:bodyPr wrap="square" lIns="0" tIns="0" rIns="0" bIns="0" rtlCol="0" anchor="ctr"/>
          <a:lstStyle/>
          <a:p>
            <a:pPr marL="0" indent="0">
              <a:buNone/>
            </a:pPr>
            <a:r>
              <a:rPr lang="en-US" sz="2112" b="1" dirty="0">
                <a:solidFill>
                  <a:srgbClr val="181828"/>
                </a:solidFill>
                <a:latin typeface="Meiryo" pitchFamily="34" charset="0"/>
                <a:ea typeface="Meiryo" pitchFamily="34" charset="-122"/>
                <a:cs typeface="Meiryo" pitchFamily="34" charset="-120"/>
              </a:rPr>
              <a:t>参考文献</a:t>
            </a:r>
            <a:endParaRPr lang="en-US" sz="2112" dirty="0"/>
          </a:p>
        </p:txBody>
      </p:sp>
      <p:sp>
        <p:nvSpPr>
          <p:cNvPr id="4" name="Shape 2"/>
          <p:cNvSpPr/>
          <p:nvPr/>
        </p:nvSpPr>
        <p:spPr>
          <a:xfrm>
            <a:off x="475488" y="1097280"/>
            <a:ext cx="1005840" cy="41148"/>
          </a:xfrm>
          <a:prstGeom prst="rect">
            <a:avLst/>
          </a:prstGeom>
          <a:solidFill>
            <a:srgbClr val="285888"/>
          </a:solidFill>
          <a:ln/>
        </p:spPr>
        <p:txBody>
          <a:bodyPr/>
          <a:lstStyle/>
          <a:p>
            <a:endParaRPr lang="ja-JP" altLang="en-US"/>
          </a:p>
        </p:txBody>
      </p:sp>
      <p:sp>
        <p:nvSpPr>
          <p:cNvPr id="5" name="Shape 3"/>
          <p:cNvSpPr/>
          <p:nvPr/>
        </p:nvSpPr>
        <p:spPr>
          <a:xfrm>
            <a:off x="457200" y="4873752"/>
            <a:ext cx="8229600" cy="27432"/>
          </a:xfrm>
          <a:prstGeom prst="rect">
            <a:avLst/>
          </a:prstGeom>
          <a:solidFill>
            <a:srgbClr val="243F66"/>
          </a:solidFill>
          <a:ln/>
        </p:spPr>
        <p:txBody>
          <a:bodyPr/>
          <a:lstStyle/>
          <a:p>
            <a:endParaRPr lang="ja-JP" altLang="en-US"/>
          </a:p>
        </p:txBody>
      </p:sp>
      <p:sp>
        <p:nvSpPr>
          <p:cNvPr id="6" name="Text 4"/>
          <p:cNvSpPr/>
          <p:nvPr/>
        </p:nvSpPr>
        <p:spPr>
          <a:xfrm>
            <a:off x="457200" y="1463040"/>
            <a:ext cx="4160520" cy="3200400"/>
          </a:xfrm>
          <a:prstGeom prst="rect">
            <a:avLst/>
          </a:prstGeom>
          <a:noFill/>
          <a:ln/>
        </p:spPr>
        <p:txBody>
          <a:bodyPr wrap="square" lIns="0" tIns="0" rIns="0" bIns="0" rtlCol="0" anchor="t"/>
          <a:lstStyle/>
          <a:p>
            <a:pPr marL="0" indent="0">
              <a:spcAft>
                <a:spcPts val="700"/>
              </a:spcAft>
              <a:buNone/>
            </a:pPr>
            <a:r>
              <a:rPr lang="en-US" sz="1200" dirty="0">
                <a:solidFill>
                  <a:srgbClr val="383858"/>
                </a:solidFill>
                <a:latin typeface="Meiryo" pitchFamily="34" charset="0"/>
                <a:ea typeface="Meiryo" pitchFamily="34" charset="-122"/>
                <a:cs typeface="Meiryo" pitchFamily="34" charset="-120"/>
              </a:rPr>
              <a:t>[1] Dung, P. M. (1995). On the Acceptability of Arguments... Artificial Intelligence, 77(2).</a:t>
            </a:r>
            <a:endParaRPr lang="en-US" sz="1200" dirty="0"/>
          </a:p>
          <a:p>
            <a:pPr marL="0" indent="0">
              <a:spcAft>
                <a:spcPts val="700"/>
              </a:spcAft>
              <a:buNone/>
            </a:pPr>
            <a:r>
              <a:rPr lang="en-US" sz="1200" dirty="0">
                <a:solidFill>
                  <a:srgbClr val="383858"/>
                </a:solidFill>
                <a:latin typeface="Meiryo" pitchFamily="34" charset="0"/>
                <a:ea typeface="Meiryo" pitchFamily="34" charset="-122"/>
                <a:cs typeface="Meiryo" pitchFamily="34" charset="-120"/>
              </a:rPr>
              <a:t>[2] Lawrence, J., &amp; Reed, C. (2019). Argument Mining: A Survey. Computational Linguistics, 45(4).</a:t>
            </a:r>
            <a:endParaRPr lang="en-US" sz="1200" dirty="0"/>
          </a:p>
          <a:p>
            <a:pPr marL="0" indent="0">
              <a:spcAft>
                <a:spcPts val="700"/>
              </a:spcAft>
              <a:buNone/>
            </a:pPr>
            <a:r>
              <a:rPr lang="en-US" sz="1200" dirty="0">
                <a:solidFill>
                  <a:srgbClr val="383858"/>
                </a:solidFill>
                <a:latin typeface="Meiryo" pitchFamily="34" charset="0"/>
                <a:ea typeface="Meiryo" pitchFamily="34" charset="-122"/>
                <a:cs typeface="Meiryo" pitchFamily="34" charset="-120"/>
              </a:rPr>
              <a:t>[3] Baroni, P. et al. (2011). An Introduction to Argumentation Semantics. Knowledge Eng. Review, 26(4).</a:t>
            </a:r>
            <a:endParaRPr lang="en-US" sz="1200" dirty="0"/>
          </a:p>
          <a:p>
            <a:pPr marL="0" indent="0">
              <a:spcAft>
                <a:spcPts val="700"/>
              </a:spcAft>
              <a:buNone/>
            </a:pPr>
            <a:r>
              <a:rPr lang="en-US" sz="1200" dirty="0">
                <a:solidFill>
                  <a:srgbClr val="383858"/>
                </a:solidFill>
                <a:latin typeface="Meiryo" pitchFamily="34" charset="0"/>
                <a:ea typeface="Meiryo" pitchFamily="34" charset="-122"/>
                <a:cs typeface="Meiryo" pitchFamily="34" charset="-120"/>
              </a:rPr>
              <a:t>[4] Modgil, S., &amp; Prakken, H. (2014). The ASPIC+ Framework... Argument &amp; Computation, 5(1).</a:t>
            </a:r>
            <a:endParaRPr lang="en-US" sz="1200" dirty="0"/>
          </a:p>
        </p:txBody>
      </p:sp>
      <p:sp>
        <p:nvSpPr>
          <p:cNvPr id="7" name="Text 5"/>
          <p:cNvSpPr/>
          <p:nvPr/>
        </p:nvSpPr>
        <p:spPr>
          <a:xfrm>
            <a:off x="4709160" y="1463040"/>
            <a:ext cx="4023360" cy="3200400"/>
          </a:xfrm>
          <a:prstGeom prst="rect">
            <a:avLst/>
          </a:prstGeom>
          <a:noFill/>
          <a:ln/>
        </p:spPr>
        <p:txBody>
          <a:bodyPr wrap="square" lIns="0" tIns="0" rIns="0" bIns="0" rtlCol="0" anchor="t"/>
          <a:lstStyle/>
          <a:p>
            <a:pPr marL="0" indent="0">
              <a:spcAft>
                <a:spcPts val="700"/>
              </a:spcAft>
              <a:buNone/>
            </a:pPr>
            <a:r>
              <a:rPr lang="en-US" sz="1200" dirty="0">
                <a:solidFill>
                  <a:srgbClr val="383858"/>
                </a:solidFill>
                <a:latin typeface="Meiryo" pitchFamily="34" charset="0"/>
                <a:ea typeface="Meiryo" pitchFamily="34" charset="-122"/>
                <a:cs typeface="Meiryo" pitchFamily="34" charset="-120"/>
              </a:rPr>
              <a:t>[5] Ito, T. et al. (2022). An Agent that Facilitates Crowd Discussion. Group Decision and Negotiation, 31.</a:t>
            </a:r>
            <a:endParaRPr lang="en-US" sz="1200" dirty="0"/>
          </a:p>
          <a:p>
            <a:pPr marL="0" indent="0">
              <a:spcAft>
                <a:spcPts val="700"/>
              </a:spcAft>
              <a:buNone/>
            </a:pPr>
            <a:r>
              <a:rPr lang="en-US" sz="1200" dirty="0">
                <a:solidFill>
                  <a:srgbClr val="383858"/>
                </a:solidFill>
                <a:latin typeface="Meiryo" pitchFamily="34" charset="0"/>
                <a:ea typeface="Meiryo" pitchFamily="34" charset="-122"/>
                <a:cs typeface="Meiryo" pitchFamily="34" charset="-120"/>
              </a:rPr>
              <a:t>[6] Gu, W. et al. (2025). PTFA: An LLM-Based Agent... PRICAI 2025 (LNAI).</a:t>
            </a:r>
            <a:endParaRPr lang="en-US" sz="1200" dirty="0"/>
          </a:p>
          <a:p>
            <a:pPr marL="0" indent="0">
              <a:spcAft>
                <a:spcPts val="700"/>
              </a:spcAft>
              <a:buNone/>
            </a:pPr>
            <a:r>
              <a:rPr lang="en-US" sz="1200" dirty="0">
                <a:solidFill>
                  <a:srgbClr val="383858"/>
                </a:solidFill>
                <a:latin typeface="Meiryo" pitchFamily="34" charset="0"/>
                <a:ea typeface="Meiryo" pitchFamily="34" charset="-122"/>
                <a:cs typeface="Meiryo" pitchFamily="34" charset="-120"/>
              </a:rPr>
              <a:t>[7] Fulay, S., &amp; Roy, D. (2025). The Empty Chair... ACM CSCW 2025.</a:t>
            </a:r>
            <a:endParaRPr lang="en-US" sz="1200" dirty="0"/>
          </a:p>
        </p:txBody>
      </p:sp>
    </p:spTree>
    <p:extLst>
      <p:ext uri="{BB962C8B-B14F-4D97-AF65-F5344CB8AC3E}">
        <p14:creationId xmlns:p14="http://schemas.microsoft.com/office/powerpoint/2010/main" val="23196242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37744"/>
            <a:ext cx="8229600" cy="274320"/>
          </a:xfrm>
          <a:prstGeom prst="rect">
            <a:avLst/>
          </a:prstGeom>
          <a:noFill/>
          <a:ln/>
        </p:spPr>
        <p:txBody>
          <a:bodyPr wrap="square" lIns="0" tIns="0" rIns="0" bIns="0" rtlCol="0" anchor="ctr"/>
          <a:lstStyle/>
          <a:p>
            <a:pPr marL="0" indent="0">
              <a:buNone/>
            </a:pPr>
            <a:r>
              <a:rPr lang="en-US" sz="1200" dirty="0">
                <a:solidFill>
                  <a:srgbClr val="285888"/>
                </a:solidFill>
                <a:latin typeface="Meiryo" pitchFamily="34" charset="0"/>
                <a:ea typeface="Meiryo" pitchFamily="34" charset="-122"/>
                <a:cs typeface="Meiryo" pitchFamily="34" charset="-120"/>
              </a:rPr>
              <a:t>参考文献</a:t>
            </a:r>
            <a:endParaRPr lang="en-US" sz="1200" dirty="0"/>
          </a:p>
        </p:txBody>
      </p:sp>
      <p:sp>
        <p:nvSpPr>
          <p:cNvPr id="3" name="Text 1"/>
          <p:cNvSpPr/>
          <p:nvPr/>
        </p:nvSpPr>
        <p:spPr>
          <a:xfrm>
            <a:off x="457200" y="493776"/>
            <a:ext cx="8229600" cy="566928"/>
          </a:xfrm>
          <a:prstGeom prst="rect">
            <a:avLst/>
          </a:prstGeom>
          <a:noFill/>
          <a:ln/>
        </p:spPr>
        <p:txBody>
          <a:bodyPr wrap="square" lIns="0" tIns="0" rIns="0" bIns="0" rtlCol="0" anchor="ctr"/>
          <a:lstStyle/>
          <a:p>
            <a:pPr marL="0" indent="0">
              <a:buNone/>
            </a:pPr>
            <a:r>
              <a:rPr lang="en-US" sz="2112" b="1" dirty="0">
                <a:solidFill>
                  <a:srgbClr val="181828"/>
                </a:solidFill>
                <a:latin typeface="Meiryo" pitchFamily="34" charset="0"/>
                <a:ea typeface="Meiryo" pitchFamily="34" charset="-122"/>
                <a:cs typeface="Meiryo" pitchFamily="34" charset="-120"/>
              </a:rPr>
              <a:t>参考文献 (続き)</a:t>
            </a:r>
            <a:endParaRPr lang="en-US" sz="2112" dirty="0"/>
          </a:p>
        </p:txBody>
      </p:sp>
      <p:sp>
        <p:nvSpPr>
          <p:cNvPr id="4" name="Shape 2"/>
          <p:cNvSpPr/>
          <p:nvPr/>
        </p:nvSpPr>
        <p:spPr>
          <a:xfrm>
            <a:off x="475488" y="1097280"/>
            <a:ext cx="1005840" cy="41148"/>
          </a:xfrm>
          <a:prstGeom prst="rect">
            <a:avLst/>
          </a:prstGeom>
          <a:solidFill>
            <a:srgbClr val="285888"/>
          </a:solidFill>
          <a:ln/>
        </p:spPr>
        <p:txBody>
          <a:bodyPr/>
          <a:lstStyle/>
          <a:p>
            <a:endParaRPr lang="ja-JP" altLang="en-US"/>
          </a:p>
        </p:txBody>
      </p:sp>
      <p:sp>
        <p:nvSpPr>
          <p:cNvPr id="5" name="Shape 3"/>
          <p:cNvSpPr/>
          <p:nvPr/>
        </p:nvSpPr>
        <p:spPr>
          <a:xfrm>
            <a:off x="457200" y="4873752"/>
            <a:ext cx="8229600" cy="27432"/>
          </a:xfrm>
          <a:prstGeom prst="rect">
            <a:avLst/>
          </a:prstGeom>
          <a:solidFill>
            <a:srgbClr val="243F66"/>
          </a:solidFill>
          <a:ln/>
        </p:spPr>
        <p:txBody>
          <a:bodyPr/>
          <a:lstStyle/>
          <a:p>
            <a:endParaRPr lang="ja-JP" altLang="en-US"/>
          </a:p>
        </p:txBody>
      </p:sp>
      <p:sp>
        <p:nvSpPr>
          <p:cNvPr id="6" name="Text 4"/>
          <p:cNvSpPr/>
          <p:nvPr/>
        </p:nvSpPr>
        <p:spPr>
          <a:xfrm>
            <a:off x="457200" y="1463040"/>
            <a:ext cx="4160520" cy="3200400"/>
          </a:xfrm>
          <a:prstGeom prst="rect">
            <a:avLst/>
          </a:prstGeom>
          <a:noFill/>
          <a:ln/>
        </p:spPr>
        <p:txBody>
          <a:bodyPr wrap="square" lIns="0" tIns="0" rIns="0" bIns="0" rtlCol="0" anchor="t"/>
          <a:lstStyle/>
          <a:p>
            <a:pPr marL="0" indent="0">
              <a:spcAft>
                <a:spcPts val="700"/>
              </a:spcAft>
              <a:buNone/>
            </a:pPr>
            <a:r>
              <a:rPr lang="en-US" sz="1200" dirty="0">
                <a:solidFill>
                  <a:srgbClr val="383858"/>
                </a:solidFill>
                <a:latin typeface="Meiryo" pitchFamily="34" charset="0"/>
                <a:ea typeface="Meiryo" pitchFamily="34" charset="-122"/>
                <a:cs typeface="Meiryo" pitchFamily="34" charset="-120"/>
              </a:rPr>
              <a:t>[8] Tessler, M. H. et al. (2024). AI can help humans find common ground... Science, 386.</a:t>
            </a:r>
            <a:endParaRPr lang="en-US" sz="1200" dirty="0"/>
          </a:p>
          <a:p>
            <a:pPr marL="0" indent="0">
              <a:spcAft>
                <a:spcPts val="700"/>
              </a:spcAft>
              <a:buNone/>
            </a:pPr>
            <a:r>
              <a:rPr lang="en-US" sz="1200" dirty="0">
                <a:solidFill>
                  <a:srgbClr val="383858"/>
                </a:solidFill>
                <a:latin typeface="Meiryo" pitchFamily="34" charset="0"/>
                <a:ea typeface="Meiryo" pitchFamily="34" charset="-122"/>
                <a:cs typeface="Meiryo" pitchFamily="34" charset="-120"/>
              </a:rPr>
              <a:t>[9] Lewis, P. et al. (2020). Retrieval-Augmented Generation... NeurIPS 2020.</a:t>
            </a:r>
            <a:endParaRPr lang="en-US" sz="1200" dirty="0"/>
          </a:p>
          <a:p>
            <a:pPr marL="0" indent="0">
              <a:spcAft>
                <a:spcPts val="700"/>
              </a:spcAft>
              <a:buNone/>
            </a:pPr>
            <a:r>
              <a:rPr lang="en-US" sz="1200" dirty="0">
                <a:solidFill>
                  <a:srgbClr val="383858"/>
                </a:solidFill>
                <a:latin typeface="Meiryo" pitchFamily="34" charset="0"/>
                <a:ea typeface="Meiryo" pitchFamily="34" charset="-122"/>
                <a:cs typeface="Meiryo" pitchFamily="34" charset="-120"/>
              </a:rPr>
              <a:t>[10] Sharma, M. et al. (2024). Towards Understanding Sycophancy in LMs. ICLR 2024.</a:t>
            </a:r>
            <a:endParaRPr lang="en-US" sz="1200" dirty="0"/>
          </a:p>
          <a:p>
            <a:pPr marL="0" indent="0">
              <a:spcAft>
                <a:spcPts val="700"/>
              </a:spcAft>
              <a:buNone/>
            </a:pPr>
            <a:r>
              <a:rPr lang="en-US" sz="1200" dirty="0">
                <a:solidFill>
                  <a:srgbClr val="383858"/>
                </a:solidFill>
                <a:latin typeface="Meiryo" pitchFamily="34" charset="0"/>
                <a:ea typeface="Meiryo" pitchFamily="34" charset="-122"/>
                <a:cs typeface="Meiryo" pitchFamily="34" charset="-120"/>
              </a:rPr>
              <a:t>[11] Du, Y. et al. (2024). Improving Factuality... Multiagent Debate. ICML 2024.</a:t>
            </a:r>
            <a:endParaRPr lang="en-US" sz="1200" dirty="0"/>
          </a:p>
        </p:txBody>
      </p:sp>
      <p:sp>
        <p:nvSpPr>
          <p:cNvPr id="7" name="Text 5"/>
          <p:cNvSpPr/>
          <p:nvPr/>
        </p:nvSpPr>
        <p:spPr>
          <a:xfrm>
            <a:off x="4709160" y="1463040"/>
            <a:ext cx="4023360" cy="3200400"/>
          </a:xfrm>
          <a:prstGeom prst="rect">
            <a:avLst/>
          </a:prstGeom>
          <a:noFill/>
          <a:ln/>
        </p:spPr>
        <p:txBody>
          <a:bodyPr wrap="square" lIns="0" tIns="0" rIns="0" bIns="0" rtlCol="0" anchor="t"/>
          <a:lstStyle/>
          <a:p>
            <a:pPr marL="0" indent="0">
              <a:spcAft>
                <a:spcPts val="700"/>
              </a:spcAft>
              <a:buNone/>
            </a:pPr>
            <a:r>
              <a:rPr lang="en-US" sz="1200" dirty="0">
                <a:solidFill>
                  <a:srgbClr val="383858"/>
                </a:solidFill>
                <a:latin typeface="Meiryo" pitchFamily="34" charset="0"/>
                <a:ea typeface="Meiryo" pitchFamily="34" charset="-122"/>
                <a:cs typeface="Meiryo" pitchFamily="34" charset="-120"/>
              </a:rPr>
              <a:t>[12] Nickerson, R. S. (1998). Confirmation Bias... Review of General Psychology, 2(2).</a:t>
            </a:r>
            <a:endParaRPr lang="en-US" sz="1200" dirty="0"/>
          </a:p>
          <a:p>
            <a:pPr marL="0" indent="0">
              <a:spcAft>
                <a:spcPts val="700"/>
              </a:spcAft>
              <a:buNone/>
            </a:pPr>
            <a:r>
              <a:rPr lang="en-US" sz="1200" dirty="0">
                <a:solidFill>
                  <a:srgbClr val="383858"/>
                </a:solidFill>
                <a:latin typeface="Meiryo" pitchFamily="34" charset="0"/>
                <a:ea typeface="Meiryo" pitchFamily="34" charset="-122"/>
                <a:cs typeface="Meiryo" pitchFamily="34" charset="-120"/>
              </a:rPr>
              <a:t>[13] Sunstein, C. R. (2002). The Law of Group Polarization. J. of Political Philosophy, 10(2).</a:t>
            </a:r>
            <a:endParaRPr lang="en-US" sz="1200" dirty="0"/>
          </a:p>
          <a:p>
            <a:pPr marL="0" indent="0">
              <a:spcAft>
                <a:spcPts val="700"/>
              </a:spcAft>
              <a:buNone/>
            </a:pPr>
            <a:r>
              <a:rPr lang="en-US" sz="1200" dirty="0">
                <a:solidFill>
                  <a:srgbClr val="383858"/>
                </a:solidFill>
                <a:latin typeface="Meiryo" pitchFamily="34" charset="0"/>
                <a:ea typeface="Meiryo" pitchFamily="34" charset="-122"/>
                <a:cs typeface="Meiryo" pitchFamily="34" charset="-120"/>
              </a:rPr>
              <a:t>[14] Mercier, H., &amp; Sperber, D. (2011). Why Do Humans Reason? Behavioral and Brain Sciences, 34(2).</a:t>
            </a:r>
            <a:endParaRPr lang="en-US" sz="1200" dirty="0"/>
          </a:p>
        </p:txBody>
      </p:sp>
    </p:spTree>
    <p:extLst>
      <p:ext uri="{BB962C8B-B14F-4D97-AF65-F5344CB8AC3E}">
        <p14:creationId xmlns:p14="http://schemas.microsoft.com/office/powerpoint/2010/main" val="14149319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37744"/>
            <a:ext cx="8229600" cy="274320"/>
          </a:xfrm>
          <a:prstGeom prst="rect">
            <a:avLst/>
          </a:prstGeom>
          <a:noFill/>
          <a:ln/>
        </p:spPr>
        <p:txBody>
          <a:bodyPr wrap="square" lIns="0" tIns="0" rIns="0" bIns="0" rtlCol="0" anchor="ctr"/>
          <a:lstStyle/>
          <a:p>
            <a:pPr marL="0" indent="0">
              <a:buNone/>
            </a:pPr>
            <a:r>
              <a:rPr lang="en-US" sz="1200" dirty="0">
                <a:solidFill>
                  <a:srgbClr val="285888"/>
                </a:solidFill>
                <a:latin typeface="Meiryo" pitchFamily="34" charset="0"/>
                <a:ea typeface="Meiryo" pitchFamily="34" charset="-122"/>
                <a:cs typeface="Meiryo" pitchFamily="34" charset="-120"/>
              </a:rPr>
              <a:t>6. まとめ</a:t>
            </a:r>
            <a:endParaRPr lang="en-US" sz="1200" dirty="0"/>
          </a:p>
        </p:txBody>
      </p:sp>
      <p:sp>
        <p:nvSpPr>
          <p:cNvPr id="3" name="Text 1"/>
          <p:cNvSpPr/>
          <p:nvPr/>
        </p:nvSpPr>
        <p:spPr>
          <a:xfrm>
            <a:off x="457200" y="493776"/>
            <a:ext cx="8229600" cy="566928"/>
          </a:xfrm>
          <a:prstGeom prst="rect">
            <a:avLst/>
          </a:prstGeom>
          <a:noFill/>
          <a:ln/>
        </p:spPr>
        <p:txBody>
          <a:bodyPr wrap="square" lIns="0" tIns="0" rIns="0" bIns="0" rtlCol="0" anchor="ctr"/>
          <a:lstStyle/>
          <a:p>
            <a:pPr marL="0" indent="0">
              <a:buNone/>
            </a:pPr>
            <a:r>
              <a:rPr lang="en-US" sz="2112" b="1" dirty="0">
                <a:solidFill>
                  <a:srgbClr val="181828"/>
                </a:solidFill>
                <a:latin typeface="Meiryo" pitchFamily="34" charset="0"/>
                <a:ea typeface="Meiryo" pitchFamily="34" charset="-122"/>
                <a:cs typeface="Meiryo" pitchFamily="34" charset="-120"/>
              </a:rPr>
              <a:t>まとめ</a:t>
            </a:r>
            <a:endParaRPr lang="en-US" sz="2112" dirty="0"/>
          </a:p>
        </p:txBody>
      </p:sp>
      <p:sp>
        <p:nvSpPr>
          <p:cNvPr id="4" name="Shape 2"/>
          <p:cNvSpPr/>
          <p:nvPr/>
        </p:nvSpPr>
        <p:spPr>
          <a:xfrm>
            <a:off x="475488" y="1097280"/>
            <a:ext cx="1005840" cy="41148"/>
          </a:xfrm>
          <a:prstGeom prst="rect">
            <a:avLst/>
          </a:prstGeom>
          <a:solidFill>
            <a:srgbClr val="285888"/>
          </a:solidFill>
          <a:ln/>
        </p:spPr>
        <p:txBody>
          <a:bodyPr/>
          <a:lstStyle/>
          <a:p>
            <a:endParaRPr lang="ja-JP" altLang="en-US"/>
          </a:p>
        </p:txBody>
      </p:sp>
      <p:sp>
        <p:nvSpPr>
          <p:cNvPr id="5" name="Shape 3"/>
          <p:cNvSpPr/>
          <p:nvPr/>
        </p:nvSpPr>
        <p:spPr>
          <a:xfrm>
            <a:off x="457200" y="4873752"/>
            <a:ext cx="8229600" cy="27432"/>
          </a:xfrm>
          <a:prstGeom prst="rect">
            <a:avLst/>
          </a:prstGeom>
          <a:solidFill>
            <a:srgbClr val="243F66"/>
          </a:solidFill>
          <a:ln/>
        </p:spPr>
        <p:txBody>
          <a:bodyPr/>
          <a:lstStyle/>
          <a:p>
            <a:endParaRPr lang="ja-JP" altLang="en-US"/>
          </a:p>
        </p:txBody>
      </p:sp>
      <p:sp>
        <p:nvSpPr>
          <p:cNvPr id="6" name="Text 4"/>
          <p:cNvSpPr/>
          <p:nvPr/>
        </p:nvSpPr>
        <p:spPr>
          <a:xfrm>
            <a:off x="457200" y="1508760"/>
            <a:ext cx="8229600" cy="292608"/>
          </a:xfrm>
          <a:prstGeom prst="rect">
            <a:avLst/>
          </a:prstGeom>
          <a:noFill/>
          <a:ln/>
        </p:spPr>
        <p:txBody>
          <a:bodyPr wrap="square" lIns="0" tIns="0" rIns="0" bIns="0" rtlCol="0" anchor="ctr"/>
          <a:lstStyle/>
          <a:p>
            <a:pPr marL="0" indent="0">
              <a:buNone/>
            </a:pPr>
            <a:r>
              <a:rPr lang="en-US" sz="1276" b="1" dirty="0">
                <a:solidFill>
                  <a:srgbClr val="285888"/>
                </a:solidFill>
                <a:latin typeface="Meiryo" pitchFamily="34" charset="0"/>
                <a:ea typeface="Meiryo" pitchFamily="34" charset="-122"/>
                <a:cs typeface="Meiryo" pitchFamily="34" charset="-120"/>
              </a:rPr>
              <a:t>提案</a:t>
            </a:r>
            <a:endParaRPr lang="en-US" sz="1276" dirty="0"/>
          </a:p>
        </p:txBody>
      </p:sp>
      <p:sp>
        <p:nvSpPr>
          <p:cNvPr id="7" name="Text 5"/>
          <p:cNvSpPr/>
          <p:nvPr/>
        </p:nvSpPr>
        <p:spPr>
          <a:xfrm>
            <a:off x="502920" y="1874520"/>
            <a:ext cx="8229600" cy="1005840"/>
          </a:xfrm>
          <a:prstGeom prst="rect">
            <a:avLst/>
          </a:prstGeom>
          <a:noFill/>
          <a:ln/>
        </p:spPr>
        <p:txBody>
          <a:bodyPr wrap="square" lIns="0" tIns="0" rIns="0" bIns="0" rtlCol="0" anchor="t"/>
          <a:lstStyle/>
          <a:p>
            <a:pPr marL="190500" indent="-190500">
              <a:lnSpc>
                <a:spcPct val="112000"/>
              </a:lnSpc>
              <a:spcAft>
                <a:spcPts val="600"/>
              </a:spcAft>
              <a:buSzPct val="100000"/>
              <a:buChar char="•"/>
            </a:pPr>
            <a:r>
              <a:rPr lang="en-US" sz="1200" dirty="0">
                <a:solidFill>
                  <a:srgbClr val="383858"/>
                </a:solidFill>
                <a:latin typeface="Meiryo" pitchFamily="34" charset="0"/>
                <a:ea typeface="Meiryo" pitchFamily="34" charset="-122"/>
                <a:cs typeface="Meiryo" pitchFamily="34" charset="-120"/>
              </a:rPr>
              <a:t>議論ログAFと外部知識AFを支持・攻撃エッジで連結し、5つの専門エージェントが分業で構築・運用</a:t>
            </a:r>
            <a:endParaRPr lang="en-US" sz="1200" dirty="0"/>
          </a:p>
          <a:p>
            <a:pPr marL="190500" indent="-190500">
              <a:lnSpc>
                <a:spcPct val="112000"/>
              </a:lnSpc>
              <a:spcAft>
                <a:spcPts val="600"/>
              </a:spcAft>
              <a:buSzPct val="100000"/>
              <a:buChar char="•"/>
            </a:pPr>
            <a:r>
              <a:rPr lang="en-US" sz="1200" dirty="0">
                <a:solidFill>
                  <a:srgbClr val="383858"/>
                </a:solidFill>
                <a:latin typeface="Meiryo" pitchFamily="34" charset="0"/>
                <a:ea typeface="Meiryo" pitchFamily="34" charset="-122"/>
                <a:cs typeface="Meiryo" pitchFamily="34" charset="-120"/>
              </a:rPr>
              <a:t>グラフは内部表現に留め、情報提示で用途に応じて情報を届ける</a:t>
            </a:r>
            <a:endParaRPr lang="en-US" sz="1200" dirty="0"/>
          </a:p>
        </p:txBody>
      </p:sp>
      <p:sp>
        <p:nvSpPr>
          <p:cNvPr id="8" name="Text 6"/>
          <p:cNvSpPr/>
          <p:nvPr/>
        </p:nvSpPr>
        <p:spPr>
          <a:xfrm>
            <a:off x="457200" y="2926080"/>
            <a:ext cx="8229600" cy="292608"/>
          </a:xfrm>
          <a:prstGeom prst="rect">
            <a:avLst/>
          </a:prstGeom>
          <a:noFill/>
          <a:ln/>
        </p:spPr>
        <p:txBody>
          <a:bodyPr wrap="square" lIns="0" tIns="0" rIns="0" bIns="0" rtlCol="0" anchor="ctr"/>
          <a:lstStyle/>
          <a:p>
            <a:pPr marL="0" indent="0">
              <a:buNone/>
            </a:pPr>
            <a:r>
              <a:rPr lang="en-US" sz="1276" b="1" dirty="0">
                <a:solidFill>
                  <a:srgbClr val="285888"/>
                </a:solidFill>
                <a:latin typeface="Meiryo" pitchFamily="34" charset="0"/>
                <a:ea typeface="Meiryo" pitchFamily="34" charset="-122"/>
                <a:cs typeface="Meiryo" pitchFamily="34" charset="-120"/>
              </a:rPr>
              <a:t>評価</a:t>
            </a:r>
            <a:endParaRPr lang="en-US" sz="1276" dirty="0"/>
          </a:p>
        </p:txBody>
      </p:sp>
      <p:sp>
        <p:nvSpPr>
          <p:cNvPr id="9" name="Text 7"/>
          <p:cNvSpPr/>
          <p:nvPr/>
        </p:nvSpPr>
        <p:spPr>
          <a:xfrm>
            <a:off x="502920" y="3291840"/>
            <a:ext cx="8229600" cy="548640"/>
          </a:xfrm>
          <a:prstGeom prst="rect">
            <a:avLst/>
          </a:prstGeom>
          <a:noFill/>
          <a:ln/>
        </p:spPr>
        <p:txBody>
          <a:bodyPr wrap="square" lIns="0" tIns="0" rIns="0" bIns="0" rtlCol="0" anchor="t"/>
          <a:lstStyle/>
          <a:p>
            <a:pPr marL="190500" indent="-190500">
              <a:lnSpc>
                <a:spcPct val="112000"/>
              </a:lnSpc>
              <a:spcAft>
                <a:spcPts val="600"/>
              </a:spcAft>
              <a:buSzPct val="100000"/>
              <a:buChar char="•"/>
            </a:pPr>
            <a:r>
              <a:rPr lang="en-US" sz="1200" dirty="0">
                <a:solidFill>
                  <a:srgbClr val="383858"/>
                </a:solidFill>
                <a:latin typeface="Meiryo" pitchFamily="34" charset="0"/>
                <a:ea typeface="Meiryo" pitchFamily="34" charset="-122"/>
                <a:cs typeface="Meiryo" pitchFamily="34" charset="-120"/>
              </a:rPr>
              <a:t>シミュレーションと対面実験で、議論の質・反対意見理解・介入透明性を検証</a:t>
            </a:r>
            <a:endParaRPr lang="en-US" sz="1200" dirty="0"/>
          </a:p>
        </p:txBody>
      </p:sp>
      <p:sp>
        <p:nvSpPr>
          <p:cNvPr id="10" name="Text 8"/>
          <p:cNvSpPr/>
          <p:nvPr/>
        </p:nvSpPr>
        <p:spPr>
          <a:xfrm>
            <a:off x="457200" y="3886200"/>
            <a:ext cx="8229600" cy="292608"/>
          </a:xfrm>
          <a:prstGeom prst="rect">
            <a:avLst/>
          </a:prstGeom>
          <a:noFill/>
          <a:ln/>
        </p:spPr>
        <p:txBody>
          <a:bodyPr wrap="square" lIns="0" tIns="0" rIns="0" bIns="0" rtlCol="0" anchor="ctr"/>
          <a:lstStyle/>
          <a:p>
            <a:pPr marL="0" indent="0">
              <a:buNone/>
            </a:pPr>
            <a:r>
              <a:rPr lang="en-US" sz="1276" b="1" dirty="0">
                <a:solidFill>
                  <a:srgbClr val="285888"/>
                </a:solidFill>
                <a:latin typeface="Meiryo" pitchFamily="34" charset="0"/>
                <a:ea typeface="Meiryo" pitchFamily="34" charset="-122"/>
                <a:cs typeface="Meiryo" pitchFamily="34" charset="-120"/>
              </a:rPr>
              <a:t>今後の進め方</a:t>
            </a:r>
            <a:endParaRPr lang="en-US" sz="1276" dirty="0"/>
          </a:p>
        </p:txBody>
      </p:sp>
      <p:sp>
        <p:nvSpPr>
          <p:cNvPr id="11" name="Text 9"/>
          <p:cNvSpPr/>
          <p:nvPr/>
        </p:nvSpPr>
        <p:spPr>
          <a:xfrm>
            <a:off x="502920" y="4251960"/>
            <a:ext cx="8229600" cy="731520"/>
          </a:xfrm>
          <a:prstGeom prst="rect">
            <a:avLst/>
          </a:prstGeom>
          <a:noFill/>
          <a:ln/>
        </p:spPr>
        <p:txBody>
          <a:bodyPr wrap="square" lIns="0" tIns="0" rIns="0" bIns="0" rtlCol="0" anchor="t"/>
          <a:lstStyle/>
          <a:p>
            <a:pPr marL="190500" indent="-190500">
              <a:lnSpc>
                <a:spcPct val="112000"/>
              </a:lnSpc>
              <a:spcAft>
                <a:spcPts val="600"/>
              </a:spcAft>
              <a:buSzPct val="100000"/>
              <a:buChar char="•"/>
            </a:pPr>
            <a:r>
              <a:rPr lang="en-US" sz="1200" dirty="0">
                <a:solidFill>
                  <a:srgbClr val="383858"/>
                </a:solidFill>
                <a:latin typeface="Meiryo" pitchFamily="34" charset="0"/>
                <a:ea typeface="Meiryo" pitchFamily="34" charset="-122"/>
                <a:cs typeface="Meiryo" pitchFamily="34" charset="-120"/>
              </a:rPr>
              <a:t>① 論証抽出/連結エージェントの実装</a:t>
            </a:r>
            <a:endParaRPr lang="en-US" sz="1200" dirty="0"/>
          </a:p>
          <a:p>
            <a:pPr marL="190500" indent="-190500">
              <a:lnSpc>
                <a:spcPct val="112000"/>
              </a:lnSpc>
              <a:spcAft>
                <a:spcPts val="600"/>
              </a:spcAft>
              <a:buSzPct val="100000"/>
              <a:buChar char="•"/>
            </a:pPr>
            <a:r>
              <a:rPr lang="en-US" sz="1200" dirty="0">
                <a:solidFill>
                  <a:srgbClr val="383858"/>
                </a:solidFill>
                <a:latin typeface="Meiryo" pitchFamily="34" charset="0"/>
                <a:ea typeface="Meiryo" pitchFamily="34" charset="-122"/>
                <a:cs typeface="Meiryo" pitchFamily="34" charset="-120"/>
              </a:rPr>
              <a:t>② デバイスと接続し動作を進める</a:t>
            </a:r>
            <a:endParaRPr lang="en-US" sz="1200" dirty="0"/>
          </a:p>
        </p:txBody>
      </p:sp>
    </p:spTree>
    <p:extLst>
      <p:ext uri="{BB962C8B-B14F-4D97-AF65-F5344CB8AC3E}">
        <p14:creationId xmlns:p14="http://schemas.microsoft.com/office/powerpoint/2010/main" val="24924101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37744"/>
            <a:ext cx="8229600" cy="274320"/>
          </a:xfrm>
          <a:prstGeom prst="rect">
            <a:avLst/>
          </a:prstGeom>
          <a:noFill/>
          <a:ln/>
        </p:spPr>
        <p:txBody>
          <a:bodyPr wrap="square" lIns="0" tIns="0" rIns="0" bIns="0" rtlCol="0" anchor="ctr"/>
          <a:lstStyle/>
          <a:p>
            <a:pPr marL="0" indent="0">
              <a:buNone/>
            </a:pPr>
            <a:r>
              <a:rPr lang="en-US" sz="1200" dirty="0">
                <a:solidFill>
                  <a:srgbClr val="285888"/>
                </a:solidFill>
                <a:latin typeface="Meiryo" pitchFamily="34" charset="0"/>
                <a:ea typeface="Meiryo" pitchFamily="34" charset="-122"/>
                <a:cs typeface="Meiryo" pitchFamily="34" charset="-120"/>
              </a:rPr>
              <a:t>1. 背景と課題</a:t>
            </a:r>
            <a:endParaRPr lang="en-US" sz="1200" dirty="0"/>
          </a:p>
        </p:txBody>
      </p:sp>
      <p:sp>
        <p:nvSpPr>
          <p:cNvPr id="3" name="Text 1"/>
          <p:cNvSpPr/>
          <p:nvPr/>
        </p:nvSpPr>
        <p:spPr>
          <a:xfrm>
            <a:off x="457200" y="493776"/>
            <a:ext cx="8229600" cy="566928"/>
          </a:xfrm>
          <a:prstGeom prst="rect">
            <a:avLst/>
          </a:prstGeom>
          <a:noFill/>
          <a:ln/>
        </p:spPr>
        <p:txBody>
          <a:bodyPr wrap="square" lIns="0" tIns="0" rIns="0" bIns="0" rtlCol="0" anchor="ctr"/>
          <a:lstStyle/>
          <a:p>
            <a:pPr marL="0" indent="0">
              <a:buNone/>
            </a:pPr>
            <a:r>
              <a:rPr lang="en-US" sz="2112" b="1" dirty="0">
                <a:solidFill>
                  <a:srgbClr val="181828"/>
                </a:solidFill>
                <a:latin typeface="Meiryo" pitchFamily="34" charset="0"/>
                <a:ea typeface="Meiryo" pitchFamily="34" charset="-122"/>
                <a:cs typeface="Meiryo" pitchFamily="34" charset="-120"/>
              </a:rPr>
              <a:t>関連研究（続き）</a:t>
            </a:r>
            <a:endParaRPr lang="en-US" sz="2112" dirty="0"/>
          </a:p>
        </p:txBody>
      </p:sp>
      <p:sp>
        <p:nvSpPr>
          <p:cNvPr id="4" name="Shape 2"/>
          <p:cNvSpPr/>
          <p:nvPr/>
        </p:nvSpPr>
        <p:spPr>
          <a:xfrm>
            <a:off x="475488" y="1097280"/>
            <a:ext cx="1005840" cy="41148"/>
          </a:xfrm>
          <a:prstGeom prst="rect">
            <a:avLst/>
          </a:prstGeom>
          <a:solidFill>
            <a:srgbClr val="285888"/>
          </a:solidFill>
          <a:ln/>
        </p:spPr>
        <p:txBody>
          <a:bodyPr/>
          <a:lstStyle/>
          <a:p>
            <a:endParaRPr lang="ja-JP" altLang="en-US"/>
          </a:p>
        </p:txBody>
      </p:sp>
      <p:sp>
        <p:nvSpPr>
          <p:cNvPr id="5" name="Shape 3"/>
          <p:cNvSpPr/>
          <p:nvPr/>
        </p:nvSpPr>
        <p:spPr>
          <a:xfrm>
            <a:off x="457200" y="4873752"/>
            <a:ext cx="8229600" cy="27432"/>
          </a:xfrm>
          <a:prstGeom prst="rect">
            <a:avLst/>
          </a:prstGeom>
          <a:solidFill>
            <a:srgbClr val="243F66"/>
          </a:solidFill>
          <a:ln/>
        </p:spPr>
        <p:txBody>
          <a:bodyPr/>
          <a:lstStyle/>
          <a:p>
            <a:endParaRPr lang="ja-JP" altLang="en-US"/>
          </a:p>
        </p:txBody>
      </p:sp>
      <p:sp>
        <p:nvSpPr>
          <p:cNvPr id="6" name="Text 4"/>
          <p:cNvSpPr/>
          <p:nvPr/>
        </p:nvSpPr>
        <p:spPr>
          <a:xfrm>
            <a:off x="457200" y="1463040"/>
            <a:ext cx="8229600" cy="292608"/>
          </a:xfrm>
          <a:prstGeom prst="rect">
            <a:avLst/>
          </a:prstGeom>
          <a:noFill/>
          <a:ln/>
        </p:spPr>
        <p:txBody>
          <a:bodyPr wrap="square" lIns="0" tIns="0" rIns="0" bIns="0" rtlCol="0" anchor="ctr"/>
          <a:lstStyle/>
          <a:p>
            <a:pPr marL="0" indent="0">
              <a:buNone/>
            </a:pPr>
            <a:r>
              <a:rPr lang="en-US" sz="1276" b="1" dirty="0">
                <a:solidFill>
                  <a:srgbClr val="285888"/>
                </a:solidFill>
                <a:latin typeface="Meiryo" pitchFamily="34" charset="0"/>
                <a:ea typeface="Meiryo" pitchFamily="34" charset="-122"/>
                <a:cs typeface="Meiryo" pitchFamily="34" charset="-120"/>
              </a:rPr>
              <a:t>❸ Habermas Machine（Tessler et al., 2024 — Science / DeepMind）</a:t>
            </a:r>
            <a:endParaRPr lang="en-US" sz="1276" dirty="0"/>
          </a:p>
        </p:txBody>
      </p:sp>
      <p:sp>
        <p:nvSpPr>
          <p:cNvPr id="7" name="Text 5"/>
          <p:cNvSpPr/>
          <p:nvPr/>
        </p:nvSpPr>
        <p:spPr>
          <a:xfrm>
            <a:off x="502920" y="1847088"/>
            <a:ext cx="8229600" cy="1005840"/>
          </a:xfrm>
          <a:prstGeom prst="rect">
            <a:avLst/>
          </a:prstGeom>
          <a:noFill/>
          <a:ln/>
        </p:spPr>
        <p:txBody>
          <a:bodyPr wrap="square" lIns="0" tIns="0" rIns="0" bIns="0" rtlCol="0" anchor="t"/>
          <a:lstStyle/>
          <a:p>
            <a:pPr marL="190500" indent="-190500">
              <a:lnSpc>
                <a:spcPct val="112000"/>
              </a:lnSpc>
              <a:spcAft>
                <a:spcPts val="600"/>
              </a:spcAft>
              <a:buSzPct val="100000"/>
              <a:buChar char="•"/>
            </a:pPr>
            <a:r>
              <a:rPr lang="en-US" sz="1200" dirty="0">
                <a:solidFill>
                  <a:srgbClr val="383858"/>
                </a:solidFill>
                <a:latin typeface="Meiryo" pitchFamily="34" charset="0"/>
                <a:ea typeface="Meiryo" pitchFamily="34" charset="-122"/>
                <a:cs typeface="Meiryo" pitchFamily="34" charset="-120"/>
              </a:rPr>
              <a:t>LLM「調停者」が集団の意見を集約して合意文を反復生成し、人間の調停者を上回る共通基盤を提示</a:t>
            </a:r>
            <a:endParaRPr lang="en-US" sz="1200" dirty="0"/>
          </a:p>
          <a:p>
            <a:pPr marL="190500" indent="-190500">
              <a:lnSpc>
                <a:spcPct val="112000"/>
              </a:lnSpc>
              <a:spcAft>
                <a:spcPts val="600"/>
              </a:spcAft>
              <a:buSzPct val="100000"/>
              <a:buChar char="•"/>
            </a:pPr>
            <a:r>
              <a:rPr lang="en-US" sz="1200" dirty="0">
                <a:solidFill>
                  <a:srgbClr val="383858"/>
                </a:solidFill>
                <a:latin typeface="Meiryo" pitchFamily="34" charset="0"/>
                <a:ea typeface="Meiryo" pitchFamily="34" charset="-122"/>
                <a:cs typeface="Meiryo" pitchFamily="34" charset="-120"/>
              </a:rPr>
              <a:t>ただし出力は合意文であり、論証グラフ・外部知識の融合・支持／攻撃構造は持たない（本研究が狙う空白）</a:t>
            </a:r>
            <a:endParaRPr lang="en-US" sz="1200" dirty="0"/>
          </a:p>
        </p:txBody>
      </p:sp>
      <p:sp>
        <p:nvSpPr>
          <p:cNvPr id="8" name="Text 6"/>
          <p:cNvSpPr/>
          <p:nvPr/>
        </p:nvSpPr>
        <p:spPr>
          <a:xfrm>
            <a:off x="457200" y="3017520"/>
            <a:ext cx="8229600" cy="292608"/>
          </a:xfrm>
          <a:prstGeom prst="rect">
            <a:avLst/>
          </a:prstGeom>
          <a:noFill/>
          <a:ln/>
        </p:spPr>
        <p:txBody>
          <a:bodyPr wrap="square" lIns="0" tIns="0" rIns="0" bIns="0" rtlCol="0" anchor="ctr"/>
          <a:lstStyle/>
          <a:p>
            <a:pPr marL="0" indent="0">
              <a:buNone/>
            </a:pPr>
            <a:r>
              <a:rPr lang="en-US" sz="1276" b="1" dirty="0">
                <a:solidFill>
                  <a:srgbClr val="285888"/>
                </a:solidFill>
                <a:latin typeface="Meiryo" pitchFamily="34" charset="0"/>
                <a:ea typeface="Meiryo" pitchFamily="34" charset="-122"/>
                <a:cs typeface="Meiryo" pitchFamily="34" charset="-120"/>
              </a:rPr>
              <a:t>❹ 自動ファシリテーションエージェント（伊藤研：D-Agree, 2020 ／ Dong, Ito, 2024）</a:t>
            </a:r>
            <a:endParaRPr lang="en-US" sz="1276" dirty="0"/>
          </a:p>
        </p:txBody>
      </p:sp>
      <p:sp>
        <p:nvSpPr>
          <p:cNvPr id="9" name="Text 7"/>
          <p:cNvSpPr/>
          <p:nvPr/>
        </p:nvSpPr>
        <p:spPr>
          <a:xfrm>
            <a:off x="502920" y="3401568"/>
            <a:ext cx="8229600" cy="1097280"/>
          </a:xfrm>
          <a:prstGeom prst="rect">
            <a:avLst/>
          </a:prstGeom>
          <a:noFill/>
          <a:ln/>
        </p:spPr>
        <p:txBody>
          <a:bodyPr wrap="square" lIns="0" tIns="0" rIns="0" bIns="0" rtlCol="0" anchor="t"/>
          <a:lstStyle/>
          <a:p>
            <a:pPr marL="190500" indent="-190500">
              <a:lnSpc>
                <a:spcPct val="112000"/>
              </a:lnSpc>
              <a:spcAft>
                <a:spcPts val="600"/>
              </a:spcAft>
              <a:buSzPct val="100000"/>
              <a:buChar char="•"/>
            </a:pPr>
            <a:r>
              <a:rPr lang="en-US" sz="1200" dirty="0">
                <a:solidFill>
                  <a:srgbClr val="383858"/>
                </a:solidFill>
                <a:latin typeface="Meiryo" pitchFamily="34" charset="0"/>
                <a:ea typeface="Meiryo" pitchFamily="34" charset="-122"/>
                <a:cs typeface="Meiryo" pitchFamily="34" charset="-120"/>
              </a:rPr>
              <a:t>議論構造(IBIS)を抽出し対象を絞った介入を生成。近年は LLM で多段階の自然な介入へ発展（系譜の母体）</a:t>
            </a:r>
            <a:endParaRPr lang="en-US" sz="1200" dirty="0"/>
          </a:p>
          <a:p>
            <a:pPr marL="190500" indent="-190500">
              <a:lnSpc>
                <a:spcPct val="112000"/>
              </a:lnSpc>
              <a:spcAft>
                <a:spcPts val="600"/>
              </a:spcAft>
              <a:buSzPct val="100000"/>
              <a:buChar char="•"/>
            </a:pPr>
            <a:r>
              <a:rPr lang="en-US" sz="1200" dirty="0">
                <a:solidFill>
                  <a:srgbClr val="383858"/>
                </a:solidFill>
                <a:latin typeface="Meiryo" pitchFamily="34" charset="0"/>
                <a:ea typeface="Meiryo" pitchFamily="34" charset="-122"/>
                <a:cs typeface="Meiryo" pitchFamily="34" charset="-120"/>
              </a:rPr>
              <a:t>本研究の直接の母体・主要ベースライン。外部知識との論証連結や統合 AF グラフは未対応</a:t>
            </a:r>
            <a:endParaRPr lang="en-US" sz="1200" dirty="0"/>
          </a:p>
        </p:txBody>
      </p:sp>
    </p:spTree>
    <p:extLst>
      <p:ext uri="{BB962C8B-B14F-4D97-AF65-F5344CB8AC3E}">
        <p14:creationId xmlns:p14="http://schemas.microsoft.com/office/powerpoint/2010/main" val="142176544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625F3025-B939-D44F-A8F9-D9D5DD87F180}">
  <we:reference id="WA200010001" version="1.0.0.1" store="Omex" storeType="OMEX"/>
  <we:alternateReferences>
    <we:reference id="WA200010001" version="1.0.0.1" store="WA200010001" storeType="OMEX"/>
  </we:alternateReferences>
  <we:properties>
    <we:property name="claude.fileId" value="&quot;dd1a3c3e-7ec7-4ff6-b78d-7ba2635bd2f6&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25</TotalTime>
  <Words>1099</Words>
  <Application>Microsoft Macintosh PowerPoint</Application>
  <PresentationFormat>画面に合わせる (16:9)</PresentationFormat>
  <Paragraphs>197</Paragraphs>
  <Slides>16</Slides>
  <Notes>15</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16</vt:i4>
      </vt:variant>
    </vt:vector>
  </HeadingPairs>
  <TitlesOfParts>
    <vt:vector size="19" baseType="lpstr">
      <vt:lpstr>Meiryo</vt:lpstr>
      <vt:lpstr>Arial</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マルチエージェントによる議論グラフ統合型 議論支援</dc:title>
  <dc:subject>PptxGenJS Presentation</dc:subject>
  <dc:creator>松井 玲</dc:creator>
  <cp:lastModifiedBy>matsui.rei.75r@st.kyoto-u.ac.jp</cp:lastModifiedBy>
  <cp:revision>3</cp:revision>
  <dcterms:created xsi:type="dcterms:W3CDTF">2026-05-31T08:32:24Z</dcterms:created>
  <dcterms:modified xsi:type="dcterms:W3CDTF">2026-05-31T09:00:02Z</dcterms:modified>
</cp:coreProperties>
</file>
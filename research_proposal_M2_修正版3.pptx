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400" r:id="rId2"/>
    <p:sldId id="401" r:id="rId3"/>
    <p:sldId id="402" r:id="rId4"/>
    <p:sldId id="403" r:id="rId5"/>
    <p:sldId id="404" r:id="rId6"/>
    <p:sldId id="436" r:id="rId7"/>
    <p:sldId id="442" r:id="rId8"/>
    <p:sldId id="407" r:id="rId9"/>
    <p:sldId id="430" r:id="rId10"/>
    <p:sldId id="453" r:id="rId11"/>
    <p:sldId id="458" r:id="rId28"/>
    <p:sldId id="459" r:id="rId29"/>
    <p:sldId id="450" r:id="rId13"/>
    <p:sldId id="455" r:id="rId15"/>
    <p:sldId id="439" r:id="rId16"/>
    <p:sldId id="444" r:id="rId17"/>
    <p:sldId id="456" r:id="rId18"/>
    <p:sldId id="433" r:id="rId19"/>
    <p:sldId id="457" r:id="rId20"/>
    <p:sldId id="421" r:id="rId21"/>
    <p:sldId id="422"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574"/>
    <p:restoredTop sz="94610"/>
  </p:normalViewPr>
  <p:slideViewPr>
    <p:cSldViewPr snapToGrid="0" snapToObjects="1">
      <p:cViewPr>
        <p:scale>
          <a:sx n="147" d="100"/>
          <a:sy n="147" d="100"/>
        </p:scale>
        <p:origin x="592" y="1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1206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1B1CC53-7FD9-2045-B8A2-372168EF2E75}"/>
              </a:ext>
            </a:extLst>
          </p:cNvPr>
          <p:cNvSpPr txBox="1"/>
          <p:nvPr/>
        </p:nvSpPr>
        <p:spPr>
          <a:xfrm>
            <a:off x="762000" y="1619250"/>
            <a:ext cx="7620000" cy="830997"/>
          </a:xfrm>
          <a:prstGeom prst="rect">
            <a:avLst/>
          </a:prstGeom>
          <a:noFill/>
        </p:spPr>
        <p:txBody>
          <a:bodyPr vertOverflow="overflow" vert="horz" wrap="square" rtlCol="0" anchor="t">
            <a:spAutoFit/>
          </a:bodyPr>
          <a:lstStyle/>
          <a:p>
            <a:pPr algn="l"/>
            <a:r>
              <a:rPr lang="ja-JP" altLang="en-US" sz="2400" b="1">
                <a:solidFill>
                  <a:srgbClr val="1A1A2E"/>
                </a:solidFill>
              </a:rPr>
              <a:t>マルチエージェントによる
議論グラフを活用した議論支援</a:t>
            </a:r>
          </a:p>
        </p:txBody>
      </p:sp>
      <p:sp>
        <p:nvSpPr>
          <p:cNvPr id="3" name="テキスト ボックス 2">
            <a:extLst>
              <a:ext uri="{FF2B5EF4-FFF2-40B4-BE49-F238E27FC236}">
                <a16:creationId xmlns:a16="http://schemas.microsoft.com/office/drawing/2014/main" id="{A5E8AABE-9780-9C46-B3A1-582DDDC23C72}"/>
              </a:ext>
            </a:extLst>
          </p:cNvPr>
          <p:cNvSpPr txBox="1"/>
          <p:nvPr/>
        </p:nvSpPr>
        <p:spPr>
          <a:xfrm>
            <a:off x="762000" y="3048001"/>
            <a:ext cx="7620000" cy="276999"/>
          </a:xfrm>
          <a:prstGeom prst="rect">
            <a:avLst/>
          </a:prstGeom>
          <a:noFill/>
        </p:spPr>
        <p:txBody>
          <a:bodyPr vertOverflow="overflow" vert="horz" wrap="square" rtlCol="0" anchor="t">
            <a:spAutoFit/>
          </a:bodyPr>
          <a:lstStyle/>
          <a:p>
            <a:pPr algn="l"/>
            <a:r>
              <a:rPr lang="en" altLang="ja-JP" sz="1200">
                <a:solidFill>
                  <a:srgbClr val="2C5F8A"/>
                </a:solidFill>
              </a:rPr>
              <a:t>Argumentation-Graph–Integrated Multi-Agent Discussion Support</a:t>
            </a:r>
            <a:endParaRPr lang="ja-JP" altLang="en-US" sz="1200">
              <a:solidFill>
                <a:srgbClr val="2C5F8A"/>
              </a:solidFill>
            </a:endParaRPr>
          </a:p>
        </p:txBody>
      </p:sp>
      <p:sp>
        <p:nvSpPr>
          <p:cNvPr id="4" name="テキスト ボックス 3">
            <a:extLst>
              <a:ext uri="{FF2B5EF4-FFF2-40B4-BE49-F238E27FC236}">
                <a16:creationId xmlns:a16="http://schemas.microsoft.com/office/drawing/2014/main" id="{51085411-4C7E-C048-9BD9-44AD2623582C}"/>
              </a:ext>
            </a:extLst>
          </p:cNvPr>
          <p:cNvSpPr txBox="1"/>
          <p:nvPr/>
        </p:nvSpPr>
        <p:spPr>
          <a:xfrm>
            <a:off x="762000" y="3619500"/>
            <a:ext cx="7620000" cy="253916"/>
          </a:xfrm>
          <a:prstGeom prst="rect">
            <a:avLst/>
          </a:prstGeom>
          <a:noFill/>
        </p:spPr>
        <p:txBody>
          <a:bodyPr vertOverflow="overflow" vert="horz" wrap="square" rtlCol="0" anchor="t">
            <a:spAutoFit/>
          </a:bodyPr>
          <a:lstStyle/>
          <a:p>
            <a:pPr algn="l"/>
            <a:r>
              <a:rPr lang="ja-JP" altLang="en-US" sz="1050">
                <a:solidFill>
                  <a:srgbClr val="3D3D5C"/>
                </a:solidFill>
              </a:rPr>
              <a:t>松井</a:t>
            </a:r>
            <a:r>
              <a:rPr lang="en-US" altLang="ja-JP" sz="1050" dirty="0">
                <a:solidFill>
                  <a:srgbClr val="3D3D5C"/>
                </a:solidFill>
              </a:rPr>
              <a:t> </a:t>
            </a:r>
            <a:r>
              <a:rPr lang="ja-JP" altLang="en-US" sz="1050">
                <a:solidFill>
                  <a:srgbClr val="3D3D5C"/>
                </a:solidFill>
              </a:rPr>
              <a:t>玲</a:t>
            </a:r>
            <a:r>
              <a:rPr lang="en" altLang="ja-JP" sz="1050" dirty="0">
                <a:solidFill>
                  <a:srgbClr val="3D3D5C"/>
                </a:solidFill>
              </a:rPr>
              <a:t> </a:t>
            </a:r>
            <a:r>
              <a:rPr lang="ja-JP" altLang="en" sz="1050">
                <a:solidFill>
                  <a:srgbClr val="3D3D5C"/>
                </a:solidFill>
              </a:rPr>
              <a:t>／ </a:t>
            </a:r>
            <a:r>
              <a:rPr lang="ja-JP" altLang="en-US" sz="1050">
                <a:solidFill>
                  <a:srgbClr val="3D3D5C"/>
                </a:solidFill>
              </a:rPr>
              <a:t>伊藤研究室 ／ </a:t>
            </a:r>
            <a:r>
              <a:rPr lang="en-US" altLang="ja-JP" sz="1050" dirty="0">
                <a:solidFill>
                  <a:srgbClr val="3D3D5C"/>
                </a:solidFill>
              </a:rPr>
              <a:t>2026</a:t>
            </a:r>
            <a:r>
              <a:rPr lang="ja-JP" altLang="en-US" sz="1050">
                <a:solidFill>
                  <a:srgbClr val="3D3D5C"/>
                </a:solidFill>
              </a:rPr>
              <a:t>年</a:t>
            </a:r>
            <a:r>
              <a:rPr lang="en-US" altLang="ja-JP" sz="1050" dirty="0">
                <a:solidFill>
                  <a:srgbClr val="3D3D5C"/>
                </a:solidFill>
              </a:rPr>
              <a:t>4</a:t>
            </a:r>
            <a:r>
              <a:rPr lang="ja-JP" altLang="en-US" sz="1050">
                <a:solidFill>
                  <a:srgbClr val="3D3D5C"/>
                </a:solidFill>
              </a:rPr>
              <a:t>月</a:t>
            </a:r>
            <a:r>
              <a:rPr lang="en-US" altLang="ja-JP" sz="1050" dirty="0">
                <a:solidFill>
                  <a:srgbClr val="3D3D5C"/>
                </a:solidFill>
              </a:rPr>
              <a:t>26</a:t>
            </a:r>
            <a:r>
              <a:rPr lang="ja-JP" altLang="en-US" sz="1050">
                <a:solidFill>
                  <a:srgbClr val="3D3D5C"/>
                </a:solidFill>
              </a:rPr>
              <a:t>日</a:t>
            </a:r>
          </a:p>
        </p:txBody>
      </p:sp>
      <p:sp>
        <p:nvSpPr>
          <p:cNvPr id="5" name="正方形/長方形 4">
            <a:extLst>
              <a:ext uri="{FF2B5EF4-FFF2-40B4-BE49-F238E27FC236}">
                <a16:creationId xmlns:a16="http://schemas.microsoft.com/office/drawing/2014/main" id="{509E98D5-E499-644F-9FC6-6D4C85F8ED8B}"/>
              </a:ext>
            </a:extLst>
          </p:cNvPr>
          <p:cNvSpPr/>
          <p:nvPr/>
        </p:nvSpPr>
        <p:spPr>
          <a:xfrm>
            <a:off x="762000" y="2905125"/>
            <a:ext cx="1905000" cy="28575"/>
          </a:xfrm>
          <a:prstGeom prst="rect">
            <a:avLst/>
          </a:prstGeom>
          <a:solidFill>
            <a:srgbClr val="2C5F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350"/>
          </a:p>
        </p:txBody>
      </p:sp>
    </p:spTree>
    <p:extLst>
      <p:ext uri="{BB962C8B-B14F-4D97-AF65-F5344CB8AC3E}">
        <p14:creationId xmlns:p14="http://schemas.microsoft.com/office/powerpoint/2010/main" val="2948395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0. 目次</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目次</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7" name="Text 5"/>
          <p:cNvSpPr/>
          <p:nvPr/>
        </p:nvSpPr>
        <p:spPr>
          <a:xfrm>
            <a:off x="502920" y="1520190"/>
            <a:ext cx="3931920" cy="27432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背景と課題</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目的とリサーチクエスチョン</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提案手法</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現在の進捗</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評価計画</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まとめ</a:t>
            </a:r>
            <a:endParaRPr lang="en-US" sz="1200" dirty="0"/>
          </a:p>
        </p:txBody>
      </p:sp>
    </p:spTree>
    <p:extLst>
      <p:ext uri="{BB962C8B-B14F-4D97-AF65-F5344CB8AC3E}">
        <p14:creationId xmlns:p14="http://schemas.microsoft.com/office/powerpoint/2010/main" val="100995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err="1">
                <a:solidFill>
                  <a:srgbClr val="181828"/>
                </a:solidFill>
                <a:latin typeface="Meiryo" pitchFamily="34" charset="0"/>
                <a:ea typeface="Meiryo" pitchFamily="34" charset="-122"/>
                <a:cs typeface="Meiryo" pitchFamily="34" charset="-120"/>
              </a:rPr>
              <a:t>背景：議論における論証構造</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1732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議論における論証構造の追跡</a:t>
            </a:r>
            <a:endParaRPr lang="en-US" sz="1276" dirty="0"/>
          </a:p>
        </p:txBody>
      </p:sp>
      <p:sp>
        <p:nvSpPr>
          <p:cNvPr id="7" name="Text 5"/>
          <p:cNvSpPr/>
          <p:nvPr/>
        </p:nvSpPr>
        <p:spPr>
          <a:xfrm>
            <a:off x="502920" y="1810512"/>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主張の妥当性は、根拠・反論の関係の中で決まる</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参加人数・情報量や発言量が増えると、この論証の全体像を把握することが困難となる</a:t>
            </a:r>
            <a:endParaRPr lang="en-US" sz="1200" dirty="0"/>
          </a:p>
        </p:txBody>
      </p:sp>
      <p:sp>
        <p:nvSpPr>
          <p:cNvPr id="8" name="Text 6"/>
          <p:cNvSpPr/>
          <p:nvPr/>
        </p:nvSpPr>
        <p:spPr>
          <a:xfrm>
            <a:off x="457200" y="29718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LLM の登場</a:t>
            </a:r>
            <a:endParaRPr lang="en-US" sz="1276" dirty="0"/>
          </a:p>
        </p:txBody>
      </p:sp>
      <p:sp>
        <p:nvSpPr>
          <p:cNvPr id="9" name="Text 7"/>
          <p:cNvSpPr/>
          <p:nvPr/>
        </p:nvSpPr>
        <p:spPr>
          <a:xfrm>
            <a:off x="502920" y="3364992"/>
            <a:ext cx="8229600" cy="13716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推論能力を持つ大規模言語モデル(LLM)が近年急速に進化している</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議論内容の論証構造への整理、外部知識のRAG、ファシリテーション的介入の生成が可能に</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これらを活用した議論支援システムが研究されている</a:t>
            </a:r>
            <a:endParaRPr lang="en-US" sz="1200" dirty="0"/>
          </a:p>
        </p:txBody>
      </p:sp>
    </p:spTree>
    <p:extLst>
      <p:ext uri="{BB962C8B-B14F-4D97-AF65-F5344CB8AC3E}">
        <p14:creationId xmlns:p14="http://schemas.microsoft.com/office/powerpoint/2010/main" val="2129423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関連研究</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❶ PTFA（Gu et al., 2025 — PRICAI）</a:t>
            </a:r>
            <a:endParaRPr lang="en-US" sz="1276" dirty="0"/>
          </a:p>
        </p:txBody>
      </p:sp>
      <p:sp>
        <p:nvSpPr>
          <p:cNvPr id="7" name="Text 5"/>
          <p:cNvSpPr/>
          <p:nvPr/>
        </p:nvSpPr>
        <p:spPr>
          <a:xfrm>
            <a:off x="502920" y="1847088"/>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Six Thinking Hatsの6役割をLLMが並行して担い、オンラインテキスト議論の合意形成を自動ファシリテート</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16グループ・48人のパイロットスタディでアイデア生成・感情探索・議論品質分析の能力を実証</a:t>
            </a:r>
            <a:endParaRPr lang="en-US" sz="1200" dirty="0"/>
          </a:p>
        </p:txBody>
      </p:sp>
      <p:sp>
        <p:nvSpPr>
          <p:cNvPr id="8" name="Text 6"/>
          <p:cNvSpPr/>
          <p:nvPr/>
        </p:nvSpPr>
        <p:spPr>
          <a:xfrm>
            <a:off x="457200" y="301752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❷ The Empty Chair（Fulay &amp; Roy, 2025 — MIT）</a:t>
            </a:r>
            <a:endParaRPr lang="en-US" sz="1276" dirty="0"/>
          </a:p>
        </p:txBody>
      </p:sp>
      <p:sp>
        <p:nvSpPr>
          <p:cNvPr id="9" name="Text 7"/>
          <p:cNvSpPr/>
          <p:nvPr/>
        </p:nvSpPr>
        <p:spPr>
          <a:xfrm>
            <a:off x="502920" y="3401568"/>
            <a:ext cx="8229600" cy="109728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対面の市民集会をリアルタイム音声認識し、不在のステークホルダーの視点をLLMペルソナで補完する議論支援ツール</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19人の学生Citizens' Assembly（キャンパスの持続可能性）で実験、新たな議論の喚起と未考慮の視点発見に貢献</a:t>
            </a:r>
            <a:endParaRPr lang="en-US" sz="1200" dirty="0"/>
          </a:p>
        </p:txBody>
      </p:sp>
    </p:spTree>
    <p:extLst>
      <p:ext uri="{BB962C8B-B14F-4D97-AF65-F5344CB8AC3E}">
        <p14:creationId xmlns:p14="http://schemas.microsoft.com/office/powerpoint/2010/main" val="1421765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関連研究（続き）</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❸ Habermas Machine（Tessler et al., 2024 — Science / DeepMind）</a:t>
            </a:r>
            <a:endParaRPr lang="en-US" sz="1276" dirty="0"/>
          </a:p>
        </p:txBody>
      </p:sp>
      <p:sp>
        <p:nvSpPr>
          <p:cNvPr id="7" name="Text 5"/>
          <p:cNvSpPr/>
          <p:nvPr/>
        </p:nvSpPr>
        <p:spPr>
          <a:xfrm>
            <a:off x="502920" y="1847088"/>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LLM「調停者」が集団の意見を集約して合意文を反復生成し、人間の調停者を上回る共通基盤を提示</a:t>
            </a:r>
            <a:endParaRPr lang="en-US" sz="1200" dirty="0"/>
          </a:p>
          <a:p>
            <a:pPr marL="190500" indent="-190500">
              <a:lnSpc>
                <a:spcPct val="112000"/>
              </a:lnSpc>
              <a:spcAft>
                <a:spcPts val="600"/>
              </a:spcAft>
              <a:buSzPct val="100000"/>
              <a:buChar char="•"/>
            </a:pPr>
            <a:r>
              <a:rPr lang="en-US" sz="1200" dirty="0" err="1">
                <a:solidFill>
                  <a:srgbClr val="383858"/>
                </a:solidFill>
                <a:latin typeface="Meiryo" pitchFamily="34" charset="0"/>
                <a:ea typeface="Meiryo" pitchFamily="34" charset="-122"/>
                <a:cs typeface="Meiryo" pitchFamily="34" charset="-120"/>
              </a:rPr>
              <a:t>ただし出力は合意文であり、論証グラフ・外部知識の融合・支持／攻撃構造は持たない</a:t>
            </a:r>
            <a:endParaRPr lang="en-US" sz="1200" dirty="0"/>
          </a:p>
        </p:txBody>
      </p:sp>
      <p:sp>
        <p:nvSpPr>
          <p:cNvPr id="8" name="Text 6"/>
          <p:cNvSpPr/>
          <p:nvPr/>
        </p:nvSpPr>
        <p:spPr>
          <a:xfrm>
            <a:off x="457200" y="301752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❹ 自動ファシリテーションエージェント（伊藤研：D-Agree, 2020 ／ Dong, Ito, 2024）</a:t>
            </a:r>
            <a:endParaRPr lang="en-US" sz="1276" dirty="0"/>
          </a:p>
        </p:txBody>
      </p:sp>
      <p:sp>
        <p:nvSpPr>
          <p:cNvPr id="9" name="Text 7"/>
          <p:cNvSpPr/>
          <p:nvPr/>
        </p:nvSpPr>
        <p:spPr>
          <a:xfrm>
            <a:off x="502920" y="3401568"/>
            <a:ext cx="8229600" cy="109728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議論構造(IBIS)を抽出し対象を絞った介入を生成。近年は LLM で多段階の自然な介入へ発展（系譜の母体）</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本研究の直接の母体・主要ベースライン。外部知識との論証連結や統合 AF グラフは未対応</a:t>
            </a:r>
            <a:endParaRPr lang="en-US" sz="1200" dirty="0"/>
          </a:p>
        </p:txBody>
      </p:sp>
    </p:spTree>
    <p:extLst>
      <p:ext uri="{BB962C8B-B14F-4D97-AF65-F5344CB8AC3E}">
        <p14:creationId xmlns:p14="http://schemas.microsoft.com/office/powerpoint/2010/main" val="1421765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sz="2112" b="1" dirty="0">
                <a:solidFill>
                  <a:srgbClr val="181828"/>
                </a:solidFill>
                <a:latin typeface="Meiryo" pitchFamily="34" charset="0"/>
                <a:ea typeface="Meiryo" pitchFamily="34" charset="-122"/>
                <a:cs typeface="Meiryo" pitchFamily="34" charset="-120"/>
              </a:rPr>
              <a:t>既存の議論支援の課題</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71600"/>
            <a:ext cx="8229600" cy="27940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C1  論証関係を考慮しない情報提供</a:t>
            </a:r>
            <a:endParaRPr lang="en-US" sz="1200" dirty="0"/>
          </a:p>
        </p:txBody>
      </p:sp>
      <p:sp>
        <p:nvSpPr>
          <p:cNvPr id="7" name="Text 5"/>
          <p:cNvSpPr/>
          <p:nvPr/>
        </p:nvSpPr>
        <p:spPr>
          <a:xfrm>
            <a:off x="713232" y="1651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現状のRAGは類似度で取得し、対象主張に対する支持・攻撃・中立を区別せず、似ている順にそのまま提示する</a:t>
            </a:r>
          </a:p>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反論は候補にあっても下位に埋もれやすく、生成の迎合や選択的接触と相まって確証バイアスを助長する</a:t>
            </a:r>
          </a:p>
        </p:txBody>
      </p:sp>
      <p:sp>
        <p:nvSpPr>
          <p:cNvPr id="8" name="Text 6"/>
          <p:cNvSpPr/>
          <p:nvPr/>
        </p:nvSpPr>
        <p:spPr>
          <a:xfrm>
            <a:off x="457200" y="2260600"/>
            <a:ext cx="8229600" cy="27940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C2  </a:t>
            </a:r>
            <a:r>
              <a:rPr lang="en-US" sz="1200" b="1" dirty="0" err="1">
                <a:solidFill>
                  <a:srgbClr val="285888"/>
                </a:solidFill>
                <a:latin typeface="Meiryo" pitchFamily="34" charset="0"/>
                <a:ea typeface="Meiryo" pitchFamily="34" charset="-122"/>
                <a:cs typeface="Meiryo" pitchFamily="34" charset="-120"/>
              </a:rPr>
              <a:t>議論内容と外部知識の関係性が不透明</a:t>
            </a:r>
            <a:endParaRPr lang="en-US" sz="1200" dirty="0"/>
          </a:p>
        </p:txBody>
      </p:sp>
      <p:sp>
        <p:nvSpPr>
          <p:cNvPr id="9" name="Text 7"/>
          <p:cNvSpPr/>
          <p:nvPr/>
        </p:nvSpPr>
        <p:spPr>
          <a:xfrm>
            <a:off x="713232" y="2540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「議論中の主張が外部文献のどの記述に支えられ／反論されているか」を追跡する仕組みがない</a:t>
            </a:r>
            <a:endParaRPr lang="en-US" sz="1200" dirty="0"/>
          </a:p>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参加者は自分の主張がどう位置づけられるかを議論中に確認できない</a:t>
            </a:r>
            <a:endParaRPr lang="en-US" sz="1200" dirty="0"/>
          </a:p>
        </p:txBody>
      </p:sp>
      <p:sp>
        <p:nvSpPr>
          <p:cNvPr id="10" name="Text 8"/>
          <p:cNvSpPr/>
          <p:nvPr/>
        </p:nvSpPr>
        <p:spPr>
          <a:xfrm>
            <a:off x="457200" y="3149600"/>
            <a:ext cx="8229600" cy="27940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C3  介入根拠の不透明性</a:t>
            </a:r>
            <a:endParaRPr lang="en-US" sz="1200" dirty="0"/>
          </a:p>
        </p:txBody>
      </p:sp>
      <p:sp>
        <p:nvSpPr>
          <p:cNvPr id="11" name="Text 9"/>
          <p:cNvSpPr/>
          <p:nvPr/>
        </p:nvSpPr>
        <p:spPr>
          <a:xfrm>
            <a:off x="713232" y="3429000"/>
            <a:ext cx="7955280" cy="5588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エージェントが情報提供や発言促進を行う際、「なぜこの介入が今行われたか」が見えない</a:t>
            </a:r>
            <a:endParaRPr lang="en-US" sz="1200" dirty="0"/>
          </a:p>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根拠が説明可能でないと、社会実装上の信頼と運用可能性が確保できない</a:t>
            </a:r>
            <a:endParaRPr lang="en-US" sz="1200" dirty="0"/>
          </a:p>
        </p:txBody>
      </p:sp>
    </p:spTree>
    <p:extLst>
      <p:ext uri="{BB962C8B-B14F-4D97-AF65-F5344CB8AC3E}">
        <p14:creationId xmlns:p14="http://schemas.microsoft.com/office/powerpoint/2010/main" val="3066117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2. リサーチクエスチョン</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研究目的</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716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研究目的</a:t>
            </a:r>
            <a:endParaRPr lang="en-US" sz="1276" dirty="0"/>
          </a:p>
        </p:txBody>
      </p:sp>
      <p:sp>
        <p:nvSpPr>
          <p:cNvPr id="7" name="Text 5"/>
          <p:cNvSpPr/>
          <p:nvPr/>
        </p:nvSpPr>
        <p:spPr>
          <a:xfrm>
            <a:off x="502920" y="1755648"/>
            <a:ext cx="8229600" cy="109728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ja-JP" sz="1200" dirty="0">
                <a:solidFill>
                  <a:srgbClr val="383858"/>
                </a:solidFill>
                <a:latin typeface="Meiryo" pitchFamily="34" charset="0"/>
                <a:ea typeface="Meiryo" pitchFamily="34" charset="-122"/>
                <a:cs typeface="Meiryo" pitchFamily="34" charset="-120"/>
              </a:rPr>
              <a:t>議論ログと外部知識を単一の議論グラフとして統合し、論証の連続性を保つ議論支援システムを構築する</a:t>
            </a:r>
          </a:p>
          <a:p>
            <a:pPr marL="190500" indent="-190500">
              <a:lnSpc>
                <a:spcPct val="112000"/>
              </a:lnSpc>
              <a:spcAft>
                <a:spcPts val="600"/>
              </a:spcAft>
              <a:buSzPct val="100000"/>
              <a:buChar char="•"/>
            </a:pPr>
            <a:r>
              <a:rPr lang="ja-JP" sz="1200" dirty="0">
                <a:solidFill>
                  <a:srgbClr val="383858"/>
                </a:solidFill>
                <a:latin typeface="Meiryo" pitchFamily="34" charset="0"/>
                <a:ea typeface="Meiryo" pitchFamily="34" charset="-122"/>
                <a:cs typeface="Meiryo" pitchFamily="34" charset="-120"/>
              </a:rPr>
              <a:t>これにより、確証バイアスや議論の極化を構造的に抑制し、合意形成の質を高めることを目指す</a:t>
            </a:r>
          </a:p>
        </p:txBody>
      </p:sp>
    </p:spTree>
    <p:extLst>
      <p:ext uri="{BB962C8B-B14F-4D97-AF65-F5344CB8AC3E}">
        <p14:creationId xmlns:p14="http://schemas.microsoft.com/office/powerpoint/2010/main" val="2294446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2. リサーチクエスチョン</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リサーチクエスチョン</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8" name="Text 6"/>
          <p:cNvSpPr/>
          <p:nvPr/>
        </p:nvSpPr>
        <p:spPr>
          <a:xfrm>
            <a:off x="457200" y="14224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RQ1  議論の質への影響</a:t>
            </a:r>
            <a:endParaRPr lang="en-US" sz="1276" dirty="0"/>
          </a:p>
        </p:txBody>
      </p:sp>
      <p:sp>
        <p:nvSpPr>
          <p:cNvPr id="9" name="Text 7"/>
          <p:cNvSpPr/>
          <p:nvPr/>
        </p:nvSpPr>
        <p:spPr>
          <a:xfrm>
            <a:off x="713232" y="1803400"/>
            <a:ext cx="7955280" cy="4572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統合議論グラフを活用する議論支援は、フラットRAGや支援なしと比べて合意形成の質（満足度・根拠の豊富さ・情報活用度）にどう影響するか</a:t>
            </a:r>
            <a:endParaRPr lang="en-US" sz="1200" dirty="0"/>
          </a:p>
        </p:txBody>
      </p:sp>
      <p:sp>
        <p:nvSpPr>
          <p:cNvPr id="10" name="Text 8"/>
          <p:cNvSpPr/>
          <p:nvPr/>
        </p:nvSpPr>
        <p:spPr>
          <a:xfrm>
            <a:off x="457200" y="25400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RQ2  反対意見の理解と確証バイアスの緩和</a:t>
            </a:r>
            <a:endParaRPr lang="en-US" sz="1276" dirty="0"/>
          </a:p>
        </p:txBody>
      </p:sp>
      <p:sp>
        <p:nvSpPr>
          <p:cNvPr id="11" name="Text 9"/>
          <p:cNvSpPr/>
          <p:nvPr/>
        </p:nvSpPr>
        <p:spPr>
          <a:xfrm>
            <a:off x="713232" y="2921000"/>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賛成・反対の論証を構造的にバランスして提示することで、反対意見の理解度や過剰な自信は変わるか</a:t>
            </a:r>
            <a:endParaRPr lang="en-US" sz="1200" dirty="0"/>
          </a:p>
        </p:txBody>
      </p:sp>
      <p:sp>
        <p:nvSpPr>
          <p:cNvPr id="12" name="Text 10"/>
          <p:cNvSpPr/>
          <p:nvPr/>
        </p:nvSpPr>
        <p:spPr>
          <a:xfrm>
            <a:off x="457200" y="36576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RQ3  介入の透明性が参加者に与える影響</a:t>
            </a:r>
            <a:endParaRPr lang="en-US" sz="1276" dirty="0"/>
          </a:p>
        </p:txBody>
      </p:sp>
      <p:sp>
        <p:nvSpPr>
          <p:cNvPr id="13" name="Text 11"/>
          <p:cNvSpPr/>
          <p:nvPr/>
        </p:nvSpPr>
        <p:spPr>
          <a:xfrm>
            <a:off x="713232" y="4038600"/>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介入根拠が論証構造として明示されることで、納得感や情報活用度にどう影響するか</a:t>
            </a:r>
            <a:endParaRPr lang="en-US" sz="1200" dirty="0"/>
          </a:p>
        </p:txBody>
      </p:sp>
    </p:spTree>
    <p:extLst>
      <p:ext uri="{BB962C8B-B14F-4D97-AF65-F5344CB8AC3E}">
        <p14:creationId xmlns:p14="http://schemas.microsoft.com/office/powerpoint/2010/main" val="467198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提案手法：全体構成</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224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アプローチ</a:t>
            </a:r>
            <a:endParaRPr lang="en-US" sz="1276" dirty="0"/>
          </a:p>
        </p:txBody>
      </p:sp>
      <p:sp>
        <p:nvSpPr>
          <p:cNvPr id="7" name="Text 5"/>
          <p:cNvSpPr/>
          <p:nvPr/>
        </p:nvSpPr>
        <p:spPr>
          <a:xfrm>
            <a:off x="502920" y="1752600"/>
            <a:ext cx="8229600" cy="12700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議論ログ側と外部知識側の双方を単一の議論グラフとして構造化</a:t>
            </a:r>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外部知識は事実として保持し、対象主張への支持／攻撃エッジで連結</a:t>
            </a:r>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この構築・運用を5種類の専門エージェントの分業として実現</a:t>
            </a:r>
          </a:p>
        </p:txBody>
      </p:sp>
      <p:sp>
        <p:nvSpPr>
          <p:cNvPr id="8" name="Text 6"/>
          <p:cNvSpPr/>
          <p:nvPr/>
        </p:nvSpPr>
        <p:spPr>
          <a:xfrm>
            <a:off x="457200" y="27940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グラフの更新</a:t>
            </a:r>
            <a:endParaRPr lang="en-US" sz="1276" dirty="0"/>
          </a:p>
        </p:txBody>
      </p:sp>
      <p:sp>
        <p:nvSpPr>
          <p:cNvPr id="9" name="Text 7"/>
          <p:cNvSpPr/>
          <p:nvPr/>
        </p:nvSpPr>
        <p:spPr>
          <a:xfrm>
            <a:off x="502920" y="3124200"/>
            <a:ext cx="8229600" cy="762000"/>
          </a:xfrm>
          <a:prstGeom prst="rect">
            <a:avLst/>
          </a:prstGeom>
          <a:noFill/>
          <a:ln/>
        </p:spPr>
        <p:txBody>
          <a:bodyPr wrap="square" lIns="0" tIns="0" rIns="0" bIns="0" rtlCol="0" anchor="t"/>
          <a:lstStyle/>
          <a:p>
            <a:pPr marL="190500" indent="-190500">
              <a:lnSpc>
                <a:spcPct val="120000"/>
              </a:lnSpc>
              <a:spcAft>
                <a:spcPts val="1000"/>
              </a:spcAft>
              <a:buSzPct val="100000"/>
              <a:buChar char="•"/>
            </a:pPr>
            <a:r>
              <a:rPr lang="en-US" sz="1200" dirty="0">
                <a:solidFill>
                  <a:srgbClr val="383858"/>
                </a:solidFill>
                <a:latin typeface="Meiryo" pitchFamily="34" charset="0"/>
                <a:ea typeface="Meiryo" pitchFamily="34" charset="-122"/>
                <a:cs typeface="Meiryo" pitchFamily="34" charset="-120"/>
              </a:rPr>
              <a:t>各エージェントは独立に動き、共有の統合議論グラフに対して書き込み・読み出しを行う</a:t>
            </a:r>
            <a:endParaRPr lang="en-US" sz="1200" dirty="0"/>
          </a:p>
          <a:p>
            <a:pPr marL="190500" indent="-190500">
              <a:lnSpc>
                <a:spcPct val="120000"/>
              </a:lnSpc>
              <a:spcAft>
                <a:spcPts val="1000"/>
              </a:spcAft>
              <a:buSzPct val="100000"/>
              <a:buChar char="•"/>
            </a:pPr>
            <a:r>
              <a:rPr lang="en-US" sz="1200" dirty="0">
                <a:solidFill>
                  <a:srgbClr val="383858"/>
                </a:solidFill>
                <a:latin typeface="Meiryo" pitchFamily="34" charset="0"/>
                <a:ea typeface="Meiryo" pitchFamily="34" charset="-122"/>
                <a:cs typeface="Meiryo" pitchFamily="34" charset="-120"/>
              </a:rPr>
              <a:t>発言や情報源が新しく入るたびにグラフはリアルタイムに更新される</a:t>
            </a:r>
            <a:endParaRPr lang="en-US" sz="1200" dirty="0"/>
          </a:p>
        </p:txBody>
      </p:sp>
    </p:spTree>
    <p:extLst>
      <p:ext uri="{BB962C8B-B14F-4D97-AF65-F5344CB8AC3E}">
        <p14:creationId xmlns:p14="http://schemas.microsoft.com/office/powerpoint/2010/main" val="3817723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altLang="en-US" sz="2112" b="1" dirty="0">
                <a:solidFill>
                  <a:srgbClr val="285888"/>
                </a:solidFill>
                <a:latin typeface="Meiryo" pitchFamily="34" charset="0"/>
                <a:ea typeface="Meiryo" pitchFamily="34" charset="-122"/>
                <a:cs typeface="Meiryo" pitchFamily="34" charset="-120"/>
              </a:rPr>
              <a:t>全体像 ｜ </a:t>
            </a:r>
            <a:r>
              <a:rPr lang="ja-JP" altLang="en-US" sz="2112" b="1" dirty="0">
                <a:solidFill>
                  <a:srgbClr val="181828"/>
                </a:solidFill>
                <a:latin typeface="Meiryo" pitchFamily="34" charset="0"/>
                <a:ea typeface="Meiryo" pitchFamily="34" charset="-122"/>
                <a:cs typeface="Meiryo" pitchFamily="34" charset="-120"/>
              </a:rPr>
              <a:t>提案手法：システム構成</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29" name="角丸四角形 28">
            <a:extLst>
              <a:ext uri="{FF2B5EF4-FFF2-40B4-BE49-F238E27FC236}">
                <a16:creationId xmlns:a16="http://schemas.microsoft.com/office/drawing/2014/main" id="{9D138F18-BF9B-2044-B7DC-F60D4EC67133}"/>
              </a:ext>
            </a:extLst>
          </p:cNvPr>
          <p:cNvSpPr/>
          <p:nvPr/>
        </p:nvSpPr>
        <p:spPr>
          <a:xfrm>
            <a:off x="2921000" y="1397000"/>
            <a:ext cx="3302000" cy="558800"/>
          </a:xfrm>
          <a:prstGeom prst="roundRect">
            <a:avLst/>
          </a:prstGeom>
          <a:solidFill>
            <a:srgbClr val="EAF1F8"/>
          </a:solidFill>
          <a:ln w="12700" cap="flat" cmpd="sng" algn="ctr">
            <a:solidFill>
              <a:srgbClr val="243F6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ja-JP" altLang="en-US" sz="1300" b="1" dirty="0">
                <a:solidFill>
                  <a:srgbClr val="243F66"/>
                </a:solidFill>
                <a:latin typeface="Meiryo"/>
                <a:ea typeface="Meiryo"/>
                <a:cs typeface="Meiryo"/>
              </a:rPr>
              <a:t>主張抽出（発話を主張／事実に構造化）</a:t>
            </a:r>
          </a:p>
        </p:txBody>
      </p:sp>
      <p:sp>
        <p:nvSpPr>
          <p:cNvPr id="30" name="角丸四角形 29">
            <a:extLst>
              <a:ext uri="{FF2B5EF4-FFF2-40B4-BE49-F238E27FC236}">
                <a16:creationId xmlns:a16="http://schemas.microsoft.com/office/drawing/2014/main" id="{28171EC4-492A-674C-93B4-AB7D903D2527}"/>
              </a:ext>
            </a:extLst>
          </p:cNvPr>
          <p:cNvSpPr/>
          <p:nvPr/>
        </p:nvSpPr>
        <p:spPr>
          <a:xfrm>
            <a:off x="2921000" y="2260600"/>
            <a:ext cx="3302000" cy="711200"/>
          </a:xfrm>
          <a:prstGeom prst="roundRect">
            <a:avLst/>
          </a:prstGeom>
          <a:solidFill>
            <a:srgbClr val="243F66"/>
          </a:solidFill>
          <a:ln w="12700" cap="flat" cmpd="sng" algn="ctr">
            <a:solidFill>
              <a:srgbClr val="243F6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en-US" sz="1300" b="1" dirty="0">
                <a:solidFill>
                  <a:srgbClr val="FFFFFF"/>
                </a:solidFill>
                <a:latin typeface="Meiryo"/>
                <a:ea typeface="Meiryo"/>
                <a:cs typeface="Meiryo"/>
              </a:rPr>
              <a:t>統合議論グラフ</a:t>
            </a:r>
          </a:p>
          <a:p>
            <a:pPr algn="ctr">
              <a:buNone/>
            </a:pPr>
            <a:r>
              <a:rPr lang="en-US" sz="1100" dirty="0">
                <a:solidFill>
                  <a:srgbClr val="FFFFFF"/>
                </a:solidFill>
                <a:latin typeface="Meiryo"/>
                <a:ea typeface="Meiryo"/>
                <a:cs typeface="Meiryo"/>
              </a:rPr>
              <a:t>発話と知識を支持／攻撃エッジで連結</a:t>
            </a:r>
          </a:p>
        </p:txBody>
      </p:sp>
      <p:sp>
        <p:nvSpPr>
          <p:cNvPr id="31" name="角丸四角形 30">
            <a:extLst>
              <a:ext uri="{FF2B5EF4-FFF2-40B4-BE49-F238E27FC236}">
                <a16:creationId xmlns:a16="http://schemas.microsoft.com/office/drawing/2014/main" id="{653FCAFB-0943-EE4C-9F09-9E331F14C72F}"/>
              </a:ext>
            </a:extLst>
          </p:cNvPr>
          <p:cNvSpPr/>
          <p:nvPr/>
        </p:nvSpPr>
        <p:spPr>
          <a:xfrm>
            <a:off x="6731000" y="2260600"/>
            <a:ext cx="2032000" cy="711200"/>
          </a:xfrm>
          <a:prstGeom prst="roundRect">
            <a:avLst/>
          </a:prstGeom>
          <a:solidFill>
            <a:srgbClr val="EAF1F8"/>
          </a:solidFill>
          <a:ln w="12700" cap="flat" cmpd="sng" algn="ctr">
            <a:solidFill>
              <a:srgbClr val="243F6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200" b="1">
                <a:solidFill>
                  <a:srgbClr val="243F66"/>
                </a:solidFill>
                <a:latin typeface="Meiryo"/>
                <a:ea typeface="Meiryo"/>
              </a:rPr>
              <a:t>外部知識
（文献／</a:t>
            </a:r>
            <a:r>
              <a:rPr lang="en" altLang="ja-JP" sz="1200" b="1">
                <a:solidFill>
                  <a:srgbClr val="243F66"/>
                </a:solidFill>
                <a:latin typeface="Meiryo"/>
                <a:ea typeface="Meiryo"/>
              </a:rPr>
              <a:t>Web</a:t>
            </a:r>
            <a:r>
              <a:rPr lang="ja-JP" altLang="en" sz="1200" b="1">
                <a:solidFill>
                  <a:srgbClr val="243F66"/>
                </a:solidFill>
                <a:latin typeface="Meiryo"/>
                <a:ea typeface="Meiryo"/>
              </a:rPr>
              <a:t>）</a:t>
            </a:r>
            <a:endParaRPr lang="ja-JP" altLang="en-US" sz="1200" b="1">
              <a:solidFill>
                <a:srgbClr val="243F66"/>
              </a:solidFill>
              <a:latin typeface="Meiryo"/>
              <a:ea typeface="Meiryo"/>
            </a:endParaRPr>
          </a:p>
        </p:txBody>
      </p:sp>
      <p:sp>
        <p:nvSpPr>
          <p:cNvPr id="32" name="角丸四角形 31">
            <a:extLst>
              <a:ext uri="{FF2B5EF4-FFF2-40B4-BE49-F238E27FC236}">
                <a16:creationId xmlns:a16="http://schemas.microsoft.com/office/drawing/2014/main" id="{D8A75E69-F8ED-584C-AA33-C28C326938B0}"/>
              </a:ext>
            </a:extLst>
          </p:cNvPr>
          <p:cNvSpPr/>
          <p:nvPr/>
        </p:nvSpPr>
        <p:spPr>
          <a:xfrm>
            <a:off x="2921000" y="3276600"/>
            <a:ext cx="3302000" cy="558800"/>
          </a:xfrm>
          <a:prstGeom prst="roundRect">
            <a:avLst/>
          </a:prstGeom>
          <a:solidFill>
            <a:srgbClr val="285888"/>
          </a:solidFill>
          <a:ln w="12700" cap="flat" cmpd="sng" algn="ctr">
            <a:solidFill>
              <a:srgbClr val="243F6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300" b="1">
                <a:solidFill>
                  <a:srgbClr val="FFFFFF"/>
                </a:solidFill>
                <a:latin typeface="Meiryo"/>
                <a:ea typeface="Meiryo"/>
              </a:rPr>
              <a:t>ファシリテーションエージェント</a:t>
            </a:r>
          </a:p>
        </p:txBody>
      </p:sp>
      <p:sp>
        <p:nvSpPr>
          <p:cNvPr id="33" name="角丸四角形 32">
            <a:extLst>
              <a:ext uri="{FF2B5EF4-FFF2-40B4-BE49-F238E27FC236}">
                <a16:creationId xmlns:a16="http://schemas.microsoft.com/office/drawing/2014/main" id="{A3F40CA9-80C9-C448-AE99-B95011287356}"/>
              </a:ext>
            </a:extLst>
          </p:cNvPr>
          <p:cNvSpPr/>
          <p:nvPr/>
        </p:nvSpPr>
        <p:spPr>
          <a:xfrm>
            <a:off x="2921000" y="4089400"/>
            <a:ext cx="3302000" cy="558800"/>
          </a:xfrm>
          <a:prstGeom prst="roundRect">
            <a:avLst/>
          </a:prstGeom>
          <a:solidFill>
            <a:srgbClr val="3A7FA8"/>
          </a:solidFill>
          <a:ln w="12700" cap="flat" cmpd="sng" algn="ctr">
            <a:solidFill>
              <a:srgbClr val="243F6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300" b="1">
                <a:solidFill>
                  <a:srgbClr val="FFFFFF"/>
                </a:solidFill>
                <a:latin typeface="Meiryo"/>
                <a:ea typeface="Meiryo"/>
              </a:rPr>
              <a:t>参加者へ用途別提示</a:t>
            </a:r>
          </a:p>
        </p:txBody>
      </p:sp>
      <p:sp>
        <p:nvSpPr>
          <p:cNvPr id="34" name="下矢印 33">
            <a:extLst>
              <a:ext uri="{FF2B5EF4-FFF2-40B4-BE49-F238E27FC236}">
                <a16:creationId xmlns:a16="http://schemas.microsoft.com/office/drawing/2014/main" id="{E638B122-9834-5643-ABF2-7BAF6BF0B287}"/>
              </a:ext>
            </a:extLst>
          </p:cNvPr>
          <p:cNvSpPr/>
          <p:nvPr/>
        </p:nvSpPr>
        <p:spPr>
          <a:xfrm>
            <a:off x="4445000" y="1981200"/>
            <a:ext cx="254000" cy="2540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5" name="下矢印 34">
            <a:extLst>
              <a:ext uri="{FF2B5EF4-FFF2-40B4-BE49-F238E27FC236}">
                <a16:creationId xmlns:a16="http://schemas.microsoft.com/office/drawing/2014/main" id="{D5E410BC-4431-B546-9E5E-7A5C422F2F54}"/>
              </a:ext>
            </a:extLst>
          </p:cNvPr>
          <p:cNvSpPr/>
          <p:nvPr/>
        </p:nvSpPr>
        <p:spPr>
          <a:xfrm>
            <a:off x="4445000" y="2997200"/>
            <a:ext cx="254000" cy="2540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6" name="下矢印 35">
            <a:extLst>
              <a:ext uri="{FF2B5EF4-FFF2-40B4-BE49-F238E27FC236}">
                <a16:creationId xmlns:a16="http://schemas.microsoft.com/office/drawing/2014/main" id="{405A73AE-698E-C54F-A93F-DD903ECC1757}"/>
              </a:ext>
            </a:extLst>
          </p:cNvPr>
          <p:cNvSpPr/>
          <p:nvPr/>
        </p:nvSpPr>
        <p:spPr>
          <a:xfrm>
            <a:off x="4445000" y="3810000"/>
            <a:ext cx="254000" cy="2540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7" name="左右矢印 36">
            <a:extLst>
              <a:ext uri="{FF2B5EF4-FFF2-40B4-BE49-F238E27FC236}">
                <a16:creationId xmlns:a16="http://schemas.microsoft.com/office/drawing/2014/main" id="{0D8B9E19-E25C-664A-BEC4-C0674AEACD25}"/>
              </a:ext>
            </a:extLst>
          </p:cNvPr>
          <p:cNvSpPr/>
          <p:nvPr/>
        </p:nvSpPr>
        <p:spPr>
          <a:xfrm>
            <a:off x="6223000" y="2514600"/>
            <a:ext cx="508000" cy="203200"/>
          </a:xfrm>
          <a:prstGeom prst="lef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4135356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4DD49B9-B85D-D040-AEDB-FB0ECDAF4D3D}"/>
              </a:ext>
            </a:extLst>
          </p:cNvPr>
          <p:cNvSpPr txBox="1"/>
          <p:nvPr/>
        </p:nvSpPr>
        <p:spPr>
          <a:xfrm>
            <a:off x="457200" y="241300"/>
            <a:ext cx="8229600" cy="279400"/>
          </a:xfrm>
          <a:prstGeom prst="rect">
            <a:avLst/>
          </a:prstGeom>
          <a:noFill/>
          <a:ln>
            <a:noFill/>
          </a:ln>
        </p:spPr>
        <p:txBody>
          <a:bodyPr vertOverflow="overflow" vert="horz" wrap="square" rtlCol="0" anchor="t">
            <a:noAutofit/>
          </a:bodyPr>
          <a:lstStyle/>
          <a:p>
            <a:pPr algn="l"/>
            <a:r>
              <a:rPr lang="en-US" altLang="ja-JP" sz="1200">
                <a:solidFill>
                  <a:srgbClr val="285888"/>
                </a:solidFill>
                <a:latin typeface="Meiryo"/>
                <a:ea typeface="Meiryo"/>
              </a:rPr>
              <a:t>3. </a:t>
            </a:r>
            <a:r>
              <a:rPr lang="ja-JP" altLang="en-US" sz="1200">
                <a:solidFill>
                  <a:srgbClr val="285888"/>
                </a:solidFill>
                <a:latin typeface="Meiryo"/>
                <a:ea typeface="Meiryo"/>
              </a:rPr>
              <a:t>提案手法</a:t>
            </a:r>
          </a:p>
        </p:txBody>
      </p:sp>
      <p:sp>
        <p:nvSpPr>
          <p:cNvPr id="3" name="テキスト ボックス 2">
            <a:extLst>
              <a:ext uri="{FF2B5EF4-FFF2-40B4-BE49-F238E27FC236}">
                <a16:creationId xmlns:a16="http://schemas.microsoft.com/office/drawing/2014/main" id="{84C894A2-BD90-544E-B49E-6384EAD1AB95}"/>
              </a:ext>
            </a:extLst>
          </p:cNvPr>
          <p:cNvSpPr txBox="1"/>
          <p:nvPr/>
        </p:nvSpPr>
        <p:spPr>
          <a:xfrm>
            <a:off x="457200" y="495300"/>
            <a:ext cx="8229600" cy="571500"/>
          </a:xfrm>
          <a:prstGeom prst="rect">
            <a:avLst/>
          </a:prstGeom>
          <a:noFill/>
          <a:ln>
            <a:noFill/>
          </a:ln>
        </p:spPr>
        <p:txBody>
          <a:bodyPr vertOverflow="overflow" vert="horz" wrap="square" rtlCol="0" anchor="t">
            <a:noAutofit/>
          </a:bodyPr>
          <a:lstStyle/>
          <a:p>
            <a:pPr marL="0" indent="0">
              <a:buNone/>
            </a:pPr>
            <a:r>
              <a:rPr lang="ja-JP" altLang="en-US" sz="2112" b="1" dirty="0">
                <a:solidFill>
                  <a:srgbClr val="285888"/>
                </a:solidFill>
                <a:latin typeface="Meiryo" pitchFamily="34" charset="0"/>
                <a:ea typeface="Meiryo" pitchFamily="34" charset="-122"/>
                <a:cs typeface="Meiryo" pitchFamily="34" charset="-120"/>
              </a:rPr>
              <a:t>詳細 ｜ </a:t>
            </a:r>
            <a:r>
              <a:rPr lang="ja-JP" sz="2112" b="1" dirty="0">
                <a:solidFill>
                  <a:srgbClr val="181828"/>
                </a:solidFill>
                <a:latin typeface="Meiryo" pitchFamily="34" charset="0"/>
                <a:ea typeface="Meiryo" pitchFamily="34" charset="-122"/>
                <a:cs typeface="Meiryo" pitchFamily="34" charset="-120"/>
              </a:rPr>
              <a:t>仕組み：オフライン構築とオンライン取得</a:t>
            </a:r>
          </a:p>
        </p:txBody>
      </p:sp>
      <p:sp>
        <p:nvSpPr>
          <p:cNvPr id="4" name="正方形/長方形 3">
            <a:extLst>
              <a:ext uri="{FF2B5EF4-FFF2-40B4-BE49-F238E27FC236}">
                <a16:creationId xmlns:a16="http://schemas.microsoft.com/office/drawing/2014/main" id="{A742388B-DD3B-2847-AE87-4B68DCF7AB12}"/>
              </a:ext>
            </a:extLst>
          </p:cNvPr>
          <p:cNvSpPr/>
          <p:nvPr/>
        </p:nvSpPr>
        <p:spPr>
          <a:xfrm>
            <a:off x="469900" y="1092200"/>
            <a:ext cx="1003300" cy="38100"/>
          </a:xfrm>
          <a:prstGeom prst="rect">
            <a:avLst/>
          </a:prstGeom>
          <a:solidFill>
            <a:srgbClr val="28588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正方形/長方形 4">
            <a:extLst>
              <a:ext uri="{FF2B5EF4-FFF2-40B4-BE49-F238E27FC236}">
                <a16:creationId xmlns:a16="http://schemas.microsoft.com/office/drawing/2014/main" id="{6F70BF19-4C97-AC40-B501-FFB91D45D29B}"/>
              </a:ext>
            </a:extLst>
          </p:cNvPr>
          <p:cNvSpPr/>
          <p:nvPr/>
        </p:nvSpPr>
        <p:spPr>
          <a:xfrm>
            <a:off x="457200" y="4876800"/>
            <a:ext cx="8229600" cy="25400"/>
          </a:xfrm>
          <a:prstGeom prst="rect">
            <a:avLst/>
          </a:prstGeom>
          <a:solidFill>
            <a:srgbClr val="D0D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正方形/長方形 5">
            <a:extLst>
              <a:ext uri="{FF2B5EF4-FFF2-40B4-BE49-F238E27FC236}">
                <a16:creationId xmlns:a16="http://schemas.microsoft.com/office/drawing/2014/main" id="{153D6B1C-1779-4145-A7E3-78CFEAF028BB}"/>
              </a:ext>
            </a:extLst>
          </p:cNvPr>
          <p:cNvSpPr/>
          <p:nvPr/>
        </p:nvSpPr>
        <p:spPr>
          <a:xfrm>
            <a:off x="7112000" y="1524000"/>
            <a:ext cx="1651000" cy="2032000"/>
          </a:xfrm>
          <a:prstGeom prst="rect">
            <a:avLst/>
          </a:prstGeom>
          <a:solidFill>
            <a:srgbClr val="FFFFFF"/>
          </a:solidFill>
          <a:ln w="38100" cap="flat" cmpd="sng" algn="ctr">
            <a:solidFill>
              <a:srgbClr val="28588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sz="1300" b="1">
                <a:solidFill>
                  <a:srgbClr val="285888"/>
                </a:solidFill>
                <a:latin typeface="Meiryo"/>
                <a:ea typeface="Meiryo"/>
              </a:rPr>
              <a:t>統合議論グラフ</a:t>
            </a:r>
          </a:p>
        </p:txBody>
      </p:sp>
      <p:sp>
        <p:nvSpPr>
          <p:cNvPr id="7" name="テキスト ボックス 6">
            <a:extLst>
              <a:ext uri="{FF2B5EF4-FFF2-40B4-BE49-F238E27FC236}">
                <a16:creationId xmlns:a16="http://schemas.microsoft.com/office/drawing/2014/main" id="{6D1EE702-6AAC-1F46-8F02-F46E694007D1}"/>
              </a:ext>
            </a:extLst>
          </p:cNvPr>
          <p:cNvSpPr txBox="1"/>
          <p:nvPr/>
        </p:nvSpPr>
        <p:spPr>
          <a:xfrm>
            <a:off x="457200" y="1219200"/>
            <a:ext cx="2794000" cy="203200"/>
          </a:xfrm>
          <a:prstGeom prst="rect">
            <a:avLst/>
          </a:prstGeom>
          <a:noFill/>
          <a:ln>
            <a:noFill/>
          </a:ln>
        </p:spPr>
        <p:txBody>
          <a:bodyPr vertOverflow="overflow" vert="horz" wrap="square" rtlCol="0" anchor="ctr" anchorCtr="0">
            <a:noAutofit/>
          </a:bodyPr>
          <a:lstStyle/>
          <a:p>
            <a:pPr algn="l"/>
            <a:r>
              <a:rPr lang="ja-JP" sz="1100" b="1" dirty="0">
                <a:solidFill>
                  <a:srgbClr val="285888"/>
                </a:solidFill>
                <a:latin typeface="Meiryo" pitchFamily="34" charset="0"/>
                <a:ea typeface="Meiryo" pitchFamily="34" charset="-122"/>
                <a:cs typeface="Meiryo" pitchFamily="34" charset="-120"/>
              </a:rPr>
              <a:t>オフライン｜ドキュメントをグラフ化</a:t>
            </a:r>
          </a:p>
        </p:txBody>
      </p:sp>
      <p:sp>
        <p:nvSpPr>
          <p:cNvPr id="8" name="正方形/長方形 7">
            <a:extLst>
              <a:ext uri="{FF2B5EF4-FFF2-40B4-BE49-F238E27FC236}">
                <a16:creationId xmlns:a16="http://schemas.microsoft.com/office/drawing/2014/main" id="{BC3CAEA2-5415-6447-8453-70480B477468}"/>
              </a:ext>
            </a:extLst>
          </p:cNvPr>
          <p:cNvSpPr/>
          <p:nvPr/>
        </p:nvSpPr>
        <p:spPr>
          <a:xfrm>
            <a:off x="457200" y="1625600"/>
            <a:ext cx="1778000" cy="584200"/>
          </a:xfrm>
          <a:prstGeom prst="rect">
            <a:avLst/>
          </a:prstGeom>
          <a:solidFill>
            <a:srgbClr val="EDEDED"/>
          </a:solidFill>
          <a:ln w="12700" cap="flat" cmpd="sng" algn="ctr">
            <a:solidFill>
              <a:srgbClr val="A0A0A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000">
                <a:solidFill>
                  <a:srgbClr val="181828"/>
                </a:solidFill>
                <a:latin typeface="Meiryo"/>
                <a:ea typeface="Meiryo"/>
              </a:rPr>
              <a:t>ドキュメント
（浪江町</a:t>
            </a:r>
            <a:r>
              <a:rPr lang="en" altLang="ja-JP" sz="1000">
                <a:solidFill>
                  <a:srgbClr val="181828"/>
                </a:solidFill>
                <a:latin typeface="Meiryo"/>
                <a:ea typeface="Meiryo"/>
              </a:rPr>
              <a:t>PDF</a:t>
            </a:r>
            <a:r>
              <a:rPr lang="ja-JP" altLang="en" sz="1000">
                <a:solidFill>
                  <a:srgbClr val="181828"/>
                </a:solidFill>
                <a:latin typeface="Meiryo"/>
                <a:ea typeface="Meiryo"/>
              </a:rPr>
              <a:t>・</a:t>
            </a:r>
            <a:r>
              <a:rPr lang="en" altLang="ja-JP" sz="1000">
                <a:solidFill>
                  <a:srgbClr val="181828"/>
                </a:solidFill>
                <a:latin typeface="Meiryo"/>
                <a:ea typeface="Meiryo"/>
              </a:rPr>
              <a:t>Web</a:t>
            </a:r>
            <a:r>
              <a:rPr lang="ja-JP" altLang="en-US" sz="1000">
                <a:solidFill>
                  <a:srgbClr val="181828"/>
                </a:solidFill>
                <a:latin typeface="Meiryo"/>
                <a:ea typeface="Meiryo"/>
              </a:rPr>
              <a:t>資料）</a:t>
            </a:r>
          </a:p>
        </p:txBody>
      </p:sp>
      <p:sp>
        <p:nvSpPr>
          <p:cNvPr id="10" name="右矢印 9">
            <a:extLst>
              <a:ext uri="{FF2B5EF4-FFF2-40B4-BE49-F238E27FC236}">
                <a16:creationId xmlns:a16="http://schemas.microsoft.com/office/drawing/2014/main" id="{C6EACA5B-C757-364C-B831-E2F25F496D16}"/>
              </a:ext>
            </a:extLst>
          </p:cNvPr>
          <p:cNvSpPr/>
          <p:nvPr/>
        </p:nvSpPr>
        <p:spPr>
          <a:xfrm>
            <a:off x="2260600" y="1828800"/>
            <a:ext cx="762000" cy="1016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正方形/長方形 10">
            <a:extLst>
              <a:ext uri="{FF2B5EF4-FFF2-40B4-BE49-F238E27FC236}">
                <a16:creationId xmlns:a16="http://schemas.microsoft.com/office/drawing/2014/main" id="{C2F61198-E149-D24F-B3A3-1EF4CEDE1F6E}"/>
              </a:ext>
            </a:extLst>
          </p:cNvPr>
          <p:cNvSpPr/>
          <p:nvPr/>
        </p:nvSpPr>
        <p:spPr>
          <a:xfrm>
            <a:off x="3073400" y="1549400"/>
            <a:ext cx="2159000" cy="711200"/>
          </a:xfrm>
          <a:prstGeom prst="rect">
            <a:avLst/>
          </a:prstGeom>
          <a:solidFill>
            <a:srgbClr val="1C7293"/>
          </a:solidFill>
          <a:ln w="12700" cap="flat" cmpd="sng" algn="ctr">
            <a:solidFill>
              <a:srgbClr val="1C729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sz="900">
                <a:solidFill>
                  <a:srgbClr val="FFFFFF"/>
                </a:solidFill>
                <a:latin typeface="Meiryo"/>
                <a:ea typeface="Meiryo"/>
              </a:rPr>
              <a:t>ドキュメント知識</a:t>
            </a:r>
          </a:p>
          <a:p>
            <a:pPr algn="l"/>
            <a:r>
              <a:rPr lang="ja-JP" sz="900">
                <a:solidFill>
                  <a:srgbClr val="FFFFFF"/>
                </a:solidFill>
                <a:latin typeface="Meiryo"/>
                <a:ea typeface="Meiryo"/>
              </a:rPr>
              <a:t>エージェント</a:t>
            </a:r>
          </a:p>
          <a:p>
            <a:pPr algn="l"/>
            <a:r>
              <a:rPr lang="ja-JP" sz="900">
                <a:solidFill>
                  <a:srgbClr val="FFFFFF"/>
                </a:solidFill>
                <a:latin typeface="Meiryo"/>
                <a:ea typeface="Meiryo"/>
              </a:rPr>
              <a:t>事実に分解</a:t>
            </a:r>
          </a:p>
        </p:txBody>
      </p:sp>
      <p:sp>
        <p:nvSpPr>
          <p:cNvPr id="12" name="テキスト ボックス 11">
            <a:extLst>
              <a:ext uri="{FF2B5EF4-FFF2-40B4-BE49-F238E27FC236}">
                <a16:creationId xmlns:a16="http://schemas.microsoft.com/office/drawing/2014/main" id="{57397212-D04A-8A4C-BAE0-371F596F0119}"/>
              </a:ext>
            </a:extLst>
          </p:cNvPr>
          <p:cNvSpPr txBox="1"/>
          <p:nvPr/>
        </p:nvSpPr>
        <p:spPr>
          <a:xfrm>
            <a:off x="5664200" y="1549400"/>
            <a:ext cx="1016000" cy="152400"/>
          </a:xfrm>
          <a:prstGeom prst="rect">
            <a:avLst/>
          </a:prstGeom>
          <a:noFill/>
          <a:ln>
            <a:noFill/>
          </a:ln>
        </p:spPr>
        <p:txBody>
          <a:bodyPr vertOverflow="overflow" vert="horz" wrap="square" rtlCol="0" anchor="ctr" anchorCtr="0">
            <a:noAutofit/>
          </a:bodyPr>
          <a:lstStyle/>
          <a:p>
            <a:pPr algn="l"/>
            <a:r>
              <a:rPr lang="ja-JP" altLang="en-US" sz="800">
                <a:solidFill>
                  <a:srgbClr val="666670"/>
                </a:solidFill>
                <a:latin typeface="Meiryo"/>
                <a:ea typeface="Meiryo"/>
              </a:rPr>
              <a:t>埋め込み</a:t>
            </a:r>
          </a:p>
        </p:txBody>
      </p:sp>
      <p:sp>
        <p:nvSpPr>
          <p:cNvPr id="13" name="右矢印 12">
            <a:extLst>
              <a:ext uri="{FF2B5EF4-FFF2-40B4-BE49-F238E27FC236}">
                <a16:creationId xmlns:a16="http://schemas.microsoft.com/office/drawing/2014/main" id="{3C289B87-BD12-354B-AB56-08F6E5CA72B1}"/>
              </a:ext>
            </a:extLst>
          </p:cNvPr>
          <p:cNvSpPr/>
          <p:nvPr/>
        </p:nvSpPr>
        <p:spPr>
          <a:xfrm>
            <a:off x="5232400" y="1828800"/>
            <a:ext cx="1879600" cy="1016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テキスト ボックス 15">
            <a:extLst>
              <a:ext uri="{FF2B5EF4-FFF2-40B4-BE49-F238E27FC236}">
                <a16:creationId xmlns:a16="http://schemas.microsoft.com/office/drawing/2014/main" id="{7B060D2F-218D-3D4B-AF94-7BAF602934C9}"/>
              </a:ext>
            </a:extLst>
          </p:cNvPr>
          <p:cNvSpPr txBox="1"/>
          <p:nvPr/>
        </p:nvSpPr>
        <p:spPr>
          <a:xfrm>
            <a:off x="457200" y="2540000"/>
            <a:ext cx="2794000" cy="203200"/>
          </a:xfrm>
          <a:prstGeom prst="rect">
            <a:avLst/>
          </a:prstGeom>
          <a:noFill/>
          <a:ln>
            <a:noFill/>
          </a:ln>
        </p:spPr>
        <p:txBody>
          <a:bodyPr vertOverflow="overflow" vert="horz" wrap="square" rtlCol="0" anchor="ctr" anchorCtr="0">
            <a:noAutofit/>
          </a:bodyPr>
          <a:lstStyle/>
          <a:p>
            <a:pPr algn="l"/>
            <a:r>
              <a:rPr lang="ja-JP" altLang="en-US" sz="1000">
                <a:solidFill>
                  <a:srgbClr val="285888"/>
                </a:solidFill>
                <a:latin typeface="Meiryo"/>
                <a:ea typeface="Meiryo"/>
              </a:rPr>
              <a:t>オンライン｜議論中に取得</a:t>
            </a:r>
          </a:p>
        </p:txBody>
      </p:sp>
      <p:sp>
        <p:nvSpPr>
          <p:cNvPr id="17" name="正方形/長方形 16">
            <a:extLst>
              <a:ext uri="{FF2B5EF4-FFF2-40B4-BE49-F238E27FC236}">
                <a16:creationId xmlns:a16="http://schemas.microsoft.com/office/drawing/2014/main" id="{06AEF30F-319A-3C48-A371-42B724E25E73}"/>
              </a:ext>
            </a:extLst>
          </p:cNvPr>
          <p:cNvSpPr/>
          <p:nvPr/>
        </p:nvSpPr>
        <p:spPr>
          <a:xfrm>
            <a:off x="457200" y="2921000"/>
            <a:ext cx="1143000" cy="457200"/>
          </a:xfrm>
          <a:prstGeom prst="rect">
            <a:avLst/>
          </a:prstGeom>
          <a:solidFill>
            <a:srgbClr val="285888"/>
          </a:solidFill>
          <a:ln w="12700" cap="flat" cmpd="sng" algn="ctr">
            <a:solidFill>
              <a:srgbClr val="28588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000">
                <a:solidFill>
                  <a:srgbClr val="FFFFFF"/>
                </a:solidFill>
                <a:latin typeface="Meiryo"/>
                <a:ea typeface="Meiryo"/>
              </a:rPr>
              <a:t>参加者の発話</a:t>
            </a:r>
          </a:p>
        </p:txBody>
      </p:sp>
      <p:sp>
        <p:nvSpPr>
          <p:cNvPr id="18" name="テキスト ボックス 17">
            <a:extLst>
              <a:ext uri="{FF2B5EF4-FFF2-40B4-BE49-F238E27FC236}">
                <a16:creationId xmlns:a16="http://schemas.microsoft.com/office/drawing/2014/main" id="{CAF6494F-E7A4-184A-AFE9-95AE0483F60A}"/>
              </a:ext>
            </a:extLst>
          </p:cNvPr>
          <p:cNvSpPr txBox="1"/>
          <p:nvPr/>
        </p:nvSpPr>
        <p:spPr>
          <a:xfrm>
            <a:off x="1600200" y="2921000"/>
            <a:ext cx="1270000" cy="152400"/>
          </a:xfrm>
          <a:prstGeom prst="rect">
            <a:avLst/>
          </a:prstGeom>
          <a:noFill/>
          <a:ln>
            <a:noFill/>
          </a:ln>
        </p:spPr>
        <p:txBody>
          <a:bodyPr vertOverflow="overflow" vert="horz" wrap="square" rtlCol="0" anchor="ctr" anchorCtr="0">
            <a:noAutofit/>
          </a:bodyPr>
          <a:lstStyle/>
          <a:p>
            <a:pPr algn="l"/>
            <a:r>
              <a:rPr lang="ja-JP" sz="800">
                <a:solidFill>
                  <a:srgbClr val="666670"/>
                </a:solidFill>
                <a:latin typeface="Meiryo"/>
                <a:ea typeface="Meiryo"/>
              </a:rPr>
              <a:t>主張・前提を抽出</a:t>
            </a:r>
          </a:p>
        </p:txBody>
      </p:sp>
      <p:sp>
        <p:nvSpPr>
          <p:cNvPr id="19" name="右矢印 18">
            <a:extLst>
              <a:ext uri="{FF2B5EF4-FFF2-40B4-BE49-F238E27FC236}">
                <a16:creationId xmlns:a16="http://schemas.microsoft.com/office/drawing/2014/main" id="{7AF94952-0A3E-2C47-BFFF-D6E059498A0C}"/>
              </a:ext>
            </a:extLst>
          </p:cNvPr>
          <p:cNvSpPr/>
          <p:nvPr/>
        </p:nvSpPr>
        <p:spPr>
          <a:xfrm>
            <a:off x="1600200" y="3098800"/>
            <a:ext cx="1016000" cy="1016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正方形/長方形 19">
            <a:extLst>
              <a:ext uri="{FF2B5EF4-FFF2-40B4-BE49-F238E27FC236}">
                <a16:creationId xmlns:a16="http://schemas.microsoft.com/office/drawing/2014/main" id="{3F2C8353-33CA-8F4C-A11A-C2E663344129}"/>
              </a:ext>
            </a:extLst>
          </p:cNvPr>
          <p:cNvSpPr/>
          <p:nvPr/>
        </p:nvSpPr>
        <p:spPr>
          <a:xfrm>
            <a:off x="2667000" y="2895600"/>
            <a:ext cx="1270000" cy="508000"/>
          </a:xfrm>
          <a:prstGeom prst="rect">
            <a:avLst/>
          </a:prstGeom>
          <a:solidFill>
            <a:srgbClr val="285888"/>
          </a:solidFill>
          <a:ln w="12700" cap="flat" cmpd="sng" algn="ctr">
            <a:solidFill>
              <a:srgbClr val="28588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1000">
                <a:solidFill>
                  <a:srgbClr val="FFFFFF"/>
                </a:solidFill>
                <a:latin typeface="Meiryo"/>
                <a:ea typeface="Meiryo"/>
              </a:rPr>
              <a:t>主張抽出
エージェント</a:t>
            </a:r>
          </a:p>
        </p:txBody>
      </p:sp>
      <p:sp>
        <p:nvSpPr>
          <p:cNvPr id="21" name="テキスト ボックス 20">
            <a:extLst>
              <a:ext uri="{FF2B5EF4-FFF2-40B4-BE49-F238E27FC236}">
                <a16:creationId xmlns:a16="http://schemas.microsoft.com/office/drawing/2014/main" id="{88484EB9-BDF0-2C42-BDE9-873F0E4124B6}"/>
              </a:ext>
            </a:extLst>
          </p:cNvPr>
          <p:cNvSpPr txBox="1"/>
          <p:nvPr/>
        </p:nvSpPr>
        <p:spPr>
          <a:xfrm>
            <a:off x="3911600" y="2921000"/>
            <a:ext cx="889000" cy="152400"/>
          </a:xfrm>
          <a:prstGeom prst="rect">
            <a:avLst/>
          </a:prstGeom>
          <a:noFill/>
          <a:ln>
            <a:noFill/>
          </a:ln>
        </p:spPr>
        <p:txBody>
          <a:bodyPr vertOverflow="overflow" vert="horz" wrap="square" rtlCol="0" anchor="ctr" anchorCtr="0">
            <a:noAutofit/>
          </a:bodyPr>
          <a:lstStyle/>
          <a:p>
            <a:pPr algn="l"/>
            <a:r>
              <a:rPr lang="ja-JP" sz="800">
                <a:solidFill>
                  <a:srgbClr val="666670"/>
                </a:solidFill>
                <a:latin typeface="Meiryo"/>
                <a:ea typeface="Meiryo"/>
              </a:rPr>
              <a:t>候補を抽出</a:t>
            </a:r>
          </a:p>
        </p:txBody>
      </p:sp>
      <p:sp>
        <p:nvSpPr>
          <p:cNvPr id="22" name="右矢印 21">
            <a:extLst>
              <a:ext uri="{FF2B5EF4-FFF2-40B4-BE49-F238E27FC236}">
                <a16:creationId xmlns:a16="http://schemas.microsoft.com/office/drawing/2014/main" id="{BBB17995-6EC5-8D46-9A73-DD2026BCB356}"/>
              </a:ext>
            </a:extLst>
          </p:cNvPr>
          <p:cNvSpPr/>
          <p:nvPr/>
        </p:nvSpPr>
        <p:spPr>
          <a:xfrm>
            <a:off x="3962400" y="3098800"/>
            <a:ext cx="711200" cy="1016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3" name="正方形/長方形 22">
            <a:extLst>
              <a:ext uri="{FF2B5EF4-FFF2-40B4-BE49-F238E27FC236}">
                <a16:creationId xmlns:a16="http://schemas.microsoft.com/office/drawing/2014/main" id="{85630889-4B3E-DD4C-B9DD-E6C406C51569}"/>
              </a:ext>
            </a:extLst>
          </p:cNvPr>
          <p:cNvSpPr/>
          <p:nvPr/>
        </p:nvSpPr>
        <p:spPr>
          <a:xfrm>
            <a:off x="4699000" y="2768600"/>
            <a:ext cx="2286000" cy="762000"/>
          </a:xfrm>
          <a:prstGeom prst="rect">
            <a:avLst/>
          </a:prstGeom>
          <a:solidFill>
            <a:srgbClr val="285888"/>
          </a:solidFill>
          <a:ln w="12700" cap="flat" cmpd="sng" algn="ctr">
            <a:solidFill>
              <a:srgbClr val="28588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900">
                <a:solidFill>
                  <a:srgbClr val="FFFFFF"/>
                </a:solidFill>
                <a:latin typeface="Meiryo"/>
                <a:ea typeface="Meiryo"/>
              </a:rPr>
              <a:t>連結エージェント
対象主張ごとに
支持／攻撃／中立を判定</a:t>
            </a:r>
          </a:p>
        </p:txBody>
      </p:sp>
      <p:sp>
        <p:nvSpPr>
          <p:cNvPr id="25" name="右矢印 24">
            <a:extLst>
              <a:ext uri="{FF2B5EF4-FFF2-40B4-BE49-F238E27FC236}">
                <a16:creationId xmlns:a16="http://schemas.microsoft.com/office/drawing/2014/main" id="{365604F1-B4ED-A948-A50B-B6BC4324E8D8}"/>
              </a:ext>
            </a:extLst>
          </p:cNvPr>
          <p:cNvSpPr/>
          <p:nvPr/>
        </p:nvSpPr>
        <p:spPr>
          <a:xfrm>
            <a:off x="6985000" y="3098800"/>
            <a:ext cx="127000" cy="1016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6" name="正方形/長方形 25">
            <a:extLst>
              <a:ext uri="{FF2B5EF4-FFF2-40B4-BE49-F238E27FC236}">
                <a16:creationId xmlns:a16="http://schemas.microsoft.com/office/drawing/2014/main" id="{EBB6D002-E32C-0D43-BD3E-2B455B475B89}"/>
              </a:ext>
            </a:extLst>
          </p:cNvPr>
          <p:cNvSpPr/>
          <p:nvPr/>
        </p:nvSpPr>
        <p:spPr>
          <a:xfrm>
            <a:off x="2667000" y="3873500"/>
            <a:ext cx="2032000" cy="431800"/>
          </a:xfrm>
          <a:prstGeom prst="rect">
            <a:avLst/>
          </a:prstGeom>
          <a:solidFill>
            <a:srgbClr val="1C7293"/>
          </a:solidFill>
          <a:ln w="12700" cap="flat" cmpd="sng" algn="ctr">
            <a:solidFill>
              <a:srgbClr val="1C7293"/>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 sz="900">
                <a:solidFill>
                  <a:srgbClr val="FFFFFF"/>
                </a:solidFill>
                <a:latin typeface="Meiryo"/>
                <a:ea typeface="Meiryo"/>
              </a:rPr>
              <a:t>Web</a:t>
            </a:r>
            <a:r>
              <a:rPr lang="ja-JP" sz="900">
                <a:solidFill>
                  <a:srgbClr val="FFFFFF"/>
                </a:solidFill>
                <a:latin typeface="Meiryo"/>
                <a:ea typeface="Meiryo"/>
              </a:rPr>
              <a:t>検索エージェント</a:t>
            </a:r>
          </a:p>
          <a:p>
            <a:pPr algn="l"/>
            <a:r>
              <a:rPr lang="ja-JP" sz="900">
                <a:solidFill>
                  <a:srgbClr val="FFFFFF"/>
                </a:solidFill>
                <a:latin typeface="Meiryo"/>
                <a:ea typeface="Meiryo"/>
              </a:rPr>
              <a:t>新論点をその場で事実化</a:t>
            </a:r>
          </a:p>
        </p:txBody>
      </p:sp>
      <p:sp>
        <p:nvSpPr>
          <p:cNvPr id="28" name="下矢印 27">
            <a:extLst>
              <a:ext uri="{FF2B5EF4-FFF2-40B4-BE49-F238E27FC236}">
                <a16:creationId xmlns:a16="http://schemas.microsoft.com/office/drawing/2014/main" id="{128F95EF-6803-0642-8188-CFFF2E60F312}"/>
              </a:ext>
            </a:extLst>
          </p:cNvPr>
          <p:cNvSpPr/>
          <p:nvPr/>
        </p:nvSpPr>
        <p:spPr>
          <a:xfrm>
            <a:off x="7835900" y="3581400"/>
            <a:ext cx="177800" cy="2032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9" name="テキスト ボックス 28">
            <a:extLst>
              <a:ext uri="{FF2B5EF4-FFF2-40B4-BE49-F238E27FC236}">
                <a16:creationId xmlns:a16="http://schemas.microsoft.com/office/drawing/2014/main" id="{1CB0FC6A-FA4F-7744-81B1-BC0E502B8D4E}"/>
              </a:ext>
            </a:extLst>
          </p:cNvPr>
          <p:cNvSpPr txBox="1"/>
          <p:nvPr/>
        </p:nvSpPr>
        <p:spPr>
          <a:xfrm>
            <a:off x="5880100" y="3683000"/>
            <a:ext cx="1143000" cy="152400"/>
          </a:xfrm>
          <a:prstGeom prst="rect">
            <a:avLst/>
          </a:prstGeom>
          <a:noFill/>
          <a:ln>
            <a:noFill/>
          </a:ln>
        </p:spPr>
        <p:txBody>
          <a:bodyPr vertOverflow="overflow" vert="horz" wrap="square" rtlCol="0" anchor="ctr" anchorCtr="0">
            <a:noAutofit/>
          </a:bodyPr>
          <a:lstStyle/>
          <a:p>
            <a:pPr algn="l"/>
            <a:r>
              <a:rPr lang="ja-JP" sz="900">
                <a:solidFill>
                  <a:srgbClr val="666670"/>
                </a:solidFill>
                <a:latin typeface="Meiryo"/>
                <a:ea typeface="Meiryo"/>
              </a:rPr>
              <a:t>偏りを検出</a:t>
            </a:r>
          </a:p>
        </p:txBody>
      </p:sp>
      <p:sp>
        <p:nvSpPr>
          <p:cNvPr id="30" name="正方形/長方形 29">
            <a:extLst>
              <a:ext uri="{FF2B5EF4-FFF2-40B4-BE49-F238E27FC236}">
                <a16:creationId xmlns:a16="http://schemas.microsoft.com/office/drawing/2014/main" id="{86256EFF-F619-704C-A238-F28E2C9765C7}"/>
              </a:ext>
            </a:extLst>
          </p:cNvPr>
          <p:cNvSpPr/>
          <p:nvPr/>
        </p:nvSpPr>
        <p:spPr>
          <a:xfrm>
            <a:off x="6985000" y="3810000"/>
            <a:ext cx="1854200" cy="635000"/>
          </a:xfrm>
          <a:prstGeom prst="rect">
            <a:avLst/>
          </a:prstGeom>
          <a:solidFill>
            <a:srgbClr val="285888"/>
          </a:solidFill>
          <a:ln w="12700" cap="flat" cmpd="sng" algn="ctr">
            <a:solidFill>
              <a:srgbClr val="28588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900">
                <a:solidFill>
                  <a:srgbClr val="FFFFFF"/>
                </a:solidFill>
                <a:latin typeface="Meiryo"/>
                <a:ea typeface="Meiryo"/>
              </a:rPr>
              <a:t>ファシリテーション
エージェント
未提示の</a:t>
            </a:r>
            <a:r>
              <a:rPr lang="en-US" altLang="ja-JP" sz="900">
                <a:solidFill>
                  <a:srgbClr val="FFFFFF"/>
                </a:solidFill>
                <a:latin typeface="Meiryo"/>
                <a:ea typeface="Meiryo"/>
              </a:rPr>
              <a:t>"</a:t>
            </a:r>
            <a:r>
              <a:rPr lang="ja-JP" altLang="en-US" sz="900">
                <a:solidFill>
                  <a:srgbClr val="FFFFFF"/>
                </a:solidFill>
                <a:latin typeface="Meiryo"/>
                <a:ea typeface="Meiryo"/>
              </a:rPr>
              <a:t>反対側</a:t>
            </a:r>
            <a:r>
              <a:rPr lang="en-US" altLang="ja-JP" sz="900">
                <a:solidFill>
                  <a:srgbClr val="FFFFFF"/>
                </a:solidFill>
                <a:latin typeface="Meiryo"/>
                <a:ea typeface="Meiryo"/>
              </a:rPr>
              <a:t>"</a:t>
            </a:r>
            <a:r>
              <a:rPr lang="ja-JP" altLang="en-US" sz="900">
                <a:solidFill>
                  <a:srgbClr val="FFFFFF"/>
                </a:solidFill>
                <a:latin typeface="Meiryo"/>
                <a:ea typeface="Meiryo"/>
              </a:rPr>
              <a:t>を選んで提示</a:t>
            </a:r>
          </a:p>
        </p:txBody>
      </p:sp>
      <p:sp>
        <p:nvSpPr>
          <p:cNvPr id="31" name="正方形/長方形 30">
            <a:extLst>
              <a:ext uri="{FF2B5EF4-FFF2-40B4-BE49-F238E27FC236}">
                <a16:creationId xmlns:a16="http://schemas.microsoft.com/office/drawing/2014/main" id="{226E80EB-7810-CD4D-BC91-13396715E932}"/>
              </a:ext>
            </a:extLst>
          </p:cNvPr>
          <p:cNvSpPr/>
          <p:nvPr/>
        </p:nvSpPr>
        <p:spPr>
          <a:xfrm>
            <a:off x="6985000" y="4572000"/>
            <a:ext cx="1854200" cy="355600"/>
          </a:xfrm>
          <a:prstGeom prst="rect">
            <a:avLst/>
          </a:prstGeom>
          <a:solidFill>
            <a:srgbClr val="FFFFFF"/>
          </a:solidFill>
          <a:ln w="12700" cap="flat" cmpd="sng" algn="ctr">
            <a:solidFill>
              <a:srgbClr val="A0A0A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ja-JP" altLang="en-US" sz="900">
                <a:solidFill>
                  <a:srgbClr val="181828"/>
                </a:solidFill>
                <a:latin typeface="Meiryo"/>
                <a:ea typeface="Meiryo"/>
              </a:rPr>
              <a:t>参加者へ一言
（関係ラベル付き）</a:t>
            </a:r>
          </a:p>
        </p:txBody>
      </p:sp>
      <p:sp>
        <p:nvSpPr>
          <p:cNvPr id="32" name="下矢印 31">
            <a:extLst>
              <a:ext uri="{FF2B5EF4-FFF2-40B4-BE49-F238E27FC236}">
                <a16:creationId xmlns:a16="http://schemas.microsoft.com/office/drawing/2014/main" id="{8F6C172A-DD6C-6246-B666-2FB19F11CEB7}"/>
              </a:ext>
            </a:extLst>
          </p:cNvPr>
          <p:cNvSpPr/>
          <p:nvPr/>
        </p:nvSpPr>
        <p:spPr>
          <a:xfrm>
            <a:off x="7835900" y="4470400"/>
            <a:ext cx="177800" cy="1016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正方形/長方形 13">
            <a:extLst>
              <a:ext uri="{FF2B5EF4-FFF2-40B4-BE49-F238E27FC236}">
                <a16:creationId xmlns:a16="http://schemas.microsoft.com/office/drawing/2014/main" id="{CCC0AC8E-4A3B-D449-800A-21BC965CF4E6}"/>
              </a:ext>
            </a:extLst>
          </p:cNvPr>
          <p:cNvSpPr/>
          <p:nvPr/>
        </p:nvSpPr>
        <p:spPr>
          <a:xfrm>
            <a:off x="3683000" y="3691709"/>
            <a:ext cx="2095500" cy="25400"/>
          </a:xfrm>
          <a:prstGeom prst="rect">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4" name="正方形/長方形 23">
            <a:extLst>
              <a:ext uri="{FF2B5EF4-FFF2-40B4-BE49-F238E27FC236}">
                <a16:creationId xmlns:a16="http://schemas.microsoft.com/office/drawing/2014/main" id="{78C658B9-BEE3-B246-BA84-D7FB67E4A57A}"/>
              </a:ext>
            </a:extLst>
          </p:cNvPr>
          <p:cNvSpPr/>
          <p:nvPr/>
        </p:nvSpPr>
        <p:spPr>
          <a:xfrm>
            <a:off x="3670300" y="3683000"/>
            <a:ext cx="25400" cy="190500"/>
          </a:xfrm>
          <a:prstGeom prst="rect">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上矢印 26">
            <a:extLst>
              <a:ext uri="{FF2B5EF4-FFF2-40B4-BE49-F238E27FC236}">
                <a16:creationId xmlns:a16="http://schemas.microsoft.com/office/drawing/2014/main" id="{4E7AF748-A573-A646-9B3F-C50B5932BB3E}"/>
              </a:ext>
            </a:extLst>
          </p:cNvPr>
          <p:cNvSpPr/>
          <p:nvPr/>
        </p:nvSpPr>
        <p:spPr>
          <a:xfrm>
            <a:off x="5711009" y="3513909"/>
            <a:ext cx="88900" cy="203200"/>
          </a:xfrm>
          <a:prstGeom prst="up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Tree>
    <p:extLst>
      <p:ext uri="{BB962C8B-B14F-4D97-AF65-F5344CB8AC3E}">
        <p14:creationId xmlns:p14="http://schemas.microsoft.com/office/powerpoint/2010/main" val="987588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altLang="en-US" sz="2112" b="1" dirty="0">
                <a:solidFill>
                  <a:srgbClr val="285888"/>
                </a:solidFill>
                <a:latin typeface="Meiryo" pitchFamily="34" charset="0"/>
                <a:ea typeface="Meiryo" pitchFamily="34" charset="-122"/>
                <a:cs typeface="Meiryo" pitchFamily="34" charset="-120"/>
              </a:rPr>
              <a:t>具体例 ｜ </a:t>
            </a:r>
            <a:r>
              <a:rPr lang="ja-JP" altLang="en-US" sz="2112" b="1" dirty="0">
                <a:solidFill>
                  <a:srgbClr val="181828"/>
                </a:solidFill>
                <a:latin typeface="Meiryo" pitchFamily="34" charset="0"/>
                <a:ea typeface="Meiryo" pitchFamily="34" charset="-122"/>
                <a:cs typeface="Meiryo" pitchFamily="34" charset="-120"/>
              </a:rPr>
              <a:t>議論グラフの構築過程</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7160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設定：「大学のカフェテリアでプラスチック容器を廃止すべきか」</a:t>
            </a:r>
            <a:endParaRPr lang="en-US" sz="1200" dirty="0"/>
          </a:p>
        </p:txBody>
      </p:sp>
      <p:sp>
        <p:nvSpPr>
          <p:cNvPr id="7" name="Text 5"/>
          <p:cNvSpPr/>
          <p:nvPr/>
        </p:nvSpPr>
        <p:spPr>
          <a:xfrm>
            <a:off x="914400" y="1874520"/>
            <a:ext cx="2468880" cy="731520"/>
          </a:xfrm>
          <a:prstGeom prst="roundRect">
            <a:avLst>
              <a:gd name="adj" fmla="val 7500"/>
            </a:avLst>
          </a:prstGeom>
          <a:solidFill>
            <a:srgbClr val="E6EAF2"/>
          </a:solidFill>
          <a:ln w="19050">
            <a:solidFill>
              <a:srgbClr val="243F66"/>
            </a:solidFill>
          </a:ln>
        </p:spPr>
        <p:txBody>
          <a:bodyPr wrap="square" lIns="38100" tIns="38100" rIns="38100" bIns="38100" rtlCol="0" anchor="ctr"/>
          <a:lstStyle/>
          <a:p>
            <a:pPr marL="0" indent="0" algn="ctr">
              <a:buNone/>
            </a:pPr>
            <a:r>
              <a:rPr lang="en-US" sz="1200" b="1" dirty="0">
                <a:solidFill>
                  <a:srgbClr val="181828"/>
                </a:solidFill>
                <a:latin typeface="Meiryo"/>
                <a:ea typeface="Meiryo"/>
              </a:rPr>
              <a:t>A1  廃止すべき</a:t>
            </a:r>
          </a:p>
          <a:p>
            <a:pPr marL="0" indent="0" algn="ctr">
              <a:buNone/>
            </a:pPr>
            <a:r>
              <a:rPr lang="ja-JP" sz="1200" dirty="0">
                <a:solidFill>
                  <a:srgbClr val="181828"/>
                </a:solidFill>
                <a:latin typeface="Meiryo" pitchFamily="34" charset="0"/>
                <a:ea typeface="Meiryo" pitchFamily="34" charset="-122"/>
                <a:cs typeface="Meiryo" pitchFamily="34" charset="-120"/>
              </a:rPr>
              <a:t>主張（発話・Aさん）</a:t>
            </a:r>
          </a:p>
        </p:txBody>
      </p:sp>
      <p:sp>
        <p:nvSpPr>
          <p:cNvPr id="8" name="Text 6"/>
          <p:cNvSpPr/>
          <p:nvPr/>
        </p:nvSpPr>
        <p:spPr>
          <a:xfrm>
            <a:off x="914400" y="3200400"/>
            <a:ext cx="2468880" cy="731520"/>
          </a:xfrm>
          <a:prstGeom prst="roundRect">
            <a:avLst>
              <a:gd name="adj" fmla="val 7500"/>
            </a:avLst>
          </a:prstGeom>
          <a:solidFill>
            <a:srgbClr val="E6EAF2"/>
          </a:solidFill>
          <a:ln w="19050">
            <a:solidFill>
              <a:srgbClr val="243F66"/>
            </a:solidFill>
          </a:ln>
        </p:spPr>
        <p:txBody>
          <a:bodyPr wrap="square" lIns="38100" tIns="38100" rIns="38100" bIns="38100" rtlCol="0" anchor="ctr"/>
          <a:lstStyle/>
          <a:p>
            <a:pPr marL="0" indent="0" algn="ctr">
              <a:buNone/>
            </a:pPr>
            <a:r>
              <a:rPr lang="en-US" sz="1200" b="1" dirty="0">
                <a:solidFill>
                  <a:srgbClr val="181828"/>
                </a:solidFill>
                <a:latin typeface="Meiryo"/>
                <a:ea typeface="Meiryo"/>
              </a:rPr>
              <a:t>A2  紙容器はコスト3倍</a:t>
            </a:r>
          </a:p>
          <a:p>
            <a:pPr marL="0" indent="0" algn="ctr">
              <a:buNone/>
            </a:pPr>
            <a:r>
              <a:rPr lang="ja-JP" sz="1200" dirty="0">
                <a:solidFill>
                  <a:srgbClr val="181828"/>
                </a:solidFill>
                <a:latin typeface="Meiryo" pitchFamily="34" charset="0"/>
                <a:ea typeface="Meiryo" pitchFamily="34" charset="-122"/>
                <a:cs typeface="Meiryo" pitchFamily="34" charset="-120"/>
              </a:rPr>
              <a:t>主張（発話・Bさん）</a:t>
            </a:r>
          </a:p>
        </p:txBody>
      </p:sp>
      <p:sp>
        <p:nvSpPr>
          <p:cNvPr id="9" name="Text 7"/>
          <p:cNvSpPr/>
          <p:nvPr/>
        </p:nvSpPr>
        <p:spPr>
          <a:xfrm>
            <a:off x="5669280" y="1874520"/>
            <a:ext cx="2468880" cy="731520"/>
          </a:xfrm>
          <a:prstGeom prst="roundRect">
            <a:avLst>
              <a:gd name="adj" fmla="val 7500"/>
            </a:avLst>
          </a:prstGeom>
          <a:solidFill>
            <a:srgbClr val="EDEDED"/>
          </a:solidFill>
          <a:ln w="19050">
            <a:solidFill>
              <a:srgbClr val="9A9A9A"/>
            </a:solidFill>
          </a:ln>
        </p:spPr>
        <p:txBody>
          <a:bodyPr wrap="square" lIns="38100" tIns="38100" rIns="38100" bIns="38100" rtlCol="0" anchor="ctr"/>
          <a:lstStyle/>
          <a:p>
            <a:pPr marL="0" indent="0" algn="ctr">
              <a:buNone/>
            </a:pPr>
            <a:r>
              <a:rPr lang="en-US" sz="1200" b="1" dirty="0">
                <a:solidFill>
                  <a:srgbClr val="181828"/>
                </a:solidFill>
                <a:latin typeface="Meiryo"/>
                <a:ea typeface="Meiryo"/>
              </a:rPr>
              <a:t>A4  バイオプラで代替可</a:t>
            </a:r>
          </a:p>
          <a:p>
            <a:pPr marL="0" indent="0" algn="ctr">
              <a:buNone/>
            </a:pPr>
            <a:r>
              <a:rPr lang="ja-JP" sz="1200" dirty="0">
                <a:solidFill>
                  <a:srgbClr val="181828"/>
                </a:solidFill>
                <a:latin typeface="Meiryo" pitchFamily="34" charset="0"/>
                <a:ea typeface="Meiryo" pitchFamily="34" charset="-122"/>
                <a:cs typeface="Meiryo" pitchFamily="34" charset="-120"/>
              </a:rPr>
              <a:t>事実（Web検索）</a:t>
            </a:r>
          </a:p>
        </p:txBody>
      </p:sp>
      <p:sp>
        <p:nvSpPr>
          <p:cNvPr id="10" name="Text 8"/>
          <p:cNvSpPr/>
          <p:nvPr/>
        </p:nvSpPr>
        <p:spPr>
          <a:xfrm>
            <a:off x="5669280" y="3200400"/>
            <a:ext cx="2468880" cy="731520"/>
          </a:xfrm>
          <a:prstGeom prst="roundRect">
            <a:avLst>
              <a:gd name="adj" fmla="val 7500"/>
            </a:avLst>
          </a:prstGeom>
          <a:solidFill>
            <a:srgbClr val="EDEDED"/>
          </a:solidFill>
          <a:ln w="19050">
            <a:solidFill>
              <a:srgbClr val="9A9A9A"/>
            </a:solidFill>
          </a:ln>
        </p:spPr>
        <p:txBody>
          <a:bodyPr wrap="square" lIns="38100" tIns="38100" rIns="38100" bIns="38100" rtlCol="0" anchor="ctr"/>
          <a:lstStyle/>
          <a:p>
            <a:pPr marL="0" indent="0" algn="ctr">
              <a:buNone/>
            </a:pPr>
            <a:r>
              <a:rPr lang="en-US" sz="1200" b="1" dirty="0">
                <a:solidFill>
                  <a:srgbClr val="181828"/>
                </a:solidFill>
                <a:latin typeface="Meiryo"/>
                <a:ea typeface="Meiryo"/>
              </a:rPr>
              <a:t>A3  コスト増は初年度のみ</a:t>
            </a:r>
          </a:p>
          <a:p>
            <a:pPr marL="0" indent="0" algn="ctr">
              <a:buNone/>
            </a:pPr>
            <a:r>
              <a:rPr lang="ja-JP" sz="1200" dirty="0">
                <a:solidFill>
                  <a:srgbClr val="181828"/>
                </a:solidFill>
                <a:latin typeface="Meiryo" pitchFamily="34" charset="0"/>
                <a:ea typeface="Meiryo" pitchFamily="34" charset="-122"/>
                <a:cs typeface="Meiryo" pitchFamily="34" charset="-120"/>
              </a:rPr>
              <a:t>事実（文献）</a:t>
            </a:r>
          </a:p>
        </p:txBody>
      </p:sp>
      <p:sp>
        <p:nvSpPr>
          <p:cNvPr id="11" name="Shape 9"/>
          <p:cNvSpPr/>
          <p:nvPr/>
        </p:nvSpPr>
        <p:spPr>
          <a:xfrm>
            <a:off x="2146300" y="2616200"/>
            <a:ext cx="0" cy="584200"/>
          </a:xfrm>
          <a:prstGeom prst="line">
            <a:avLst/>
          </a:prstGeom>
          <a:noFill/>
          <a:ln w="25400">
            <a:solidFill>
              <a:srgbClr val="C00000"/>
            </a:solidFill>
            <a:tailEnd type="triangle" w="med" len="med"/>
          </a:ln>
        </p:spPr>
        <p:txBody>
          <a:bodyPr/>
          <a:lstStyle/>
          <a:p>
            <a:endParaRPr lang="ja-JP" altLang="en-US"/>
          </a:p>
        </p:txBody>
      </p:sp>
      <p:sp>
        <p:nvSpPr>
          <p:cNvPr id="12" name="Text 10"/>
          <p:cNvSpPr/>
          <p:nvPr/>
        </p:nvSpPr>
        <p:spPr>
          <a:xfrm>
            <a:off x="1651000" y="2794000"/>
            <a:ext cx="736600" cy="203200"/>
          </a:xfrm>
          <a:prstGeom prst="rect">
            <a:avLst/>
          </a:prstGeom>
          <a:noFill/>
          <a:ln/>
        </p:spPr>
        <p:txBody>
          <a:bodyPr wrap="square" lIns="0" tIns="0" rIns="0" bIns="0" rtlCol="0" anchor="ctr"/>
          <a:lstStyle/>
          <a:p>
            <a:pPr marL="0" indent="0">
              <a:buNone/>
            </a:pPr>
            <a:r>
              <a:rPr lang="en-US" sz="1200" b="1" dirty="0">
                <a:solidFill>
                  <a:srgbClr val="C00000"/>
                </a:solidFill>
                <a:latin typeface="Meiryo" pitchFamily="34" charset="0"/>
                <a:ea typeface="Meiryo" pitchFamily="34" charset="-122"/>
                <a:cs typeface="Meiryo" pitchFamily="34" charset="-120"/>
              </a:rPr>
              <a:t>攻撃</a:t>
            </a:r>
            <a:endParaRPr lang="en-US" sz="1200" dirty="0"/>
          </a:p>
        </p:txBody>
      </p:sp>
      <p:sp>
        <p:nvSpPr>
          <p:cNvPr id="13" name="Shape 11"/>
          <p:cNvSpPr/>
          <p:nvPr/>
        </p:nvSpPr>
        <p:spPr>
          <a:xfrm>
            <a:off x="3378200" y="3568700"/>
            <a:ext cx="2286000" cy="0"/>
          </a:xfrm>
          <a:prstGeom prst="line">
            <a:avLst/>
          </a:prstGeom>
          <a:noFill/>
          <a:ln w="25400">
            <a:solidFill>
              <a:srgbClr val="C00000"/>
            </a:solidFill>
            <a:headEnd type="triangle" w="med" len="med"/>
          </a:ln>
        </p:spPr>
        <p:txBody>
          <a:bodyPr/>
          <a:lstStyle/>
          <a:p>
            <a:endParaRPr lang="ja-JP" altLang="en-US"/>
          </a:p>
        </p:txBody>
      </p:sp>
      <p:sp>
        <p:nvSpPr>
          <p:cNvPr id="14" name="Text 12"/>
          <p:cNvSpPr/>
          <p:nvPr/>
        </p:nvSpPr>
        <p:spPr>
          <a:xfrm>
            <a:off x="4152900" y="3314700"/>
            <a:ext cx="731520" cy="201168"/>
          </a:xfrm>
          <a:prstGeom prst="rect">
            <a:avLst/>
          </a:prstGeom>
          <a:noFill/>
          <a:ln/>
        </p:spPr>
        <p:txBody>
          <a:bodyPr wrap="square" lIns="0" tIns="0" rIns="0" bIns="0" rtlCol="0" anchor="ctr"/>
          <a:lstStyle/>
          <a:p>
            <a:pPr marL="0" indent="0" algn="ctr">
              <a:buNone/>
            </a:pPr>
            <a:r>
              <a:rPr lang="en-US" sz="1200" b="1" dirty="0">
                <a:solidFill>
                  <a:srgbClr val="C00000"/>
                </a:solidFill>
                <a:latin typeface="Meiryo" pitchFamily="34" charset="0"/>
                <a:ea typeface="Meiryo" pitchFamily="34" charset="-122"/>
                <a:cs typeface="Meiryo" pitchFamily="34" charset="-120"/>
              </a:rPr>
              <a:t>攻撃</a:t>
            </a:r>
            <a:endParaRPr lang="en-US" sz="1200" dirty="0"/>
          </a:p>
        </p:txBody>
      </p:sp>
      <p:sp>
        <p:nvSpPr>
          <p:cNvPr id="15" name="Shape 13"/>
          <p:cNvSpPr/>
          <p:nvPr/>
        </p:nvSpPr>
        <p:spPr>
          <a:xfrm>
            <a:off x="3378200" y="2247900"/>
            <a:ext cx="2286000" cy="0"/>
          </a:xfrm>
          <a:prstGeom prst="line">
            <a:avLst/>
          </a:prstGeom>
          <a:noFill/>
          <a:ln w="25400">
            <a:solidFill>
              <a:srgbClr val="2E7D32"/>
            </a:solidFill>
            <a:headEnd type="triangle" w="med" len="med"/>
          </a:ln>
        </p:spPr>
        <p:txBody>
          <a:bodyPr/>
          <a:lstStyle/>
          <a:p>
            <a:endParaRPr lang="ja-JP" altLang="en-US"/>
          </a:p>
        </p:txBody>
      </p:sp>
      <p:sp>
        <p:nvSpPr>
          <p:cNvPr id="16" name="Text 14"/>
          <p:cNvSpPr/>
          <p:nvPr/>
        </p:nvSpPr>
        <p:spPr>
          <a:xfrm>
            <a:off x="4152900" y="1981200"/>
            <a:ext cx="731520" cy="201168"/>
          </a:xfrm>
          <a:prstGeom prst="rect">
            <a:avLst/>
          </a:prstGeom>
          <a:noFill/>
          <a:ln/>
        </p:spPr>
        <p:txBody>
          <a:bodyPr wrap="square" lIns="0" tIns="0" rIns="0" bIns="0" rtlCol="0" anchor="ctr"/>
          <a:lstStyle/>
          <a:p>
            <a:pPr marL="0" indent="0" algn="ctr">
              <a:buNone/>
            </a:pPr>
            <a:r>
              <a:rPr lang="en-US" sz="1200" b="1" dirty="0">
                <a:solidFill>
                  <a:srgbClr val="2E7D32"/>
                </a:solidFill>
                <a:latin typeface="Meiryo" pitchFamily="34" charset="0"/>
                <a:ea typeface="Meiryo" pitchFamily="34" charset="-122"/>
                <a:cs typeface="Meiryo" pitchFamily="34" charset="-120"/>
              </a:rPr>
              <a:t>支持</a:t>
            </a:r>
            <a:endParaRPr lang="en-US" sz="1200" dirty="0"/>
          </a:p>
        </p:txBody>
      </p:sp>
    </p:spTree>
    <p:extLst>
      <p:ext uri="{BB962C8B-B14F-4D97-AF65-F5344CB8AC3E}">
        <p14:creationId xmlns:p14="http://schemas.microsoft.com/office/powerpoint/2010/main" val="1810788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9EA2780-2470-1045-8809-4634C02D2CBE}"/>
              </a:ext>
            </a:extLst>
          </p:cNvPr>
          <p:cNvSpPr txBox="1"/>
          <p:nvPr/>
        </p:nvSpPr>
        <p:spPr>
          <a:xfrm>
            <a:off x="457200" y="241300"/>
            <a:ext cx="8229600" cy="279400"/>
          </a:xfrm>
          <a:prstGeom prst="rect">
            <a:avLst/>
          </a:prstGeom>
          <a:noFill/>
          <a:ln>
            <a:noFill/>
          </a:ln>
        </p:spPr>
        <p:txBody>
          <a:bodyPr vertOverflow="overflow" vert="horz" wrap="square" rtlCol="0" anchor="t">
            <a:noAutofit/>
          </a:bodyPr>
          <a:lstStyle/>
          <a:p>
            <a:pPr algn="l"/>
            <a:r>
              <a:rPr lang="en-US" altLang="ja-JP" sz="1200">
                <a:solidFill>
                  <a:srgbClr val="285888"/>
                </a:solidFill>
                <a:latin typeface="Meiryo"/>
                <a:ea typeface="Meiryo"/>
              </a:rPr>
              <a:t>3. </a:t>
            </a:r>
            <a:r>
              <a:rPr lang="ja-JP" altLang="en-US" sz="1200">
                <a:solidFill>
                  <a:srgbClr val="285888"/>
                </a:solidFill>
                <a:latin typeface="Meiryo"/>
                <a:ea typeface="Meiryo"/>
              </a:rPr>
              <a:t>提案手法</a:t>
            </a:r>
          </a:p>
        </p:txBody>
      </p:sp>
      <p:sp>
        <p:nvSpPr>
          <p:cNvPr id="3" name="テキスト ボックス 2">
            <a:extLst>
              <a:ext uri="{FF2B5EF4-FFF2-40B4-BE49-F238E27FC236}">
                <a16:creationId xmlns:a16="http://schemas.microsoft.com/office/drawing/2014/main" id="{5E2FEA8C-14CA-3548-AE6D-7BBCE004CA1D}"/>
              </a:ext>
            </a:extLst>
          </p:cNvPr>
          <p:cNvSpPr txBox="1"/>
          <p:nvPr/>
        </p:nvSpPr>
        <p:spPr>
          <a:xfrm>
            <a:off x="457200" y="495300"/>
            <a:ext cx="8229600" cy="571500"/>
          </a:xfrm>
          <a:prstGeom prst="rect">
            <a:avLst/>
          </a:prstGeom>
          <a:noFill/>
          <a:ln>
            <a:noFill/>
          </a:ln>
        </p:spPr>
        <p:txBody>
          <a:bodyPr vertOverflow="overflow" vert="horz" wrap="square" rtlCol="0" anchor="t">
            <a:noAutofit/>
          </a:bodyPr>
          <a:lstStyle/>
          <a:p>
            <a:pPr algn="l"/>
            <a:r>
              <a:rPr lang="ja-JP" altLang="en-US" sz="2100" b="1">
                <a:solidFill>
                  <a:srgbClr val="285888"/>
                </a:solidFill>
                <a:latin typeface="Meiryo"/>
                <a:ea typeface="Meiryo"/>
              </a:rPr>
              <a:t>比較 ｜ </a:t>
            </a:r>
            <a:r>
              <a:rPr lang="en" altLang="ja-JP" sz="2100" b="1">
                <a:solidFill>
                  <a:srgbClr val="181828"/>
                </a:solidFill>
                <a:latin typeface="Meiryo"/>
                <a:ea typeface="Meiryo"/>
              </a:rPr>
              <a:t>FlatRAG</a:t>
            </a:r>
            <a:r>
              <a:rPr lang="ja-JP" altLang="en-US" sz="2100" b="1">
                <a:solidFill>
                  <a:srgbClr val="181828"/>
                </a:solidFill>
                <a:latin typeface="Meiryo"/>
                <a:ea typeface="Meiryo"/>
              </a:rPr>
              <a:t>との違いと優位性</a:t>
            </a:r>
          </a:p>
        </p:txBody>
      </p:sp>
      <p:sp>
        <p:nvSpPr>
          <p:cNvPr id="4" name="正方形/長方形 3">
            <a:extLst>
              <a:ext uri="{FF2B5EF4-FFF2-40B4-BE49-F238E27FC236}">
                <a16:creationId xmlns:a16="http://schemas.microsoft.com/office/drawing/2014/main" id="{3F8D508D-19BA-7B41-AAE8-996719278878}"/>
              </a:ext>
            </a:extLst>
          </p:cNvPr>
          <p:cNvSpPr/>
          <p:nvPr/>
        </p:nvSpPr>
        <p:spPr>
          <a:xfrm>
            <a:off x="469900" y="1092200"/>
            <a:ext cx="1003300" cy="38100"/>
          </a:xfrm>
          <a:prstGeom prst="rect">
            <a:avLst/>
          </a:prstGeom>
          <a:solidFill>
            <a:srgbClr val="28588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5" name="正方形/長方形 4">
            <a:extLst>
              <a:ext uri="{FF2B5EF4-FFF2-40B4-BE49-F238E27FC236}">
                <a16:creationId xmlns:a16="http://schemas.microsoft.com/office/drawing/2014/main" id="{BF70665C-E9EF-B34C-9E34-2188BB63C187}"/>
              </a:ext>
            </a:extLst>
          </p:cNvPr>
          <p:cNvSpPr/>
          <p:nvPr/>
        </p:nvSpPr>
        <p:spPr>
          <a:xfrm>
            <a:off x="457200" y="4876800"/>
            <a:ext cx="8229600" cy="25400"/>
          </a:xfrm>
          <a:prstGeom prst="rect">
            <a:avLst/>
          </a:prstGeom>
          <a:solidFill>
            <a:srgbClr val="D0D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D0C6D58F-B35A-9F48-9907-9D75CA1853A9}"/>
              </a:ext>
            </a:extLst>
          </p:cNvPr>
          <p:cNvSpPr txBox="1"/>
          <p:nvPr/>
        </p:nvSpPr>
        <p:spPr>
          <a:xfrm>
            <a:off x="457200" y="1244600"/>
            <a:ext cx="2540000" cy="228600"/>
          </a:xfrm>
          <a:prstGeom prst="rect">
            <a:avLst/>
          </a:prstGeom>
          <a:noFill/>
          <a:ln>
            <a:noFill/>
          </a:ln>
        </p:spPr>
        <p:txBody>
          <a:bodyPr vertOverflow="overflow" vert="horz" wrap="square" rtlCol="0" anchor="ctr" anchorCtr="0">
            <a:noAutofit/>
          </a:bodyPr>
          <a:lstStyle/>
          <a:p>
            <a:pPr algn="l">
              <a:buNone/>
            </a:pPr>
            <a:r>
              <a:rPr lang="ja-JP" sz="1300" b="1" dirty="0">
                <a:solidFill>
                  <a:srgbClr val="5A5A72"/>
                </a:solidFill>
                <a:latin typeface="Meiryo" pitchFamily="34" charset="0"/>
                <a:ea typeface="Meiryo" pitchFamily="34" charset="-122"/>
                <a:cs typeface="Meiryo" pitchFamily="34" charset="-120"/>
              </a:rPr>
              <a:t>FlatRAG（既存）</a:t>
            </a:r>
          </a:p>
        </p:txBody>
      </p:sp>
      <p:sp>
        <p:nvSpPr>
          <p:cNvPr id="8" name="テキスト ボックス 7">
            <a:extLst>
              <a:ext uri="{FF2B5EF4-FFF2-40B4-BE49-F238E27FC236}">
                <a16:creationId xmlns:a16="http://schemas.microsoft.com/office/drawing/2014/main" id="{FD3D7109-8CD0-BD43-A3C3-4C24331E3337}"/>
              </a:ext>
            </a:extLst>
          </p:cNvPr>
          <p:cNvSpPr txBox="1"/>
          <p:nvPr/>
        </p:nvSpPr>
        <p:spPr>
          <a:xfrm>
            <a:off x="2286000" y="1549400"/>
            <a:ext cx="1117600" cy="177800"/>
          </a:xfrm>
          <a:prstGeom prst="rect">
            <a:avLst/>
          </a:prstGeom>
          <a:noFill/>
          <a:ln>
            <a:noFill/>
          </a:ln>
        </p:spPr>
        <p:txBody>
          <a:bodyPr vertOverflow="overflow" vert="horz" wrap="square" rtlCol="0" anchor="ctr" anchorCtr="0">
            <a:noAutofit/>
          </a:bodyPr>
          <a:lstStyle/>
          <a:p>
            <a:pPr algn="ctr">
              <a:buNone/>
            </a:pPr>
            <a:r>
              <a:rPr lang="ja-JP" sz="1100" dirty="0">
                <a:solidFill>
                  <a:srgbClr val="5A5A72"/>
                </a:solidFill>
                <a:latin typeface="Meiryo" pitchFamily="34" charset="0"/>
                <a:ea typeface="Meiryo" pitchFamily="34" charset="-122"/>
                <a:cs typeface="Meiryo" pitchFamily="34" charset="-120"/>
              </a:rPr>
              <a:t>類似度で検索</a:t>
            </a:r>
          </a:p>
        </p:txBody>
      </p:sp>
      <p:sp>
        <p:nvSpPr>
          <p:cNvPr id="9" name="右矢印 8">
            <a:extLst>
              <a:ext uri="{FF2B5EF4-FFF2-40B4-BE49-F238E27FC236}">
                <a16:creationId xmlns:a16="http://schemas.microsoft.com/office/drawing/2014/main" id="{D5EFCF71-4EA9-834E-AF2F-B7B0D6F29DB3}"/>
              </a:ext>
            </a:extLst>
          </p:cNvPr>
          <p:cNvSpPr/>
          <p:nvPr/>
        </p:nvSpPr>
        <p:spPr>
          <a:xfrm>
            <a:off x="2286000" y="1828800"/>
            <a:ext cx="10160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1" name="右矢印 10">
            <a:extLst>
              <a:ext uri="{FF2B5EF4-FFF2-40B4-BE49-F238E27FC236}">
                <a16:creationId xmlns:a16="http://schemas.microsoft.com/office/drawing/2014/main" id="{38B94E1F-31D8-0D44-BD72-DA22C152D4A0}"/>
              </a:ext>
            </a:extLst>
          </p:cNvPr>
          <p:cNvSpPr/>
          <p:nvPr/>
        </p:nvSpPr>
        <p:spPr>
          <a:xfrm>
            <a:off x="5016500" y="1828800"/>
            <a:ext cx="6350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5" name="テキスト ボックス 14">
            <a:extLst>
              <a:ext uri="{FF2B5EF4-FFF2-40B4-BE49-F238E27FC236}">
                <a16:creationId xmlns:a16="http://schemas.microsoft.com/office/drawing/2014/main" id="{BF387716-CA96-8C43-8946-AB317E97388E}"/>
              </a:ext>
            </a:extLst>
          </p:cNvPr>
          <p:cNvSpPr txBox="1"/>
          <p:nvPr/>
        </p:nvSpPr>
        <p:spPr>
          <a:xfrm>
            <a:off x="457200" y="2413000"/>
            <a:ext cx="8229600" cy="228600"/>
          </a:xfrm>
          <a:prstGeom prst="rect">
            <a:avLst/>
          </a:prstGeom>
          <a:noFill/>
          <a:ln>
            <a:noFill/>
          </a:ln>
        </p:spPr>
        <p:txBody>
          <a:bodyPr vertOverflow="overflow" vert="horz" wrap="square" rtlCol="0" anchor="t">
            <a:noAutofit/>
          </a:bodyPr>
          <a:lstStyle/>
          <a:p>
            <a:pPr algn="l">
              <a:buNone/>
            </a:pPr>
            <a:r>
              <a:rPr lang="ja-JP" sz="1200" dirty="0">
                <a:solidFill>
                  <a:srgbClr val="383858"/>
                </a:solidFill>
                <a:latin typeface="Meiryo" pitchFamily="34" charset="0"/>
                <a:ea typeface="Meiryo" pitchFamily="34" charset="-122"/>
                <a:cs typeface="Meiryo" pitchFamily="34" charset="-120"/>
              </a:rPr>
              <a:t>「似ている順」で引くので、反論が下位に埋もれる。</a:t>
            </a:r>
          </a:p>
        </p:txBody>
      </p:sp>
      <p:sp>
        <p:nvSpPr>
          <p:cNvPr id="16" name="正方形/長方形 15">
            <a:extLst>
              <a:ext uri="{FF2B5EF4-FFF2-40B4-BE49-F238E27FC236}">
                <a16:creationId xmlns:a16="http://schemas.microsoft.com/office/drawing/2014/main" id="{40821B30-974F-3242-B6D1-D3A3D3755A65}"/>
              </a:ext>
            </a:extLst>
          </p:cNvPr>
          <p:cNvSpPr/>
          <p:nvPr/>
        </p:nvSpPr>
        <p:spPr>
          <a:xfrm>
            <a:off x="457200" y="2768600"/>
            <a:ext cx="8229600" cy="12700"/>
          </a:xfrm>
          <a:prstGeom prst="rect">
            <a:avLst/>
          </a:prstGeom>
          <a:solidFill>
            <a:srgbClr val="D0D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B6EA0DE3-061E-2140-947E-5F523F8BD332}"/>
              </a:ext>
            </a:extLst>
          </p:cNvPr>
          <p:cNvSpPr txBox="1"/>
          <p:nvPr/>
        </p:nvSpPr>
        <p:spPr>
          <a:xfrm>
            <a:off x="457200" y="2870200"/>
            <a:ext cx="2540000" cy="228600"/>
          </a:xfrm>
          <a:prstGeom prst="rect">
            <a:avLst/>
          </a:prstGeom>
          <a:noFill/>
          <a:ln>
            <a:noFill/>
          </a:ln>
        </p:spPr>
        <p:txBody>
          <a:bodyPr vertOverflow="overflow" vert="horz" wrap="square" rtlCol="0" anchor="ctr" anchorCtr="0">
            <a:noAutofit/>
          </a:bodyPr>
          <a:lstStyle/>
          <a:p>
            <a:pPr algn="l">
              <a:buNone/>
            </a:pPr>
            <a:r>
              <a:rPr lang="ja-JP" sz="1300" b="1" dirty="0">
                <a:solidFill>
                  <a:srgbClr val="243F66"/>
                </a:solidFill>
                <a:latin typeface="Meiryo" pitchFamily="34" charset="0"/>
                <a:ea typeface="Meiryo" pitchFamily="34" charset="-122"/>
                <a:cs typeface="Meiryo" pitchFamily="34" charset="-120"/>
              </a:rPr>
              <a:t>提案手法</a:t>
            </a:r>
          </a:p>
        </p:txBody>
      </p:sp>
      <p:sp>
        <p:nvSpPr>
          <p:cNvPr id="19" name="テキスト ボックス 18">
            <a:extLst>
              <a:ext uri="{FF2B5EF4-FFF2-40B4-BE49-F238E27FC236}">
                <a16:creationId xmlns:a16="http://schemas.microsoft.com/office/drawing/2014/main" id="{4475375A-7C38-224B-A038-E4D5929FF7E7}"/>
              </a:ext>
            </a:extLst>
          </p:cNvPr>
          <p:cNvSpPr txBox="1"/>
          <p:nvPr/>
        </p:nvSpPr>
        <p:spPr>
          <a:xfrm>
            <a:off x="2286000" y="3200400"/>
            <a:ext cx="1117600" cy="177800"/>
          </a:xfrm>
          <a:prstGeom prst="rect">
            <a:avLst/>
          </a:prstGeom>
          <a:noFill/>
          <a:ln>
            <a:noFill/>
          </a:ln>
        </p:spPr>
        <p:txBody>
          <a:bodyPr vertOverflow="overflow" vert="horz" wrap="square" rtlCol="0" anchor="ctr" anchorCtr="0">
            <a:noAutofit/>
          </a:bodyPr>
          <a:lstStyle/>
          <a:p>
            <a:pPr algn="ctr">
              <a:buNone/>
            </a:pPr>
            <a:r>
              <a:rPr lang="ja-JP" sz="1100" dirty="0">
                <a:solidFill>
                  <a:srgbClr val="5A5A72"/>
                </a:solidFill>
                <a:latin typeface="Meiryo" pitchFamily="34" charset="0"/>
                <a:ea typeface="Meiryo" pitchFamily="34" charset="-122"/>
                <a:cs typeface="Meiryo" pitchFamily="34" charset="-120"/>
              </a:rPr>
              <a:t>関係で判定</a:t>
            </a:r>
          </a:p>
        </p:txBody>
      </p:sp>
      <p:sp>
        <p:nvSpPr>
          <p:cNvPr id="20" name="右矢印 19">
            <a:extLst>
              <a:ext uri="{FF2B5EF4-FFF2-40B4-BE49-F238E27FC236}">
                <a16:creationId xmlns:a16="http://schemas.microsoft.com/office/drawing/2014/main" id="{530C0341-26EA-3C4D-B16D-3590F3F25C01}"/>
              </a:ext>
            </a:extLst>
          </p:cNvPr>
          <p:cNvSpPr/>
          <p:nvPr/>
        </p:nvSpPr>
        <p:spPr>
          <a:xfrm>
            <a:off x="2286000" y="3479800"/>
            <a:ext cx="10160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2" name="右矢印 21">
            <a:extLst>
              <a:ext uri="{FF2B5EF4-FFF2-40B4-BE49-F238E27FC236}">
                <a16:creationId xmlns:a16="http://schemas.microsoft.com/office/drawing/2014/main" id="{5EFD8B03-ABE0-2C42-8692-A906ADD0DDF5}"/>
              </a:ext>
            </a:extLst>
          </p:cNvPr>
          <p:cNvSpPr/>
          <p:nvPr/>
        </p:nvSpPr>
        <p:spPr>
          <a:xfrm>
            <a:off x="5613400" y="3479800"/>
            <a:ext cx="228600" cy="127000"/>
          </a:xfrm>
          <a:prstGeom prst="right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テキスト ボックス 24">
            <a:extLst>
              <a:ext uri="{FF2B5EF4-FFF2-40B4-BE49-F238E27FC236}">
                <a16:creationId xmlns:a16="http://schemas.microsoft.com/office/drawing/2014/main" id="{E706ABD9-69D3-2F4D-A173-7351773B4031}"/>
              </a:ext>
            </a:extLst>
          </p:cNvPr>
          <p:cNvSpPr txBox="1"/>
          <p:nvPr/>
        </p:nvSpPr>
        <p:spPr>
          <a:xfrm>
            <a:off x="457200" y="4127500"/>
            <a:ext cx="8229600" cy="228600"/>
          </a:xfrm>
          <a:prstGeom prst="rect">
            <a:avLst/>
          </a:prstGeom>
          <a:noFill/>
          <a:ln>
            <a:noFill/>
          </a:ln>
        </p:spPr>
        <p:txBody>
          <a:bodyPr vertOverflow="overflow" vert="horz" wrap="square" rtlCol="0" anchor="t">
            <a:noAutofit/>
          </a:bodyPr>
          <a:lstStyle/>
          <a:p>
            <a:pPr algn="l">
              <a:buNone/>
            </a:pPr>
            <a:r>
              <a:rPr lang="ja-JP" sz="1200" dirty="0">
                <a:solidFill>
                  <a:srgbClr val="383858"/>
                </a:solidFill>
                <a:latin typeface="Meiryo" pitchFamily="34" charset="0"/>
                <a:ea typeface="Meiryo" pitchFamily="34" charset="-122"/>
                <a:cs typeface="Meiryo" pitchFamily="34" charset="-120"/>
              </a:rPr>
              <a:t>対象主張ごとに支持／反論を判定し、反論も必ず取り込む。</a:t>
            </a:r>
          </a:p>
        </p:txBody>
      </p:sp>
      <p:sp>
        <p:nvSpPr>
          <p:cNvPr id="26" name="正方形/長方形 25">
            <a:extLst>
              <a:ext uri="{FF2B5EF4-FFF2-40B4-BE49-F238E27FC236}">
                <a16:creationId xmlns:a16="http://schemas.microsoft.com/office/drawing/2014/main" id="{6461001B-7FAE-D14D-B39D-311302658D1E}"/>
              </a:ext>
            </a:extLst>
          </p:cNvPr>
          <p:cNvSpPr/>
          <p:nvPr/>
        </p:nvSpPr>
        <p:spPr>
          <a:xfrm>
            <a:off x="457200" y="1587500"/>
            <a:ext cx="1778000" cy="558800"/>
          </a:xfrm>
          <a:prstGeom prst="rect">
            <a:avLst/>
          </a:prstGeom>
          <a:solidFill>
            <a:srgbClr val="243F6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Meiryo"/>
                <a:ea typeface="Meiryo"/>
              </a:rPr>
              <a:t>主張 </a:t>
            </a:r>
            <a:r>
              <a:rPr lang="en" altLang="ja-JP" sz="1400" b="1">
                <a:solidFill>
                  <a:srgbClr val="FFFFFF"/>
                </a:solidFill>
                <a:latin typeface="Meiryo"/>
                <a:ea typeface="Meiryo"/>
              </a:rPr>
              <a:t>X</a:t>
            </a:r>
            <a:endParaRPr lang="ja-JP" altLang="en-US" sz="1400" b="1">
              <a:solidFill>
                <a:srgbClr val="FFFFFF"/>
              </a:solidFill>
              <a:latin typeface="Meiryo"/>
              <a:ea typeface="Meiryo"/>
            </a:endParaRPr>
          </a:p>
        </p:txBody>
      </p:sp>
      <p:sp>
        <p:nvSpPr>
          <p:cNvPr id="27" name="正方形/長方形 26">
            <a:extLst>
              <a:ext uri="{FF2B5EF4-FFF2-40B4-BE49-F238E27FC236}">
                <a16:creationId xmlns:a16="http://schemas.microsoft.com/office/drawing/2014/main" id="{F14C24C5-06F2-8C4C-8819-968D53EBC98E}"/>
              </a:ext>
            </a:extLst>
          </p:cNvPr>
          <p:cNvSpPr/>
          <p:nvPr/>
        </p:nvSpPr>
        <p:spPr>
          <a:xfrm>
            <a:off x="3403600" y="1587500"/>
            <a:ext cx="1524000" cy="5588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300">
                <a:solidFill>
                  <a:srgbClr val="181828"/>
                </a:solidFill>
                <a:latin typeface="Meiryo"/>
                <a:ea typeface="Meiryo"/>
              </a:rPr>
              <a:t>似た文章を取得</a:t>
            </a:r>
          </a:p>
        </p:txBody>
      </p:sp>
      <p:sp>
        <p:nvSpPr>
          <p:cNvPr id="28" name="正方形/長方形 27">
            <a:extLst>
              <a:ext uri="{FF2B5EF4-FFF2-40B4-BE49-F238E27FC236}">
                <a16:creationId xmlns:a16="http://schemas.microsoft.com/office/drawing/2014/main" id="{5B6E7A2F-E6A6-484A-BA80-E9EB4ECB462D}"/>
              </a:ext>
            </a:extLst>
          </p:cNvPr>
          <p:cNvSpPr/>
          <p:nvPr/>
        </p:nvSpPr>
        <p:spPr>
          <a:xfrm>
            <a:off x="5778500" y="1397000"/>
            <a:ext cx="2540000" cy="2794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181828"/>
                </a:solidFill>
                <a:latin typeface="Meiryo"/>
                <a:ea typeface="Meiryo"/>
              </a:rPr>
              <a:t>  主張 </a:t>
            </a:r>
            <a:r>
              <a:rPr lang="en" altLang="ja-JP" sz="1200">
                <a:solidFill>
                  <a:srgbClr val="181828"/>
                </a:solidFill>
                <a:latin typeface="Meiryo"/>
                <a:ea typeface="Meiryo"/>
              </a:rPr>
              <a:t>X </a:t>
            </a:r>
            <a:r>
              <a:rPr lang="ja-JP" altLang="en-US" sz="1200">
                <a:solidFill>
                  <a:srgbClr val="181828"/>
                </a:solidFill>
                <a:latin typeface="Meiryo"/>
                <a:ea typeface="Meiryo"/>
              </a:rPr>
              <a:t>を補強する事実</a:t>
            </a:r>
          </a:p>
        </p:txBody>
      </p:sp>
      <p:sp>
        <p:nvSpPr>
          <p:cNvPr id="29" name="正方形/長方形 28">
            <a:extLst>
              <a:ext uri="{FF2B5EF4-FFF2-40B4-BE49-F238E27FC236}">
                <a16:creationId xmlns:a16="http://schemas.microsoft.com/office/drawing/2014/main" id="{53BEC7C7-B081-6E45-B876-E7088D9108EF}"/>
              </a:ext>
            </a:extLst>
          </p:cNvPr>
          <p:cNvSpPr/>
          <p:nvPr/>
        </p:nvSpPr>
        <p:spPr>
          <a:xfrm>
            <a:off x="5778500" y="1727200"/>
            <a:ext cx="2540000" cy="2794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181828"/>
                </a:solidFill>
                <a:latin typeface="Meiryo"/>
                <a:ea typeface="Meiryo"/>
              </a:rPr>
              <a:t>  主張 </a:t>
            </a:r>
            <a:r>
              <a:rPr lang="en" altLang="ja-JP" sz="1200">
                <a:solidFill>
                  <a:srgbClr val="181828"/>
                </a:solidFill>
                <a:latin typeface="Meiryo"/>
                <a:ea typeface="Meiryo"/>
              </a:rPr>
              <a:t>X </a:t>
            </a:r>
            <a:r>
              <a:rPr lang="ja-JP" altLang="en-US" sz="1200">
                <a:solidFill>
                  <a:srgbClr val="181828"/>
                </a:solidFill>
                <a:latin typeface="Meiryo"/>
                <a:ea typeface="Meiryo"/>
              </a:rPr>
              <a:t>の言い換え</a:t>
            </a:r>
          </a:p>
        </p:txBody>
      </p:sp>
      <p:sp>
        <p:nvSpPr>
          <p:cNvPr id="30" name="正方形/長方形 29">
            <a:extLst>
              <a:ext uri="{FF2B5EF4-FFF2-40B4-BE49-F238E27FC236}">
                <a16:creationId xmlns:a16="http://schemas.microsoft.com/office/drawing/2014/main" id="{53BE02D3-8196-044D-8BF9-09828F26B52E}"/>
              </a:ext>
            </a:extLst>
          </p:cNvPr>
          <p:cNvSpPr/>
          <p:nvPr/>
        </p:nvSpPr>
        <p:spPr>
          <a:xfrm>
            <a:off x="5778500" y="2057400"/>
            <a:ext cx="2540000" cy="2794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8B3A3A"/>
                </a:solidFill>
                <a:latin typeface="Meiryo"/>
                <a:ea typeface="Meiryo"/>
              </a:rPr>
              <a:t>  反論 </a:t>
            </a:r>
            <a:r>
              <a:rPr lang="en" altLang="ja-JP" sz="1200">
                <a:solidFill>
                  <a:srgbClr val="8B3A3A"/>
                </a:solidFill>
                <a:latin typeface="Meiryo"/>
                <a:ea typeface="Meiryo"/>
              </a:rPr>
              <a:t>Z </a:t>
            </a:r>
            <a:r>
              <a:rPr lang="ja-JP" altLang="en-US" sz="1200">
                <a:solidFill>
                  <a:srgbClr val="8B3A3A"/>
                </a:solidFill>
                <a:latin typeface="Meiryo"/>
                <a:ea typeface="Meiryo"/>
              </a:rPr>
              <a:t>は下位で埋もれる</a:t>
            </a:r>
          </a:p>
        </p:txBody>
      </p:sp>
      <p:sp>
        <p:nvSpPr>
          <p:cNvPr id="31" name="正方形/長方形 30">
            <a:extLst>
              <a:ext uri="{FF2B5EF4-FFF2-40B4-BE49-F238E27FC236}">
                <a16:creationId xmlns:a16="http://schemas.microsoft.com/office/drawing/2014/main" id="{9EF4DDD6-F4BB-9F46-B126-B17E3108900F}"/>
              </a:ext>
            </a:extLst>
          </p:cNvPr>
          <p:cNvSpPr/>
          <p:nvPr/>
        </p:nvSpPr>
        <p:spPr>
          <a:xfrm>
            <a:off x="457200" y="3238500"/>
            <a:ext cx="1778000" cy="558800"/>
          </a:xfrm>
          <a:prstGeom prst="rect">
            <a:avLst/>
          </a:prstGeom>
          <a:solidFill>
            <a:srgbClr val="243F6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b="1">
                <a:solidFill>
                  <a:srgbClr val="FFFFFF"/>
                </a:solidFill>
                <a:latin typeface="Meiryo"/>
                <a:ea typeface="Meiryo"/>
              </a:rPr>
              <a:t>主張 </a:t>
            </a:r>
            <a:r>
              <a:rPr lang="en" altLang="ja-JP" sz="1400" b="1">
                <a:solidFill>
                  <a:srgbClr val="FFFFFF"/>
                </a:solidFill>
                <a:latin typeface="Meiryo"/>
                <a:ea typeface="Meiryo"/>
              </a:rPr>
              <a:t>X</a:t>
            </a:r>
            <a:endParaRPr lang="ja-JP" altLang="en-US" sz="1400" b="1">
              <a:solidFill>
                <a:srgbClr val="FFFFFF"/>
              </a:solidFill>
              <a:latin typeface="Meiryo"/>
              <a:ea typeface="Meiryo"/>
            </a:endParaRPr>
          </a:p>
        </p:txBody>
      </p:sp>
      <p:sp>
        <p:nvSpPr>
          <p:cNvPr id="32" name="正方形/長方形 31">
            <a:extLst>
              <a:ext uri="{FF2B5EF4-FFF2-40B4-BE49-F238E27FC236}">
                <a16:creationId xmlns:a16="http://schemas.microsoft.com/office/drawing/2014/main" id="{22E28D0F-C337-1C45-9D7E-44AE3B370F14}"/>
              </a:ext>
            </a:extLst>
          </p:cNvPr>
          <p:cNvSpPr/>
          <p:nvPr/>
        </p:nvSpPr>
        <p:spPr>
          <a:xfrm>
            <a:off x="3403600" y="3238500"/>
            <a:ext cx="2159000" cy="558800"/>
          </a:xfrm>
          <a:prstGeom prst="rect">
            <a:avLst/>
          </a:prstGeom>
          <a:solidFill>
            <a:srgbClr val="E8E8E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181828"/>
                </a:solidFill>
                <a:latin typeface="Meiryo"/>
                <a:ea typeface="Meiryo"/>
              </a:rPr>
              <a:t>対象主張ごとに支持／攻撃を判定</a:t>
            </a:r>
          </a:p>
        </p:txBody>
      </p:sp>
      <p:sp>
        <p:nvSpPr>
          <p:cNvPr id="33" name="正方形/長方形 32">
            <a:extLst>
              <a:ext uri="{FF2B5EF4-FFF2-40B4-BE49-F238E27FC236}">
                <a16:creationId xmlns:a16="http://schemas.microsoft.com/office/drawing/2014/main" id="{5E56FCA5-8933-F842-A7C8-BDFBCD40FD3B}"/>
              </a:ext>
            </a:extLst>
          </p:cNvPr>
          <p:cNvSpPr/>
          <p:nvPr/>
        </p:nvSpPr>
        <p:spPr>
          <a:xfrm>
            <a:off x="5867400" y="3238500"/>
            <a:ext cx="2768600" cy="254000"/>
          </a:xfrm>
          <a:prstGeom prst="rect">
            <a:avLst/>
          </a:prstGeom>
          <a:solidFill>
            <a:srgbClr val="28588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FFFFFF"/>
                </a:solidFill>
                <a:latin typeface="Meiryo"/>
                <a:ea typeface="Meiryo"/>
              </a:rPr>
              <a:t>  事実 </a:t>
            </a:r>
            <a:r>
              <a:rPr lang="en" altLang="ja-JP" sz="1200">
                <a:solidFill>
                  <a:srgbClr val="FFFFFF"/>
                </a:solidFill>
                <a:latin typeface="Meiryo"/>
                <a:ea typeface="Meiryo"/>
              </a:rPr>
              <a:t>E1</a:t>
            </a:r>
            <a:r>
              <a:rPr lang="ja-JP" altLang="en" sz="1200">
                <a:solidFill>
                  <a:srgbClr val="FFFFFF"/>
                </a:solidFill>
                <a:latin typeface="Meiryo"/>
                <a:ea typeface="Meiryo"/>
              </a:rPr>
              <a:t>：</a:t>
            </a:r>
            <a:r>
              <a:rPr lang="ja-JP" altLang="en-US" sz="1200">
                <a:solidFill>
                  <a:srgbClr val="FFFFFF"/>
                </a:solidFill>
                <a:latin typeface="Meiryo"/>
                <a:ea typeface="Meiryo"/>
              </a:rPr>
              <a:t>主張 </a:t>
            </a:r>
            <a:r>
              <a:rPr lang="en" altLang="ja-JP" sz="1200">
                <a:solidFill>
                  <a:srgbClr val="FFFFFF"/>
                </a:solidFill>
                <a:latin typeface="Meiryo"/>
                <a:ea typeface="Meiryo"/>
              </a:rPr>
              <a:t>X </a:t>
            </a:r>
            <a:r>
              <a:rPr lang="ja-JP" altLang="en-US" sz="1200">
                <a:solidFill>
                  <a:srgbClr val="FFFFFF"/>
                </a:solidFill>
                <a:latin typeface="Meiryo"/>
                <a:ea typeface="Meiryo"/>
              </a:rPr>
              <a:t>を支持</a:t>
            </a:r>
          </a:p>
        </p:txBody>
      </p:sp>
      <p:sp>
        <p:nvSpPr>
          <p:cNvPr id="34" name="正方形/長方形 33">
            <a:extLst>
              <a:ext uri="{FF2B5EF4-FFF2-40B4-BE49-F238E27FC236}">
                <a16:creationId xmlns:a16="http://schemas.microsoft.com/office/drawing/2014/main" id="{C1BE3F71-73EB-914F-9DB1-E6257A3F52A8}"/>
              </a:ext>
            </a:extLst>
          </p:cNvPr>
          <p:cNvSpPr/>
          <p:nvPr/>
        </p:nvSpPr>
        <p:spPr>
          <a:xfrm>
            <a:off x="5867400" y="3543300"/>
            <a:ext cx="2768600" cy="254000"/>
          </a:xfrm>
          <a:prstGeom prst="rect">
            <a:avLst/>
          </a:prstGeom>
          <a:solidFill>
            <a:srgbClr val="8B3A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200">
                <a:solidFill>
                  <a:srgbClr val="FFFFFF"/>
                </a:solidFill>
                <a:latin typeface="Meiryo"/>
                <a:ea typeface="Meiryo"/>
              </a:rPr>
              <a:t>  事実 </a:t>
            </a:r>
            <a:r>
              <a:rPr lang="en" altLang="ja-JP" sz="1200">
                <a:solidFill>
                  <a:srgbClr val="FFFFFF"/>
                </a:solidFill>
                <a:latin typeface="Meiryo"/>
                <a:ea typeface="Meiryo"/>
              </a:rPr>
              <a:t>E2</a:t>
            </a:r>
            <a:r>
              <a:rPr lang="ja-JP" altLang="en" sz="1200">
                <a:solidFill>
                  <a:srgbClr val="FFFFFF"/>
                </a:solidFill>
                <a:latin typeface="Meiryo"/>
                <a:ea typeface="Meiryo"/>
              </a:rPr>
              <a:t>：</a:t>
            </a:r>
            <a:r>
              <a:rPr lang="ja-JP" altLang="en-US" sz="1200">
                <a:solidFill>
                  <a:srgbClr val="FFFFFF"/>
                </a:solidFill>
                <a:latin typeface="Meiryo"/>
                <a:ea typeface="Meiryo"/>
              </a:rPr>
              <a:t>主張 </a:t>
            </a:r>
            <a:r>
              <a:rPr lang="en" altLang="ja-JP" sz="1200">
                <a:solidFill>
                  <a:srgbClr val="FFFFFF"/>
                </a:solidFill>
                <a:latin typeface="Meiryo"/>
                <a:ea typeface="Meiryo"/>
              </a:rPr>
              <a:t>X </a:t>
            </a:r>
            <a:r>
              <a:rPr lang="ja-JP" altLang="en-US" sz="1200">
                <a:solidFill>
                  <a:srgbClr val="FFFFFF"/>
                </a:solidFill>
                <a:latin typeface="Meiryo"/>
                <a:ea typeface="Meiryo"/>
              </a:rPr>
              <a:t>に反論</a:t>
            </a:r>
          </a:p>
        </p:txBody>
      </p:sp>
      <p:sp>
        <p:nvSpPr>
          <p:cNvPr id="35" name="下矢印 34">
            <a:extLst>
              <a:ext uri="{FF2B5EF4-FFF2-40B4-BE49-F238E27FC236}">
                <a16:creationId xmlns:a16="http://schemas.microsoft.com/office/drawing/2014/main" id="{E995C490-235D-DD4E-85AD-52082C392AC3}"/>
              </a:ext>
            </a:extLst>
          </p:cNvPr>
          <p:cNvSpPr/>
          <p:nvPr/>
        </p:nvSpPr>
        <p:spPr>
          <a:xfrm>
            <a:off x="8407400" y="1422400"/>
            <a:ext cx="177800" cy="889000"/>
          </a:xfrm>
          <a:prstGeom prst="downArrow">
            <a:avLst/>
          </a:prstGeom>
          <a:solidFill>
            <a:srgbClr val="A0A0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6" name="テキスト ボックス 35">
            <a:extLst>
              <a:ext uri="{FF2B5EF4-FFF2-40B4-BE49-F238E27FC236}">
                <a16:creationId xmlns:a16="http://schemas.microsoft.com/office/drawing/2014/main" id="{FFD65466-A4DB-0048-9AB5-8361CFD041AD}"/>
              </a:ext>
            </a:extLst>
          </p:cNvPr>
          <p:cNvSpPr txBox="1"/>
          <p:nvPr/>
        </p:nvSpPr>
        <p:spPr>
          <a:xfrm>
            <a:off x="8204200" y="1168400"/>
            <a:ext cx="584200" cy="203200"/>
          </a:xfrm>
          <a:prstGeom prst="rect">
            <a:avLst/>
          </a:prstGeom>
          <a:noFill/>
        </p:spPr>
        <p:txBody>
          <a:bodyPr vertOverflow="overflow" vert="horz" wrap="none" rtlCol="0" anchor="ctr" anchorCtr="0">
            <a:noAutofit/>
          </a:bodyPr>
          <a:lstStyle/>
          <a:p>
            <a:pPr algn="l"/>
            <a:r>
              <a:rPr lang="ja-JP" altLang="en-US" sz="1000" b="1">
                <a:solidFill>
                  <a:srgbClr val="5A5A72"/>
                </a:solidFill>
                <a:latin typeface="Meiryo"/>
                <a:ea typeface="Meiryo"/>
              </a:rPr>
              <a:t>類似度</a:t>
            </a:r>
          </a:p>
        </p:txBody>
      </p:sp>
    </p:spTree>
    <p:extLst>
      <p:ext uri="{BB962C8B-B14F-4D97-AF65-F5344CB8AC3E}">
        <p14:creationId xmlns:p14="http://schemas.microsoft.com/office/powerpoint/2010/main" val="4143348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sz="2112" b="1" dirty="0">
                <a:solidFill>
                  <a:srgbClr val="181828"/>
                </a:solidFill>
                <a:latin typeface="Meiryo" pitchFamily="34" charset="0"/>
                <a:ea typeface="Meiryo" pitchFamily="34" charset="-122"/>
                <a:cs typeface="Meiryo" pitchFamily="34" charset="-120"/>
              </a:rPr>
              <a:t>エージェント詳細 (1/2)：議論の取り込み・知識供給</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22400"/>
            <a:ext cx="8229600" cy="274320"/>
          </a:xfrm>
          <a:prstGeom prst="rect">
            <a:avLst/>
          </a:prstGeom>
          <a:noFill/>
          <a:ln/>
        </p:spPr>
        <p:txBody>
          <a:bodyPr wrap="square" lIns="0" tIns="0" rIns="0" bIns="0" rtlCol="0" anchor="ctr"/>
          <a:lstStyle/>
          <a:p>
            <a:pPr marL="0" indent="0">
              <a:buNone/>
            </a:pPr>
            <a:r>
              <a:rPr lang="ja-JP" altLang="en-US" sz="1200" b="1" dirty="0">
                <a:solidFill>
                  <a:srgbClr val="285888"/>
                </a:solidFill>
                <a:latin typeface="Meiryo" pitchFamily="34" charset="0"/>
                <a:ea typeface="Meiryo" pitchFamily="34" charset="-122"/>
                <a:cs typeface="Meiryo" pitchFamily="34" charset="-120"/>
              </a:rPr>
              <a:t>主張抽出エージェント</a:t>
            </a:r>
            <a:endParaRPr lang="en-US" sz="1200" dirty="0"/>
          </a:p>
        </p:txBody>
      </p:sp>
      <p:sp>
        <p:nvSpPr>
          <p:cNvPr id="7" name="Text 5"/>
          <p:cNvSpPr/>
          <p:nvPr/>
        </p:nvSpPr>
        <p:spPr>
          <a:xfrm>
            <a:off x="508000" y="1714500"/>
            <a:ext cx="8178800" cy="101600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対面議論をマイク＋カメラで話者識別付きに取得し文字起こし</a:t>
            </a:r>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発話を主張（claim）と根拠（premise）に分解し、議論側の主張ノードとして書き込む</a:t>
            </a:r>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各ノードに「誰が・いつ・何を」が紐づく</a:t>
            </a:r>
          </a:p>
        </p:txBody>
      </p:sp>
      <p:sp>
        <p:nvSpPr>
          <p:cNvPr id="8" name="Text 6"/>
          <p:cNvSpPr/>
          <p:nvPr/>
        </p:nvSpPr>
        <p:spPr>
          <a:xfrm>
            <a:off x="457200" y="285750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ドキュメント知識エージェント</a:t>
            </a:r>
            <a:r>
              <a:rPr lang="en-US" sz="1200" dirty="0">
                <a:solidFill>
                  <a:srgbClr val="5A5A72"/>
                </a:solidFill>
                <a:latin typeface="Meiryo" pitchFamily="34" charset="0"/>
                <a:ea typeface="Meiryo" pitchFamily="34" charset="-122"/>
                <a:cs typeface="Meiryo" pitchFamily="34" charset="-120"/>
              </a:rPr>
              <a:t>　ドメイン知識</a:t>
            </a:r>
            <a:endParaRPr lang="en-US" sz="1200" dirty="0"/>
          </a:p>
        </p:txBody>
      </p:sp>
      <p:sp>
        <p:nvSpPr>
          <p:cNvPr id="9" name="Text 7"/>
          <p:cNvSpPr/>
          <p:nvPr/>
        </p:nvSpPr>
        <p:spPr>
          <a:xfrm>
            <a:off x="508000" y="3149600"/>
            <a:ext cx="8178800" cy="76200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外部資料群を中立な事実（evidence）ノードとして事前にAFへ永続化</a:t>
            </a:r>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対象主張ごとに、支持・攻撃・中立のいずれの関係になるかを判定して提示</a:t>
            </a:r>
          </a:p>
        </p:txBody>
      </p:sp>
      <p:sp>
        <p:nvSpPr>
          <p:cNvPr id="10" name="Text 8"/>
          <p:cNvSpPr/>
          <p:nvPr/>
        </p:nvSpPr>
        <p:spPr>
          <a:xfrm>
            <a:off x="457200" y="401320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Web検索エージェント</a:t>
            </a:r>
            <a:r>
              <a:rPr lang="en-US" sz="1200" dirty="0">
                <a:solidFill>
                  <a:srgbClr val="5A5A72"/>
                </a:solidFill>
                <a:latin typeface="Meiryo" pitchFamily="34" charset="0"/>
                <a:ea typeface="Meiryo" pitchFamily="34" charset="-122"/>
                <a:cs typeface="Meiryo" pitchFamily="34" charset="-120"/>
              </a:rPr>
              <a:t>　広い知識</a:t>
            </a:r>
            <a:endParaRPr lang="en-US" sz="1200" dirty="0"/>
          </a:p>
        </p:txBody>
      </p:sp>
      <p:sp>
        <p:nvSpPr>
          <p:cNvPr id="11" name="Text 9"/>
          <p:cNvSpPr/>
          <p:nvPr/>
        </p:nvSpPr>
        <p:spPr>
          <a:xfrm>
            <a:off x="508000" y="4305300"/>
            <a:ext cx="8178800" cy="76200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事前資料にない論点・時事情報をリアルタイム検索</a:t>
            </a:r>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検索結果をそのまま渡さず、中立な事実ノードに整形して統合グラフに追加</a:t>
            </a:r>
          </a:p>
        </p:txBody>
      </p:sp>
    </p:spTree>
    <p:extLst>
      <p:ext uri="{BB962C8B-B14F-4D97-AF65-F5344CB8AC3E}">
        <p14:creationId xmlns:p14="http://schemas.microsoft.com/office/powerpoint/2010/main" val="165932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sz="2112" b="1" dirty="0">
                <a:solidFill>
                  <a:srgbClr val="181828"/>
                </a:solidFill>
                <a:latin typeface="Meiryo" pitchFamily="34" charset="0"/>
                <a:ea typeface="Meiryo" pitchFamily="34" charset="-122"/>
                <a:cs typeface="Meiryo" pitchFamily="34" charset="-120"/>
              </a:rPr>
              <a:t>エージェント詳細 (2/2)：統合・調停・ファシリ</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12" name="Text 10"/>
          <p:cNvSpPr/>
          <p:nvPr/>
        </p:nvSpPr>
        <p:spPr>
          <a:xfrm>
            <a:off x="457200" y="142240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連結エージェント</a:t>
            </a:r>
            <a:endParaRPr lang="en-US" sz="1200" dirty="0"/>
          </a:p>
        </p:txBody>
      </p:sp>
      <p:sp>
        <p:nvSpPr>
          <p:cNvPr id="13" name="Text 11"/>
          <p:cNvSpPr/>
          <p:nvPr/>
        </p:nvSpPr>
        <p:spPr>
          <a:xfrm>
            <a:off x="508000" y="1752600"/>
            <a:ext cx="8178800" cy="76200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事実ノードが各対象主張に対して支持・攻撃・中立のいずれになるかを判定しエッジを張る</a:t>
            </a:r>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同じ事実でも対象主張が変わればエッジの種類が変わる（関係は主張に相対的）</a:t>
            </a:r>
          </a:p>
        </p:txBody>
      </p:sp>
      <p:sp>
        <p:nvSpPr>
          <p:cNvPr id="14" name="Text 12"/>
          <p:cNvSpPr/>
          <p:nvPr/>
        </p:nvSpPr>
        <p:spPr>
          <a:xfrm>
            <a:off x="457200" y="269240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ファシリテーションエージェント</a:t>
            </a:r>
            <a:endParaRPr lang="en-US" sz="1200" dirty="0"/>
          </a:p>
        </p:txBody>
      </p:sp>
      <p:sp>
        <p:nvSpPr>
          <p:cNvPr id="15" name="Text 13"/>
          <p:cNvSpPr/>
          <p:nvPr/>
        </p:nvSpPr>
        <p:spPr>
          <a:xfrm>
            <a:off x="508000" y="3022600"/>
            <a:ext cx="8178800" cy="165100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統合グラフ全体を読み、いつ・誰に・何を提示するか判断する中央調停者</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最新発言を支持・攻撃する外部ノードを提示</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一方の立場への偏りを構造的に検知し反対側を補強</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議論ステージ（発散・収束）に応じて介入方針を切り替え</a:t>
            </a:r>
            <a:endParaRPr lang="en-US" sz="1200" dirty="0"/>
          </a:p>
        </p:txBody>
      </p:sp>
    </p:spTree>
    <p:extLst>
      <p:ext uri="{BB962C8B-B14F-4D97-AF65-F5344CB8AC3E}">
        <p14:creationId xmlns:p14="http://schemas.microsoft.com/office/powerpoint/2010/main" val="3381818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algn="l">
              <a:buNone/>
            </a:pPr>
            <a:r>
              <a:rPr lang="ja-JP" sz="2112" b="1" dirty="0">
                <a:solidFill>
                  <a:srgbClr val="181828"/>
                </a:solidFill>
                <a:latin typeface="Meiryo" pitchFamily="34" charset="0"/>
                <a:ea typeface="Meiryo" pitchFamily="34" charset="-122"/>
                <a:cs typeface="Meiryo" pitchFamily="34" charset="-120"/>
              </a:rPr>
              <a:t>想定する介入行動</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graphicFrame>
        <p:nvGraphicFramePr>
          <p:cNvPr id="15" name="表 14">
            <a:extLst>
              <a:ext uri="{FF2B5EF4-FFF2-40B4-BE49-F238E27FC236}">
                <a16:creationId xmlns:a16="http://schemas.microsoft.com/office/drawing/2014/main" id="{1CDD9EC2-2EF6-D941-8777-A74C96DA8A23}"/>
              </a:ext>
            </a:extLst>
          </p:cNvPr>
          <p:cNvGraphicFramePr>
            <a:graphicFrameLocks noGrp="1"/>
          </p:cNvGraphicFramePr>
          <p:nvPr>
            <p:extLst>
              <p:ext uri="{D42A27DB-BD31-4B8C-83A1-F6EECF244321}">
                <p14:modId xmlns:p14="http://schemas.microsoft.com/office/powerpoint/2010/main" val="1751640377"/>
              </p:ext>
            </p:extLst>
          </p:nvPr>
        </p:nvGraphicFramePr>
        <p:xfrm>
          <a:off x="457200" y="1397000"/>
          <a:ext cx="8229599" cy="2286000"/>
        </p:xfrm>
        <a:graphic>
          <a:graphicData uri="http://schemas.openxmlformats.org/drawingml/2006/table">
            <a:tbl>
              <a:tblPr firstRow="1" bandRow="1">
                <a:tableStyleId>{5C22544A-7EE6-4342-B048-85BDC9FD1C3A}</a:tableStyleId>
              </a:tblPr>
              <a:tblGrid>
                <a:gridCol w="1496749">
                  <a:extLst>
                    <a:ext uri="{9D8B030D-6E8A-4147-A177-3AD203B41FA5}">
                      <a16:colId xmlns:a16="http://schemas.microsoft.com/office/drawing/2014/main" val="2616078437"/>
                    </a:ext>
                  </a:extLst>
                </a:gridCol>
                <a:gridCol w="3739352">
                  <a:extLst>
                    <a:ext uri="{9D8B030D-6E8A-4147-A177-3AD203B41FA5}">
                      <a16:colId xmlns:a16="http://schemas.microsoft.com/office/drawing/2014/main" val="3203749204"/>
                    </a:ext>
                  </a:extLst>
                </a:gridCol>
                <a:gridCol w="1496749">
                  <a:extLst>
                    <a:ext uri="{9D8B030D-6E8A-4147-A177-3AD203B41FA5}">
                      <a16:colId xmlns:a16="http://schemas.microsoft.com/office/drawing/2014/main" val="2733539115"/>
                    </a:ext>
                  </a:extLst>
                </a:gridCol>
                <a:gridCol w="1496749">
                  <a:extLst>
                    <a:ext uri="{9D8B030D-6E8A-4147-A177-3AD203B41FA5}">
                      <a16:colId xmlns:a16="http://schemas.microsoft.com/office/drawing/2014/main" val="856536380"/>
                    </a:ext>
                  </a:extLst>
                </a:gridCol>
              </a:tblGrid>
              <a:tr h="381000">
                <a:tc>
                  <a:txBody>
                    <a:bodyPr/>
                    <a:lstStyle/>
                    <a:p>
                      <a:pPr algn="ctr"/>
                      <a:r>
                        <a:rPr lang="ja-JP" altLang="en-US" sz="1100" b="1">
                          <a:solidFill>
                            <a:srgbClr val="FFFFFF"/>
                          </a:solidFill>
                          <a:latin typeface="Meiryo"/>
                          <a:ea typeface="Meiryo"/>
                        </a:rPr>
                        <a:t>検出シグナル</a:t>
                      </a:r>
                    </a:p>
                  </a:txBody>
                  <a:tcPr anchor="ctr">
                    <a:solidFill>
                      <a:srgbClr val="243F66"/>
                    </a:solidFill>
                  </a:tcPr>
                </a:tc>
                <a:tc>
                  <a:txBody>
                    <a:bodyPr/>
                    <a:lstStyle/>
                    <a:p>
                      <a:pPr algn="ctr"/>
                      <a:r>
                        <a:rPr lang="ja-JP" altLang="en-US" sz="1100" b="1">
                          <a:solidFill>
                            <a:srgbClr val="FFFFFF"/>
                          </a:solidFill>
                          <a:latin typeface="Meiryo"/>
                          <a:ea typeface="Meiryo"/>
                        </a:rPr>
                        <a:t>提示内容（アクション）</a:t>
                      </a:r>
                    </a:p>
                  </a:txBody>
                  <a:tcPr anchor="ctr">
                    <a:solidFill>
                      <a:srgbClr val="243F66"/>
                    </a:solidFill>
                  </a:tcPr>
                </a:tc>
                <a:tc>
                  <a:txBody>
                    <a:bodyPr/>
                    <a:lstStyle/>
                    <a:p>
                      <a:pPr algn="ctr"/>
                      <a:r>
                        <a:rPr lang="ja-JP" altLang="en-US" sz="1100" b="1">
                          <a:solidFill>
                            <a:srgbClr val="FFFFFF"/>
                          </a:solidFill>
                          <a:latin typeface="Meiryo"/>
                          <a:ea typeface="Meiryo"/>
                        </a:rPr>
                        <a:t>局面</a:t>
                      </a:r>
                    </a:p>
                  </a:txBody>
                  <a:tcPr anchor="ctr">
                    <a:solidFill>
                      <a:srgbClr val="243F66"/>
                    </a:solidFill>
                  </a:tcPr>
                </a:tc>
                <a:tc>
                  <a:txBody>
                    <a:bodyPr/>
                    <a:lstStyle/>
                    <a:p>
                      <a:pPr algn="ctr"/>
                      <a:r>
                        <a:rPr lang="ja-JP" altLang="en-US" sz="1100" b="1">
                          <a:solidFill>
                            <a:srgbClr val="FFFFFF"/>
                          </a:solidFill>
                          <a:latin typeface="Meiryo"/>
                          <a:ea typeface="Meiryo"/>
                        </a:rPr>
                        <a:t>宛先</a:t>
                      </a:r>
                    </a:p>
                  </a:txBody>
                  <a:tcPr anchor="ctr">
                    <a:solidFill>
                      <a:srgbClr val="243F66"/>
                    </a:solidFill>
                  </a:tcPr>
                </a:tc>
                <a:extLst>
                  <a:ext uri="{0D108BD9-81ED-4DB2-BD59-A6C34878D82A}">
                    <a16:rowId xmlns:a16="http://schemas.microsoft.com/office/drawing/2014/main" val="3292544003"/>
                  </a:ext>
                </a:extLst>
              </a:tr>
              <a:tr h="381000">
                <a:tc>
                  <a:txBody>
                    <a:bodyPr/>
                    <a:lstStyle/>
                    <a:p>
                      <a:pPr algn="l"/>
                      <a:r>
                        <a:rPr lang="ja-JP" altLang="en-US" sz="1100">
                          <a:solidFill>
                            <a:srgbClr val="383858"/>
                          </a:solidFill>
                          <a:latin typeface="Meiryo"/>
                          <a:ea typeface="Meiryo"/>
                        </a:rPr>
                        <a:t>① 未応答の攻撃</a:t>
                      </a:r>
                    </a:p>
                  </a:txBody>
                  <a:tcPr anchor="ctr"/>
                </a:tc>
                <a:tc>
                  <a:txBody>
                    <a:bodyPr/>
                    <a:lstStyle/>
                    <a:p>
                      <a:pPr algn="l"/>
                      <a:r>
                        <a:rPr lang="ja-JP" altLang="en-US" sz="1100">
                          <a:solidFill>
                            <a:srgbClr val="383858"/>
                          </a:solidFill>
                          <a:latin typeface="Meiryo"/>
                          <a:ea typeface="Meiryo"/>
                        </a:rPr>
                        <a:t>「あなたの主張に未応答の反論」</a:t>
                      </a:r>
                    </a:p>
                  </a:txBody>
                  <a:tcPr anchor="ctr"/>
                </a:tc>
                <a:tc>
                  <a:txBody>
                    <a:bodyPr/>
                    <a:lstStyle/>
                    <a:p>
                      <a:pPr algn="ctr"/>
                      <a:r>
                        <a:rPr lang="ja-JP" altLang="en-US" sz="1100">
                          <a:solidFill>
                            <a:srgbClr val="383858"/>
                          </a:solidFill>
                          <a:latin typeface="Meiryo"/>
                          <a:ea typeface="Meiryo"/>
                        </a:rPr>
                        <a:t>議論中</a:t>
                      </a:r>
                    </a:p>
                  </a:txBody>
                  <a:tcPr anchor="ctr"/>
                </a:tc>
                <a:tc>
                  <a:txBody>
                    <a:bodyPr/>
                    <a:lstStyle/>
                    <a:p>
                      <a:pPr algn="ctr"/>
                      <a:r>
                        <a:rPr lang="ja-JP" altLang="en-US" sz="1100">
                          <a:solidFill>
                            <a:srgbClr val="383858"/>
                          </a:solidFill>
                          <a:latin typeface="Meiryo"/>
                          <a:ea typeface="Meiryo"/>
                        </a:rPr>
                        <a:t>本人(1行通知)</a:t>
                      </a:r>
                    </a:p>
                  </a:txBody>
                  <a:tcPr anchor="ctr"/>
                </a:tc>
                <a:extLst>
                  <a:ext uri="{0D108BD9-81ED-4DB2-BD59-A6C34878D82A}">
                    <a16:rowId xmlns:a16="http://schemas.microsoft.com/office/drawing/2014/main" val="4211004197"/>
                  </a:ext>
                </a:extLst>
              </a:tr>
              <a:tr h="381000">
                <a:tc>
                  <a:txBody>
                    <a:bodyPr/>
                    <a:lstStyle/>
                    <a:p>
                      <a:pPr algn="l"/>
                      <a:r>
                        <a:rPr lang="ja-JP" altLang="en-US" sz="1100">
                          <a:solidFill>
                            <a:srgbClr val="383858"/>
                          </a:solidFill>
                          <a:latin typeface="Meiryo"/>
                          <a:ea typeface="Meiryo"/>
                        </a:rPr>
                        <a:t>② 議論の偏り</a:t>
                      </a:r>
                    </a:p>
                  </a:txBody>
                  <a:tcPr anchor="ctr"/>
                </a:tc>
                <a:tc>
                  <a:txBody>
                    <a:bodyPr/>
                    <a:lstStyle/>
                    <a:p>
                      <a:pPr algn="l"/>
                      <a:r>
                        <a:rPr lang="ja-JP" altLang="en-US" sz="1100">
                          <a:solidFill>
                            <a:srgbClr val="383858"/>
                          </a:solidFill>
                          <a:latin typeface="Meiryo"/>
                          <a:ea typeface="Meiryo"/>
                        </a:rPr>
                        <a:t>不足側の事実を提示</a:t>
                      </a:r>
                    </a:p>
                  </a:txBody>
                  <a:tcPr anchor="ctr"/>
                </a:tc>
                <a:tc>
                  <a:txBody>
                    <a:bodyPr/>
                    <a:lstStyle/>
                    <a:p>
                      <a:pPr algn="ctr"/>
                      <a:r>
                        <a:rPr lang="ja-JP" altLang="en-US" sz="1100">
                          <a:solidFill>
                            <a:srgbClr val="383858"/>
                          </a:solidFill>
                          <a:latin typeface="Meiryo"/>
                          <a:ea typeface="Meiryo"/>
                        </a:rPr>
                        <a:t>議論中／区切り</a:t>
                      </a:r>
                    </a:p>
                  </a:txBody>
                  <a:tcPr anchor="ctr"/>
                </a:tc>
                <a:tc>
                  <a:txBody>
                    <a:bodyPr/>
                    <a:lstStyle/>
                    <a:p>
                      <a:pPr algn="ctr"/>
                      <a:r>
                        <a:rPr lang="ja-JP" altLang="en-US" sz="1100">
                          <a:solidFill>
                            <a:srgbClr val="383858"/>
                          </a:solidFill>
                          <a:latin typeface="Meiryo"/>
                          <a:ea typeface="Meiryo"/>
                        </a:rPr>
                        <a:t>全員</a:t>
                      </a:r>
                    </a:p>
                  </a:txBody>
                  <a:tcPr anchor="ctr"/>
                </a:tc>
                <a:extLst>
                  <a:ext uri="{0D108BD9-81ED-4DB2-BD59-A6C34878D82A}">
                    <a16:rowId xmlns:a16="http://schemas.microsoft.com/office/drawing/2014/main" val="369268923"/>
                  </a:ext>
                </a:extLst>
              </a:tr>
              <a:tr h="381000">
                <a:tc>
                  <a:txBody>
                    <a:bodyPr/>
                    <a:lstStyle/>
                    <a:p>
                      <a:pPr algn="l"/>
                      <a:r>
                        <a:rPr lang="ja-JP" altLang="en-US" sz="1100">
                          <a:solidFill>
                            <a:srgbClr val="383858"/>
                          </a:solidFill>
                          <a:latin typeface="Meiryo"/>
                          <a:ea typeface="Meiryo"/>
                        </a:rPr>
                        <a:t>③ 橋渡し事実</a:t>
                      </a:r>
                    </a:p>
                  </a:txBody>
                  <a:tcPr anchor="ctr"/>
                </a:tc>
                <a:tc>
                  <a:txBody>
                    <a:bodyPr/>
                    <a:lstStyle/>
                    <a:p>
                      <a:pPr algn="l"/>
                      <a:r>
                        <a:rPr lang="ja-JP" altLang="en-US" sz="1100">
                          <a:solidFill>
                            <a:srgbClr val="383858"/>
                          </a:solidFill>
                          <a:latin typeface="Meiryo"/>
                          <a:ea typeface="Meiryo"/>
                        </a:rPr>
                        <a:t>「文献XはBさんの懸念に効く」</a:t>
                      </a:r>
                    </a:p>
                  </a:txBody>
                  <a:tcPr anchor="ctr"/>
                </a:tc>
                <a:tc>
                  <a:txBody>
                    <a:bodyPr/>
                    <a:lstStyle/>
                    <a:p>
                      <a:pPr algn="ctr"/>
                      <a:r>
                        <a:rPr lang="ja-JP" altLang="en-US" sz="1100">
                          <a:solidFill>
                            <a:srgbClr val="383858"/>
                          </a:solidFill>
                          <a:latin typeface="Meiryo"/>
                          <a:ea typeface="Meiryo"/>
                        </a:rPr>
                        <a:t>議論中</a:t>
                      </a:r>
                    </a:p>
                  </a:txBody>
                  <a:tcPr anchor="ctr"/>
                </a:tc>
                <a:tc>
                  <a:txBody>
                    <a:bodyPr/>
                    <a:lstStyle/>
                    <a:p>
                      <a:pPr algn="ctr"/>
                      <a:r>
                        <a:rPr lang="ja-JP" altLang="en-US" sz="1100">
                          <a:solidFill>
                            <a:srgbClr val="383858"/>
                          </a:solidFill>
                          <a:latin typeface="Meiryo"/>
                          <a:ea typeface="Meiryo"/>
                        </a:rPr>
                        <a:t>本人</a:t>
                      </a:r>
                    </a:p>
                  </a:txBody>
                  <a:tcPr anchor="ctr"/>
                </a:tc>
                <a:extLst>
                  <a:ext uri="{0D108BD9-81ED-4DB2-BD59-A6C34878D82A}">
                    <a16:rowId xmlns:a16="http://schemas.microsoft.com/office/drawing/2014/main" val="3224886451"/>
                  </a:ext>
                </a:extLst>
              </a:tr>
              <a:tr h="381000">
                <a:tc>
                  <a:txBody>
                    <a:bodyPr/>
                    <a:lstStyle/>
                    <a:p>
                      <a:pPr algn="l"/>
                      <a:r>
                        <a:rPr lang="ja-JP" altLang="en-US" sz="1100">
                          <a:solidFill>
                            <a:srgbClr val="383858"/>
                          </a:solidFill>
                          <a:latin typeface="Meiryo"/>
                          <a:ea typeface="Meiryo"/>
                        </a:rPr>
                        <a:t>④ 停滞</a:t>
                      </a:r>
                    </a:p>
                  </a:txBody>
                  <a:tcPr anchor="ctr"/>
                </a:tc>
                <a:tc>
                  <a:txBody>
                    <a:bodyPr/>
                    <a:lstStyle/>
                    <a:p>
                      <a:pPr algn="l"/>
                      <a:r>
                        <a:rPr lang="ja-JP" altLang="en-US" sz="1100">
                          <a:solidFill>
                            <a:srgbClr val="383858"/>
                          </a:solidFill>
                          <a:latin typeface="Meiryo"/>
                          <a:ea typeface="Meiryo"/>
                        </a:rPr>
                        <a:t>俯瞰要約「支持3/反論2/未応答1」</a:t>
                      </a:r>
                    </a:p>
                  </a:txBody>
                  <a:tcPr anchor="ctr"/>
                </a:tc>
                <a:tc>
                  <a:txBody>
                    <a:bodyPr/>
                    <a:lstStyle/>
                    <a:p>
                      <a:pPr algn="ctr"/>
                      <a:r>
                        <a:rPr lang="ja-JP" altLang="en-US" sz="1100">
                          <a:solidFill>
                            <a:srgbClr val="383858"/>
                          </a:solidFill>
                          <a:latin typeface="Meiryo"/>
                          <a:ea typeface="Meiryo"/>
                        </a:rPr>
                        <a:t>区切り</a:t>
                      </a:r>
                    </a:p>
                  </a:txBody>
                  <a:tcPr anchor="ctr"/>
                </a:tc>
                <a:tc>
                  <a:txBody>
                    <a:bodyPr/>
                    <a:lstStyle/>
                    <a:p>
                      <a:pPr algn="ctr"/>
                      <a:r>
                        <a:rPr lang="ja-JP" altLang="en-US" sz="1100">
                          <a:solidFill>
                            <a:srgbClr val="383858"/>
                          </a:solidFill>
                          <a:latin typeface="Meiryo"/>
                          <a:ea typeface="Meiryo"/>
                        </a:rPr>
                        <a:t>全員</a:t>
                      </a:r>
                    </a:p>
                  </a:txBody>
                  <a:tcPr anchor="ctr"/>
                </a:tc>
                <a:extLst>
                  <a:ext uri="{0D108BD9-81ED-4DB2-BD59-A6C34878D82A}">
                    <a16:rowId xmlns:a16="http://schemas.microsoft.com/office/drawing/2014/main" val="547200916"/>
                  </a:ext>
                </a:extLst>
              </a:tr>
              <a:tr h="381000">
                <a:tc>
                  <a:txBody>
                    <a:bodyPr/>
                    <a:lstStyle/>
                    <a:p>
                      <a:pPr algn="l"/>
                      <a:r>
                        <a:rPr lang="ja-JP" altLang="en-US" sz="1100">
                          <a:solidFill>
                            <a:srgbClr val="383858"/>
                          </a:solidFill>
                          <a:latin typeface="Meiryo"/>
                          <a:ea typeface="Meiryo"/>
                        </a:rPr>
                        <a:t>(事後)</a:t>
                      </a:r>
                    </a:p>
                  </a:txBody>
                  <a:tcPr anchor="ctr"/>
                </a:tc>
                <a:tc>
                  <a:txBody>
                    <a:bodyPr/>
                    <a:lstStyle/>
                    <a:p>
                      <a:pPr algn="l"/>
                      <a:r>
                        <a:rPr lang="ja-JP" altLang="en-US" sz="1100">
                          <a:solidFill>
                            <a:srgbClr val="383858"/>
                          </a:solidFill>
                          <a:latin typeface="Meiryo"/>
                          <a:ea typeface="Meiryo"/>
                        </a:rPr>
                        <a:t>個別ミニグラフ＋全体グラフ</a:t>
                      </a:r>
                    </a:p>
                  </a:txBody>
                  <a:tcPr anchor="ctr"/>
                </a:tc>
                <a:tc>
                  <a:txBody>
                    <a:bodyPr/>
                    <a:lstStyle/>
                    <a:p>
                      <a:pPr algn="ctr"/>
                      <a:r>
                        <a:rPr lang="ja-JP" altLang="en-US" sz="1100">
                          <a:solidFill>
                            <a:srgbClr val="383858"/>
                          </a:solidFill>
                          <a:latin typeface="Meiryo"/>
                          <a:ea typeface="Meiryo"/>
                        </a:rPr>
                        <a:t>議論後</a:t>
                      </a:r>
                    </a:p>
                  </a:txBody>
                  <a:tcPr anchor="ctr"/>
                </a:tc>
                <a:tc>
                  <a:txBody>
                    <a:bodyPr/>
                    <a:lstStyle/>
                    <a:p>
                      <a:pPr algn="ctr"/>
                      <a:r>
                        <a:rPr lang="ja-JP" altLang="en-US" sz="1100">
                          <a:solidFill>
                            <a:srgbClr val="383858"/>
                          </a:solidFill>
                          <a:latin typeface="Meiryo"/>
                          <a:ea typeface="Meiryo"/>
                        </a:rPr>
                        <a:t>個人/全員</a:t>
                      </a:r>
                    </a:p>
                  </a:txBody>
                  <a:tcPr anchor="ctr"/>
                </a:tc>
                <a:extLst>
                  <a:ext uri="{0D108BD9-81ED-4DB2-BD59-A6C34878D82A}">
                    <a16:rowId xmlns:a16="http://schemas.microsoft.com/office/drawing/2014/main" val="3196949220"/>
                  </a:ext>
                </a:extLst>
              </a:tr>
            </a:tbl>
          </a:graphicData>
        </a:graphic>
      </p:graphicFrame>
    </p:spTree>
    <p:extLst>
      <p:ext uri="{BB962C8B-B14F-4D97-AF65-F5344CB8AC3E}">
        <p14:creationId xmlns:p14="http://schemas.microsoft.com/office/powerpoint/2010/main" val="411334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4. 進捗</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ja-JP" sz="2112" b="1" dirty="0">
                <a:solidFill>
                  <a:srgbClr val="181828"/>
                </a:solidFill>
                <a:latin typeface="Meiryo" pitchFamily="34" charset="0"/>
                <a:ea typeface="Meiryo" pitchFamily="34" charset="-122"/>
                <a:cs typeface="Meiryo" pitchFamily="34" charset="-120"/>
              </a:rPr>
              <a:t>進捗と今後の予定</a:t>
            </a:r>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508760"/>
            <a:ext cx="4114800" cy="292608"/>
          </a:xfrm>
          <a:prstGeom prst="rect">
            <a:avLst/>
          </a:prstGeom>
          <a:noFill/>
          <a:ln/>
        </p:spPr>
        <p:txBody>
          <a:bodyPr wrap="square" lIns="0" tIns="0" rIns="0" bIns="0" rtlCol="0" anchor="ctr"/>
          <a:lstStyle/>
          <a:p>
            <a:pPr marL="0" indent="0">
              <a:buNone/>
            </a:pPr>
            <a:r>
              <a:rPr lang="en-US" sz="1276" b="1" dirty="0">
                <a:solidFill>
                  <a:srgbClr val="2E7D32"/>
                </a:solidFill>
                <a:latin typeface="Meiryo" pitchFamily="34" charset="0"/>
                <a:ea typeface="Meiryo" pitchFamily="34" charset="-122"/>
                <a:cs typeface="Meiryo" pitchFamily="34" charset="-120"/>
              </a:rPr>
              <a:t>✓ 完了済み</a:t>
            </a:r>
            <a:endParaRPr lang="en-US" sz="1276" dirty="0"/>
          </a:p>
        </p:txBody>
      </p:sp>
      <p:sp>
        <p:nvSpPr>
          <p:cNvPr id="7" name="Text 5"/>
          <p:cNvSpPr/>
          <p:nvPr/>
        </p:nvSpPr>
        <p:spPr>
          <a:xfrm>
            <a:off x="502920" y="1901952"/>
            <a:ext cx="4023360" cy="18288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リアルタイム音声認識（OpenAI Whisper）</a:t>
            </a:r>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複数デバイスからの発話収集と話者ラベル付与</a:t>
            </a:r>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LLMによる主張構造化のプロトタイプ実装（発話→claim/premise分解）</a:t>
            </a:r>
          </a:p>
        </p:txBody>
      </p:sp>
      <p:sp>
        <p:nvSpPr>
          <p:cNvPr id="8" name="Text 6"/>
          <p:cNvSpPr/>
          <p:nvPr/>
        </p:nvSpPr>
        <p:spPr>
          <a:xfrm>
            <a:off x="4709160" y="1508760"/>
            <a:ext cx="393192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 今後の予定</a:t>
            </a:r>
            <a:endParaRPr lang="en-US" sz="1276" dirty="0"/>
          </a:p>
        </p:txBody>
      </p:sp>
      <p:sp>
        <p:nvSpPr>
          <p:cNvPr id="9" name="Text 7"/>
          <p:cNvSpPr/>
          <p:nvPr/>
        </p:nvSpPr>
        <p:spPr>
          <a:xfrm>
            <a:off x="4754880" y="1901952"/>
            <a:ext cx="3931920" cy="18288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iPhoneをデバイスとした実装に置き換え（伊藤先生と協力）</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ドキュメント知識 / Web検索エージェントの統合</a:t>
            </a:r>
            <a:endParaRPr lang="en-US" sz="1200" dirty="0"/>
          </a:p>
        </p:txBody>
      </p:sp>
      <p:sp>
        <p:nvSpPr>
          <p:cNvPr id="10" name="Shape 8"/>
          <p:cNvSpPr/>
          <p:nvPr/>
        </p:nvSpPr>
        <p:spPr>
          <a:xfrm>
            <a:off x="4572000" y="1600200"/>
            <a:ext cx="18288" cy="2286000"/>
          </a:xfrm>
          <a:prstGeom prst="rect">
            <a:avLst/>
          </a:prstGeom>
          <a:solidFill>
            <a:srgbClr val="D5D9E2"/>
          </a:solidFill>
          <a:ln/>
        </p:spPr>
        <p:txBody>
          <a:bodyPr/>
          <a:lstStyle/>
          <a:p>
            <a:endParaRPr lang="ja-JP" altLang="en-US"/>
          </a:p>
        </p:txBody>
      </p:sp>
    </p:spTree>
    <p:extLst>
      <p:ext uri="{BB962C8B-B14F-4D97-AF65-F5344CB8AC3E}">
        <p14:creationId xmlns:p14="http://schemas.microsoft.com/office/powerpoint/2010/main" val="2609057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5. 評価</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評価計画</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208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シミュレーション評価</a:t>
            </a:r>
            <a:endParaRPr lang="en-US" sz="1276" dirty="0"/>
          </a:p>
        </p:txBody>
      </p:sp>
      <p:sp>
        <p:nvSpPr>
          <p:cNvPr id="7" name="Text 5"/>
          <p:cNvSpPr/>
          <p:nvPr/>
        </p:nvSpPr>
        <p:spPr>
          <a:xfrm>
            <a:off x="713232" y="1626108"/>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LLM多人数エージェント議論を多数回。3条件×ablationで比較</a:t>
            </a:r>
          </a:p>
        </p:txBody>
      </p:sp>
      <p:sp>
        <p:nvSpPr>
          <p:cNvPr id="8" name="Text 6"/>
          <p:cNvSpPr/>
          <p:nvPr/>
        </p:nvSpPr>
        <p:spPr>
          <a:xfrm>
            <a:off x="457200" y="2093467"/>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対面参加者実験</a:t>
            </a:r>
            <a:endParaRPr lang="en-US" sz="1276" dirty="0"/>
          </a:p>
        </p:txBody>
      </p:sp>
      <p:sp>
        <p:nvSpPr>
          <p:cNvPr id="9" name="Text 7"/>
          <p:cNvSpPr/>
          <p:nvPr/>
        </p:nvSpPr>
        <p:spPr>
          <a:xfrm>
            <a:off x="713232" y="2398775"/>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5〜8名×60分×政策論題。被験者内デザイン＋カウンターバランス</a:t>
            </a:r>
            <a:endParaRPr lang="en-US" sz="1200" dirty="0"/>
          </a:p>
        </p:txBody>
      </p:sp>
      <p:sp>
        <p:nvSpPr>
          <p:cNvPr id="10" name="Text 8"/>
          <p:cNvSpPr/>
          <p:nvPr/>
        </p:nvSpPr>
        <p:spPr>
          <a:xfrm>
            <a:off x="457200" y="2866135"/>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比較条件</a:t>
            </a:r>
            <a:endParaRPr lang="en-US" sz="1276" dirty="0"/>
          </a:p>
        </p:txBody>
      </p:sp>
      <p:sp>
        <p:nvSpPr>
          <p:cNvPr id="11" name="Text 9"/>
          <p:cNvSpPr/>
          <p:nvPr/>
        </p:nvSpPr>
        <p:spPr>
          <a:xfrm>
            <a:off x="713232" y="3171443"/>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(i) 情報提供なし　(ii) フラットRAG　(iii) 提案フル構成</a:t>
            </a:r>
            <a:endParaRPr lang="en-US" sz="1200" dirty="0"/>
          </a:p>
        </p:txBody>
      </p:sp>
      <p:sp>
        <p:nvSpPr>
          <p:cNvPr id="12" name="Text 10"/>
          <p:cNvSpPr/>
          <p:nvPr/>
        </p:nvSpPr>
        <p:spPr>
          <a:xfrm>
            <a:off x="457200" y="3638803"/>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評価指標</a:t>
            </a:r>
            <a:endParaRPr lang="en-US" sz="1276" dirty="0"/>
          </a:p>
        </p:txBody>
      </p:sp>
      <p:sp>
        <p:nvSpPr>
          <p:cNvPr id="13" name="Text 11"/>
          <p:cNvSpPr/>
          <p:nvPr/>
        </p:nvSpPr>
        <p:spPr>
          <a:xfrm>
            <a:off x="713232" y="3944111"/>
            <a:ext cx="7955280" cy="5486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主観：議論満足度・情報有用性・反対意見の理解度・立場の自信度変化・介入の透明性（議論前後アンケート）</a:t>
            </a:r>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客観：合意到達時間・発話数・反対意見への応答率（ログから自動抽出）</a:t>
            </a:r>
          </a:p>
        </p:txBody>
      </p:sp>
    </p:spTree>
    <p:extLst>
      <p:ext uri="{BB962C8B-B14F-4D97-AF65-F5344CB8AC3E}">
        <p14:creationId xmlns:p14="http://schemas.microsoft.com/office/powerpoint/2010/main" val="449532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6. まとめ</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まとめ</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50876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提案</a:t>
            </a:r>
            <a:endParaRPr lang="en-US" sz="1276" dirty="0"/>
          </a:p>
        </p:txBody>
      </p:sp>
      <p:sp>
        <p:nvSpPr>
          <p:cNvPr id="7" name="Text 5"/>
          <p:cNvSpPr/>
          <p:nvPr/>
        </p:nvSpPr>
        <p:spPr>
          <a:xfrm>
            <a:off x="502920" y="1874520"/>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ja-JP" sz="1200" dirty="0">
                <a:solidFill>
                  <a:srgbClr val="383858"/>
                </a:solidFill>
                <a:latin typeface="Meiryo" pitchFamily="34" charset="0"/>
                <a:ea typeface="Meiryo" pitchFamily="34" charset="-122"/>
                <a:cs typeface="Meiryo" pitchFamily="34" charset="-120"/>
              </a:rPr>
              <a:t>議論ログの主張と外部知識の事実を、対象主張ごとの支持／攻撃エッジで一つの議論グラフに連結し、5つの専門エージェントで構築・運用</a:t>
            </a:r>
          </a:p>
          <a:p>
            <a:pPr marL="190500" indent="-190500">
              <a:lnSpc>
                <a:spcPct val="112000"/>
              </a:lnSpc>
              <a:spcAft>
                <a:spcPts val="600"/>
              </a:spcAft>
              <a:buSzPct val="100000"/>
              <a:buChar char="•"/>
            </a:pPr>
            <a:r>
              <a:rPr lang="ja-JP" sz="1200" dirty="0">
                <a:solidFill>
                  <a:srgbClr val="383858"/>
                </a:solidFill>
                <a:latin typeface="Meiryo" pitchFamily="34" charset="0"/>
                <a:ea typeface="Meiryo" pitchFamily="34" charset="-122"/>
                <a:cs typeface="Meiryo" pitchFamily="34" charset="-120"/>
              </a:rPr>
              <a:t>グラフは内部表現に留め、用途に応じた提示で情報を届ける</a:t>
            </a:r>
          </a:p>
        </p:txBody>
      </p:sp>
      <p:sp>
        <p:nvSpPr>
          <p:cNvPr id="8" name="Text 6"/>
          <p:cNvSpPr/>
          <p:nvPr/>
        </p:nvSpPr>
        <p:spPr>
          <a:xfrm>
            <a:off x="457200" y="292608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評価</a:t>
            </a:r>
            <a:endParaRPr lang="en-US" sz="1276" dirty="0"/>
          </a:p>
        </p:txBody>
      </p:sp>
      <p:sp>
        <p:nvSpPr>
          <p:cNvPr id="9" name="Text 7"/>
          <p:cNvSpPr/>
          <p:nvPr/>
        </p:nvSpPr>
        <p:spPr>
          <a:xfrm>
            <a:off x="502920" y="3291840"/>
            <a:ext cx="8229600" cy="5486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シミュレーションと対面実験で、議論の質・反対意見理解・介入透明性を検証</a:t>
            </a:r>
            <a:endParaRPr lang="en-US" sz="1200" dirty="0"/>
          </a:p>
        </p:txBody>
      </p:sp>
      <p:sp>
        <p:nvSpPr>
          <p:cNvPr id="10" name="Text 8"/>
          <p:cNvSpPr/>
          <p:nvPr/>
        </p:nvSpPr>
        <p:spPr>
          <a:xfrm>
            <a:off x="457200" y="38862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今後の進め方</a:t>
            </a:r>
            <a:endParaRPr lang="en-US" sz="1276" dirty="0"/>
          </a:p>
        </p:txBody>
      </p:sp>
      <p:sp>
        <p:nvSpPr>
          <p:cNvPr id="11" name="Text 9"/>
          <p:cNvSpPr/>
          <p:nvPr/>
        </p:nvSpPr>
        <p:spPr>
          <a:xfrm>
            <a:off x="502920" y="4251960"/>
            <a:ext cx="8229600" cy="73152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① 主張抽出/連結エージェントの実装</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② デバイスと接続し動作を進める</a:t>
            </a:r>
            <a:endParaRPr lang="en-US" sz="1200" dirty="0"/>
          </a:p>
        </p:txBody>
      </p:sp>
    </p:spTree>
    <p:extLst>
      <p:ext uri="{BB962C8B-B14F-4D97-AF65-F5344CB8AC3E}">
        <p14:creationId xmlns:p14="http://schemas.microsoft.com/office/powerpoint/2010/main" val="2289045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参考文献</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参考文献</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416052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 Dung, P. M. (1995). On the Acceptability of Arguments... Artificial Intelligence, 77(2).</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[2] Lawrence, J., &amp; Reed, C. (2019). Argument Mining: A Survey. Computational Linguistics, 45(4).</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[3] Baroni, P. et al. (2011). An Introduction to Argumentation Semantics. Knowledge Eng. Review, 26(4).</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[4] Modgil, S., &amp; Prakken, H. (2014). The ASPIC+ Framework... Argument &amp; Computation, 5(1).</a:t>
            </a:r>
            <a:endParaRPr lang="en-US" sz="1200" dirty="0"/>
          </a:p>
        </p:txBody>
      </p:sp>
      <p:sp>
        <p:nvSpPr>
          <p:cNvPr id="7" name="Text 5"/>
          <p:cNvSpPr/>
          <p:nvPr/>
        </p:nvSpPr>
        <p:spPr>
          <a:xfrm>
            <a:off x="4709160" y="1463040"/>
            <a:ext cx="402336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[5] Ito, T. et al. (2022). An Agent that Facilitates Crowd Discussion. Group Decision and Negotiation, 31.</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[6] Gu, W. et al. (2025). PTFA: An LLM-Based Agent... PRICAI 2025 (LNAI).</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[7] Fulay, S., &amp; Roy, D. (2025). The Empty Chair... ACM CSCW 2025.</a:t>
            </a:r>
            <a:endParaRPr lang="en-US" sz="1200" dirty="0"/>
          </a:p>
        </p:txBody>
      </p:sp>
    </p:spTree>
    <p:extLst>
      <p:ext uri="{BB962C8B-B14F-4D97-AF65-F5344CB8AC3E}">
        <p14:creationId xmlns:p14="http://schemas.microsoft.com/office/powerpoint/2010/main" val="2319624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参考文献</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err="1">
                <a:solidFill>
                  <a:srgbClr val="181828"/>
                </a:solidFill>
                <a:latin typeface="Meiryo" pitchFamily="34" charset="0"/>
                <a:ea typeface="Meiryo" pitchFamily="34" charset="-122"/>
                <a:cs typeface="Meiryo" pitchFamily="34" charset="-120"/>
              </a:rPr>
              <a:t>参考文献</a:t>
            </a:r>
            <a:r>
              <a:rPr lang="en-US" sz="2112" b="1" dirty="0">
                <a:solidFill>
                  <a:srgbClr val="181828"/>
                </a:solidFill>
                <a:latin typeface="Meiryo" pitchFamily="34" charset="0"/>
                <a:ea typeface="Meiryo" pitchFamily="34" charset="-122"/>
                <a:cs typeface="Meiryo" pitchFamily="34" charset="-120"/>
              </a:rPr>
              <a:t> </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416052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[8] Tessler, M. H. et al. (2024). AI can help humans find common ground... Science, 386.</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[9] Lewis, P. et al. (2020). Retrieval-Augmented Generation... NeurIPS 2020.</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[10] Sharma, M. et al. (2024). Towards Understanding Sycophancy in LMs. ICLR 2024.</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[11] Du, Y. et al. (2024). Improving Factuality... Multiagent Debate. ICML 2024.</a:t>
            </a:r>
            <a:endParaRPr lang="en-US" sz="1200" dirty="0"/>
          </a:p>
        </p:txBody>
      </p:sp>
      <p:sp>
        <p:nvSpPr>
          <p:cNvPr id="7" name="Text 5"/>
          <p:cNvSpPr/>
          <p:nvPr/>
        </p:nvSpPr>
        <p:spPr>
          <a:xfrm>
            <a:off x="4709160" y="1463040"/>
            <a:ext cx="402336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[12] Nickerson, R. S. (1998). Confirmation Bias... Review of General Psychology, 2(2).</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[13] Sunstein, C. R. (2002). The Law of Group Polarization. J. of Political Philosophy, 10(2).</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[14] Mercier, H., &amp; Sperber, D. (2011). Why Do Humans Reason? Behavioral and Brain Sciences, 34(2).</a:t>
            </a:r>
            <a:endParaRPr lang="en-US" sz="1200" dirty="0"/>
          </a:p>
        </p:txBody>
      </p:sp>
    </p:spTree>
    <p:extLst>
      <p:ext uri="{BB962C8B-B14F-4D97-AF65-F5344CB8AC3E}">
        <p14:creationId xmlns:p14="http://schemas.microsoft.com/office/powerpoint/2010/main" val="1414931972"/>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nchor="t" lIns="25400" rIns="25400" tIns="12700" bIns="12700">
            <a:spAutoFit/>
          </a:bodyPr>
          <a:lstStyle/>
          <a:p>
            <a:pPr algn="l"/>
            <a:r>
              <a:rPr sz="1100" b="1">
                <a:solidFill>
                  <a:srgbClr val="1F3864"/>
                </a:solidFill>
                <a:latin typeface="Meiryo"/>
              </a:rPr>
              <a:t>3. 提案手法</a:t>
            </a:r>
          </a:p>
        </p:txBody>
      </p:sp>
      <p:sp>
        <p:nvSpPr>
          <p:cNvPr id="3" name="TextBox 2"/>
          <p:cNvSpPr txBox="1"/>
          <p:nvPr/>
        </p:nvSpPr>
        <p:spPr>
          <a:xfrm>
            <a:off x="457200" y="457200"/>
            <a:ext cx="8229600" cy="502920"/>
          </a:xfrm>
          <a:prstGeom prst="rect">
            <a:avLst/>
          </a:prstGeom>
          <a:noFill/>
        </p:spPr>
        <p:txBody>
          <a:bodyPr wrap="square" lIns="0" tIns="0">
            <a:spAutoFit/>
          </a:bodyPr>
          <a:lstStyle/>
          <a:p>
            <a:pPr algn="l"/>
            <a:r>
              <a:rPr sz="2200" b="1">
                <a:solidFill>
                  <a:srgbClr val="1F3864"/>
                </a:solidFill>
                <a:latin typeface="Meiryo"/>
              </a:rPr>
              <a:t>詳細① ｜ </a:t>
            </a:r>
            <a:r>
              <a:rPr sz="2200" b="1">
                <a:solidFill>
                  <a:srgbClr val="222222"/>
                </a:solidFill>
                <a:latin typeface="Meiryo"/>
              </a:rPr>
              <a:t>オフライン：ドキュメントの前処理</a:t>
            </a:r>
          </a:p>
        </p:txBody>
      </p:sp>
      <p:sp>
        <p:nvSpPr>
          <p:cNvPr id="4" name="Rectangle 3"/>
          <p:cNvSpPr/>
          <p:nvPr/>
        </p:nvSpPr>
        <p:spPr>
          <a:xfrm>
            <a:off x="457200" y="1024128"/>
            <a:ext cx="822960" cy="411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114800" cy="274320"/>
          </a:xfrm>
          <a:prstGeom prst="rect">
            <a:avLst/>
          </a:prstGeom>
          <a:noFill/>
        </p:spPr>
        <p:txBody>
          <a:bodyPr wrap="square" anchor="t" lIns="25400" rIns="25400" tIns="12700" bIns="12700">
            <a:spAutoFit/>
          </a:bodyPr>
          <a:lstStyle/>
          <a:p>
            <a:pPr algn="l"/>
            <a:r>
              <a:rPr sz="1300" b="1">
                <a:solidFill>
                  <a:srgbClr val="6B7280"/>
                </a:solidFill>
                <a:latin typeface="Meiryo"/>
              </a:rPr>
              <a:t>通常のRAG（既存）</a:t>
            </a:r>
          </a:p>
        </p:txBody>
      </p:sp>
      <p:sp>
        <p:nvSpPr>
          <p:cNvPr id="6" name="Rectangle 5"/>
          <p:cNvSpPr/>
          <p:nvPr/>
        </p:nvSpPr>
        <p:spPr>
          <a:xfrm>
            <a:off x="457200" y="1572768"/>
            <a:ext cx="155448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ドキュメント</a:t>
            </a:r>
          </a:p>
        </p:txBody>
      </p:sp>
      <p:cxnSp>
        <p:nvCxnSpPr>
          <p:cNvPr id="7" name="Connector 6"/>
          <p:cNvCxnSpPr/>
          <p:nvPr/>
        </p:nvCxnSpPr>
        <p:spPr>
          <a:xfrm>
            <a:off x="2084831" y="19293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395728" y="1572768"/>
            <a:ext cx="155448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チャンク分割</a:t>
            </a:r>
          </a:p>
        </p:txBody>
      </p:sp>
      <p:cxnSp>
        <p:nvCxnSpPr>
          <p:cNvPr id="9" name="Connector 8"/>
          <p:cNvCxnSpPr/>
          <p:nvPr/>
        </p:nvCxnSpPr>
        <p:spPr>
          <a:xfrm>
            <a:off x="4023360" y="19293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334256" y="1572768"/>
            <a:ext cx="155448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ベクトル化</a:t>
            </a:r>
          </a:p>
        </p:txBody>
      </p:sp>
      <p:cxnSp>
        <p:nvCxnSpPr>
          <p:cNvPr id="11" name="Connector 10"/>
          <p:cNvCxnSpPr/>
          <p:nvPr/>
        </p:nvCxnSpPr>
        <p:spPr>
          <a:xfrm>
            <a:off x="5961888" y="1929384"/>
            <a:ext cx="310895"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272784" y="1572768"/>
            <a:ext cx="192024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3A3A3A"/>
                </a:solidFill>
                <a:latin typeface="Meiryo"/>
              </a:rPr>
              <a:t>ベクトルDB</a:t>
            </a:r>
          </a:p>
          <a:p>
            <a:pPr algn="ctr"/>
            <a:r>
              <a:rPr sz="1100" b="0">
                <a:solidFill>
                  <a:srgbClr val="3A3A3A"/>
                </a:solidFill>
                <a:latin typeface="Meiryo"/>
              </a:rPr>
              <a:t>（類似度で検索）</a:t>
            </a:r>
          </a:p>
        </p:txBody>
      </p:sp>
      <p:sp>
        <p:nvSpPr>
          <p:cNvPr id="13" name="TextBox 12"/>
          <p:cNvSpPr txBox="1"/>
          <p:nvPr/>
        </p:nvSpPr>
        <p:spPr>
          <a:xfrm>
            <a:off x="457200" y="2377440"/>
            <a:ext cx="7863840" cy="365760"/>
          </a:xfrm>
          <a:prstGeom prst="rect">
            <a:avLst/>
          </a:prstGeom>
          <a:noFill/>
        </p:spPr>
        <p:txBody>
          <a:bodyPr wrap="square" anchor="t" lIns="25400" rIns="25400" tIns="12700" bIns="12700">
            <a:spAutoFit/>
          </a:bodyPr>
          <a:lstStyle/>
          <a:p>
            <a:pPr algn="l"/>
            <a:r>
              <a:rPr sz="1100" b="0">
                <a:solidFill>
                  <a:srgbClr val="6B7280"/>
                </a:solidFill>
                <a:latin typeface="Meiryo"/>
              </a:rPr>
              <a:t>機械的に分割してベクトル化するだけ。意味のまとまりや論証関係は保持されない。</a:t>
            </a:r>
          </a:p>
        </p:txBody>
      </p:sp>
      <p:sp>
        <p:nvSpPr>
          <p:cNvPr id="14" name="TextBox 13"/>
          <p:cNvSpPr txBox="1"/>
          <p:nvPr/>
        </p:nvSpPr>
        <p:spPr>
          <a:xfrm>
            <a:off x="457200" y="3017520"/>
            <a:ext cx="4114800" cy="274320"/>
          </a:xfrm>
          <a:prstGeom prst="rect">
            <a:avLst/>
          </a:prstGeom>
          <a:noFill/>
        </p:spPr>
        <p:txBody>
          <a:bodyPr wrap="square" anchor="t" lIns="25400" rIns="25400" tIns="12700" bIns="12700">
            <a:spAutoFit/>
          </a:bodyPr>
          <a:lstStyle/>
          <a:p>
            <a:pPr algn="l"/>
            <a:r>
              <a:rPr sz="1300" b="1">
                <a:solidFill>
                  <a:srgbClr val="1F3864"/>
                </a:solidFill>
                <a:latin typeface="Meiryo"/>
              </a:rPr>
              <a:t>本手法（提案）</a:t>
            </a:r>
          </a:p>
        </p:txBody>
      </p:sp>
      <p:sp>
        <p:nvSpPr>
          <p:cNvPr id="15" name="Rectangle 14"/>
          <p:cNvSpPr/>
          <p:nvPr/>
        </p:nvSpPr>
        <p:spPr>
          <a:xfrm>
            <a:off x="457200" y="3383280"/>
            <a:ext cx="1554480" cy="749808"/>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ドキュメント</a:t>
            </a:r>
          </a:p>
        </p:txBody>
      </p:sp>
      <p:cxnSp>
        <p:nvCxnSpPr>
          <p:cNvPr id="16" name="Connector 15"/>
          <p:cNvCxnSpPr/>
          <p:nvPr/>
        </p:nvCxnSpPr>
        <p:spPr>
          <a:xfrm>
            <a:off x="2084831" y="37581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395728" y="3383280"/>
            <a:ext cx="2286000" cy="749808"/>
          </a:xfrm>
          <a:prstGeom prst="rect">
            <a:avLst/>
          </a:prstGeom>
          <a:solidFill>
            <a:srgbClr val="2E4F76"/>
          </a:solidFill>
          <a:ln w="12700">
            <a:solidFill>
              <a:srgbClr val="2E4F76"/>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FFFFFF"/>
                </a:solidFill>
                <a:latin typeface="Meiryo"/>
              </a:rPr>
              <a:t>事実（evidence）</a:t>
            </a:r>
          </a:p>
          <a:p>
            <a:pPr algn="ctr"/>
            <a:r>
              <a:rPr sz="1200" b="0">
                <a:solidFill>
                  <a:srgbClr val="FFFFFF"/>
                </a:solidFill>
                <a:latin typeface="Meiryo"/>
              </a:rPr>
              <a:t>単位に分解</a:t>
            </a:r>
          </a:p>
        </p:txBody>
      </p:sp>
      <p:cxnSp>
        <p:nvCxnSpPr>
          <p:cNvPr id="18" name="Connector 17"/>
          <p:cNvCxnSpPr/>
          <p:nvPr/>
        </p:nvCxnSpPr>
        <p:spPr>
          <a:xfrm>
            <a:off x="4754880" y="3758184"/>
            <a:ext cx="310896"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065776" y="3383280"/>
            <a:ext cx="3108960" cy="749808"/>
          </a:xfrm>
          <a:prstGeom prst="rect">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1">
                <a:solidFill>
                  <a:srgbClr val="FFFFFF"/>
                </a:solidFill>
                <a:latin typeface="Meiryo"/>
              </a:rPr>
              <a:t>議論グラフに事実ノードとして永続化</a:t>
            </a:r>
          </a:p>
          <a:p>
            <a:pPr algn="ctr"/>
            <a:r>
              <a:rPr sz="1100" b="1">
                <a:solidFill>
                  <a:srgbClr val="FFFFFF"/>
                </a:solidFill>
                <a:latin typeface="Meiryo"/>
              </a:rPr>
              <a:t>（関係を張る素材として保持）</a:t>
            </a:r>
          </a:p>
        </p:txBody>
      </p:sp>
      <p:sp>
        <p:nvSpPr>
          <p:cNvPr id="20" name="TextBox 19"/>
          <p:cNvSpPr txBox="1"/>
          <p:nvPr/>
        </p:nvSpPr>
        <p:spPr>
          <a:xfrm>
            <a:off x="457200" y="4224528"/>
            <a:ext cx="7863840" cy="365760"/>
          </a:xfrm>
          <a:prstGeom prst="rect">
            <a:avLst/>
          </a:prstGeom>
          <a:noFill/>
        </p:spPr>
        <p:txBody>
          <a:bodyPr wrap="square" anchor="t" lIns="25400" rIns="25400" tIns="12700" bIns="12700">
            <a:spAutoFit/>
          </a:bodyPr>
          <a:lstStyle/>
          <a:p>
            <a:pPr algn="l"/>
            <a:r>
              <a:rPr sz="1100" b="0">
                <a:solidFill>
                  <a:srgbClr val="333333"/>
                </a:solidFill>
                <a:latin typeface="Meiryo"/>
              </a:rPr>
              <a:t>論証に使える「事実」の単位に分解し、グラフの素材（事実ノード）として保持する。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4592"/>
            <a:ext cx="8229600" cy="274320"/>
          </a:xfrm>
          <a:prstGeom prst="rect">
            <a:avLst/>
          </a:prstGeom>
          <a:noFill/>
        </p:spPr>
        <p:txBody>
          <a:bodyPr wrap="square" anchor="t" lIns="25400" rIns="25400" tIns="12700" bIns="12700">
            <a:spAutoFit/>
          </a:bodyPr>
          <a:lstStyle/>
          <a:p>
            <a:pPr algn="l"/>
            <a:r>
              <a:rPr sz="1100" b="1">
                <a:solidFill>
                  <a:srgbClr val="1F3864"/>
                </a:solidFill>
                <a:latin typeface="Meiryo"/>
              </a:rPr>
              <a:t>3. 提案手法</a:t>
            </a:r>
          </a:p>
        </p:txBody>
      </p:sp>
      <p:sp>
        <p:nvSpPr>
          <p:cNvPr id="3" name="TextBox 2"/>
          <p:cNvSpPr txBox="1"/>
          <p:nvPr/>
        </p:nvSpPr>
        <p:spPr>
          <a:xfrm>
            <a:off x="457200" y="457200"/>
            <a:ext cx="8229600" cy="502920"/>
          </a:xfrm>
          <a:prstGeom prst="rect">
            <a:avLst/>
          </a:prstGeom>
          <a:noFill/>
        </p:spPr>
        <p:txBody>
          <a:bodyPr wrap="square" lIns="0" tIns="0">
            <a:spAutoFit/>
          </a:bodyPr>
          <a:lstStyle/>
          <a:p>
            <a:pPr algn="l"/>
            <a:r>
              <a:rPr sz="2200" b="1">
                <a:solidFill>
                  <a:srgbClr val="1F3864"/>
                </a:solidFill>
                <a:latin typeface="Meiryo"/>
              </a:rPr>
              <a:t>詳細② ｜ </a:t>
            </a:r>
            <a:r>
              <a:rPr sz="2200" b="1">
                <a:solidFill>
                  <a:srgbClr val="222222"/>
                </a:solidFill>
                <a:latin typeface="Meiryo"/>
              </a:rPr>
              <a:t>オンライン：議論中の関係判定</a:t>
            </a:r>
          </a:p>
        </p:txBody>
      </p:sp>
      <p:sp>
        <p:nvSpPr>
          <p:cNvPr id="4" name="Rectangle 3"/>
          <p:cNvSpPr/>
          <p:nvPr/>
        </p:nvSpPr>
        <p:spPr>
          <a:xfrm>
            <a:off x="457200" y="1024128"/>
            <a:ext cx="822960" cy="411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114800" cy="274320"/>
          </a:xfrm>
          <a:prstGeom prst="rect">
            <a:avLst/>
          </a:prstGeom>
          <a:noFill/>
        </p:spPr>
        <p:txBody>
          <a:bodyPr wrap="square" anchor="t" lIns="25400" rIns="25400" tIns="12700" bIns="12700">
            <a:spAutoFit/>
          </a:bodyPr>
          <a:lstStyle/>
          <a:p>
            <a:pPr algn="l"/>
            <a:r>
              <a:rPr sz="1300" b="1">
                <a:solidFill>
                  <a:srgbClr val="6B7280"/>
                </a:solidFill>
                <a:latin typeface="Meiryo"/>
              </a:rPr>
              <a:t>通常のRAG（既存）</a:t>
            </a:r>
          </a:p>
        </p:txBody>
      </p:sp>
      <p:sp>
        <p:nvSpPr>
          <p:cNvPr id="6" name="Rectangle 5"/>
          <p:cNvSpPr/>
          <p:nvPr/>
        </p:nvSpPr>
        <p:spPr>
          <a:xfrm>
            <a:off x="457200" y="1572768"/>
            <a:ext cx="173736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200" b="0">
                <a:solidFill>
                  <a:srgbClr val="3A3A3A"/>
                </a:solidFill>
                <a:latin typeface="Meiryo"/>
              </a:rPr>
              <a:t>発話／クエリ</a:t>
            </a:r>
          </a:p>
        </p:txBody>
      </p:sp>
      <p:cxnSp>
        <p:nvCxnSpPr>
          <p:cNvPr id="7" name="Connector 6"/>
          <p:cNvCxnSpPr/>
          <p:nvPr/>
        </p:nvCxnSpPr>
        <p:spPr>
          <a:xfrm>
            <a:off x="2194560" y="1929384"/>
            <a:ext cx="320040"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514600" y="1572768"/>
            <a:ext cx="205740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3A3A3A"/>
                </a:solidFill>
                <a:latin typeface="Meiryo"/>
              </a:rPr>
              <a:t>ベクトル検索で</a:t>
            </a:r>
          </a:p>
          <a:p>
            <a:pPr algn="ctr"/>
            <a:r>
              <a:rPr sz="1100" b="0">
                <a:solidFill>
                  <a:srgbClr val="3A3A3A"/>
                </a:solidFill>
                <a:latin typeface="Meiryo"/>
              </a:rPr>
              <a:t>候補を top-k 取得</a:t>
            </a:r>
          </a:p>
        </p:txBody>
      </p:sp>
      <p:cxnSp>
        <p:nvCxnSpPr>
          <p:cNvPr id="9" name="Connector 8"/>
          <p:cNvCxnSpPr/>
          <p:nvPr/>
        </p:nvCxnSpPr>
        <p:spPr>
          <a:xfrm>
            <a:off x="4572000" y="1929384"/>
            <a:ext cx="320040"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892040" y="1572768"/>
            <a:ext cx="3291840" cy="713232"/>
          </a:xfrm>
          <a:prstGeom prst="rect">
            <a:avLst/>
          </a:prstGeom>
          <a:solidFill>
            <a:srgbClr val="E9E9EC"/>
          </a:solidFill>
          <a:ln w="12700">
            <a:solidFill>
              <a:srgbClr val="E9E9EC"/>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3A3A3A"/>
                </a:solidFill>
                <a:latin typeface="Meiryo"/>
              </a:rPr>
              <a:t>そのまま提示</a:t>
            </a:r>
          </a:p>
          <a:p>
            <a:pPr algn="ctr"/>
            <a:r>
              <a:rPr sz="1100" b="0">
                <a:solidFill>
                  <a:srgbClr val="3A3A3A"/>
                </a:solidFill>
                <a:latin typeface="Meiryo"/>
              </a:rPr>
              <a:t>（関係は不問・反論は埋もれる）</a:t>
            </a:r>
          </a:p>
        </p:txBody>
      </p:sp>
      <p:sp>
        <p:nvSpPr>
          <p:cNvPr id="11" name="TextBox 10"/>
          <p:cNvSpPr txBox="1"/>
          <p:nvPr/>
        </p:nvSpPr>
        <p:spPr>
          <a:xfrm>
            <a:off x="457200" y="2377440"/>
            <a:ext cx="7863840" cy="365760"/>
          </a:xfrm>
          <a:prstGeom prst="rect">
            <a:avLst/>
          </a:prstGeom>
          <a:noFill/>
        </p:spPr>
        <p:txBody>
          <a:bodyPr wrap="square" anchor="t" lIns="25400" rIns="25400" tIns="12700" bIns="12700">
            <a:spAutoFit/>
          </a:bodyPr>
          <a:lstStyle/>
          <a:p>
            <a:pPr algn="l"/>
            <a:r>
              <a:rPr sz="1100" b="0">
                <a:solidFill>
                  <a:srgbClr val="6B7280"/>
                </a:solidFill>
                <a:latin typeface="Meiryo"/>
              </a:rPr>
              <a:t>「似ている順」に出すだけなので、対象主張への賛否は区別されない。</a:t>
            </a:r>
          </a:p>
        </p:txBody>
      </p:sp>
      <p:sp>
        <p:nvSpPr>
          <p:cNvPr id="12" name="TextBox 11"/>
          <p:cNvSpPr txBox="1"/>
          <p:nvPr/>
        </p:nvSpPr>
        <p:spPr>
          <a:xfrm>
            <a:off x="457200" y="2907792"/>
            <a:ext cx="4114800" cy="274320"/>
          </a:xfrm>
          <a:prstGeom prst="rect">
            <a:avLst/>
          </a:prstGeom>
          <a:noFill/>
        </p:spPr>
        <p:txBody>
          <a:bodyPr wrap="square" anchor="t" lIns="25400" rIns="25400" tIns="12700" bIns="12700">
            <a:spAutoFit/>
          </a:bodyPr>
          <a:lstStyle/>
          <a:p>
            <a:pPr algn="l"/>
            <a:r>
              <a:rPr sz="1300" b="1">
                <a:solidFill>
                  <a:srgbClr val="1F3864"/>
                </a:solidFill>
                <a:latin typeface="Meiryo"/>
              </a:rPr>
              <a:t>本手法（提案）</a:t>
            </a:r>
          </a:p>
        </p:txBody>
      </p:sp>
      <p:sp>
        <p:nvSpPr>
          <p:cNvPr id="13" name="Rectangle 12"/>
          <p:cNvSpPr/>
          <p:nvPr/>
        </p:nvSpPr>
        <p:spPr>
          <a:xfrm>
            <a:off x="457200" y="3255264"/>
            <a:ext cx="1691640" cy="786384"/>
          </a:xfrm>
          <a:prstGeom prst="rect">
            <a:avLst/>
          </a:prstGeom>
          <a:solidFill>
            <a:srgbClr val="2E4F76"/>
          </a:solidFill>
          <a:ln w="12700">
            <a:solidFill>
              <a:srgbClr val="2E4F76"/>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FFFFFF"/>
                </a:solidFill>
                <a:latin typeface="Meiryo"/>
              </a:rPr>
              <a:t>発話を</a:t>
            </a:r>
          </a:p>
          <a:p>
            <a:pPr algn="ctr"/>
            <a:r>
              <a:rPr sz="1100" b="0">
                <a:solidFill>
                  <a:srgbClr val="FFFFFF"/>
                </a:solidFill>
                <a:latin typeface="Meiryo"/>
              </a:rPr>
              <a:t>主張に分解</a:t>
            </a:r>
          </a:p>
        </p:txBody>
      </p:sp>
      <p:cxnSp>
        <p:nvCxnSpPr>
          <p:cNvPr id="14" name="Connector 13"/>
          <p:cNvCxnSpPr/>
          <p:nvPr/>
        </p:nvCxnSpPr>
        <p:spPr>
          <a:xfrm>
            <a:off x="2148840" y="3648456"/>
            <a:ext cx="292608"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441448" y="3255264"/>
            <a:ext cx="2057400" cy="786384"/>
          </a:xfrm>
          <a:prstGeom prst="rect">
            <a:avLst/>
          </a:prstGeom>
          <a:solidFill>
            <a:srgbClr val="2E4F76"/>
          </a:solidFill>
          <a:ln w="12700">
            <a:solidFill>
              <a:srgbClr val="2E4F76"/>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100" b="0">
                <a:solidFill>
                  <a:srgbClr val="FFFFFF"/>
                </a:solidFill>
                <a:latin typeface="Meiryo"/>
              </a:rPr>
              <a:t>ベクトル検索で</a:t>
            </a:r>
          </a:p>
          <a:p>
            <a:pPr algn="ctr"/>
            <a:r>
              <a:rPr sz="1100" b="0">
                <a:solidFill>
                  <a:srgbClr val="FFFFFF"/>
                </a:solidFill>
                <a:latin typeface="Meiryo"/>
              </a:rPr>
              <a:t>候補を top-k 絞込</a:t>
            </a:r>
          </a:p>
        </p:txBody>
      </p:sp>
      <p:cxnSp>
        <p:nvCxnSpPr>
          <p:cNvPr id="16" name="Connector 15"/>
          <p:cNvCxnSpPr/>
          <p:nvPr/>
        </p:nvCxnSpPr>
        <p:spPr>
          <a:xfrm>
            <a:off x="4498848" y="3648456"/>
            <a:ext cx="292608"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791456" y="3255264"/>
            <a:ext cx="2194560" cy="786384"/>
          </a:xfrm>
          <a:prstGeom prst="rect">
            <a:avLst/>
          </a:prstGeom>
          <a:solidFill>
            <a:srgbClr val="1F3864"/>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000" b="1">
                <a:solidFill>
                  <a:srgbClr val="FFFFFF"/>
                </a:solidFill>
                <a:latin typeface="Meiryo"/>
              </a:rPr>
              <a:t>連結エージェント</a:t>
            </a:r>
          </a:p>
          <a:p>
            <a:pPr algn="ctr"/>
            <a:r>
              <a:rPr sz="1000" b="1">
                <a:solidFill>
                  <a:srgbClr val="FFFFFF"/>
                </a:solidFill>
                <a:latin typeface="Meiryo"/>
              </a:rPr>
              <a:t>top-k 候補をまとめて</a:t>
            </a:r>
          </a:p>
          <a:p>
            <a:pPr algn="ctr"/>
            <a:r>
              <a:rPr sz="1000" b="1">
                <a:solidFill>
                  <a:srgbClr val="FFFFFF"/>
                </a:solidFill>
                <a:latin typeface="Meiryo"/>
              </a:rPr>
              <a:t>支持／攻撃を判定</a:t>
            </a:r>
          </a:p>
        </p:txBody>
      </p:sp>
      <p:cxnSp>
        <p:nvCxnSpPr>
          <p:cNvPr id="18" name="Connector 17"/>
          <p:cNvCxnSpPr/>
          <p:nvPr/>
        </p:nvCxnSpPr>
        <p:spPr>
          <a:xfrm>
            <a:off x="6986016" y="3648456"/>
            <a:ext cx="274320" cy="0"/>
          </a:xfrm>
          <a:prstGeom prst="line">
            <a:avLst/>
          </a:prstGeom>
          <a:ln w="31750">
            <a:solidFill>
              <a:srgbClr val="9AA3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260336" y="3255264"/>
            <a:ext cx="1417320" cy="365760"/>
          </a:xfrm>
          <a:prstGeom prst="rect">
            <a:avLst/>
          </a:prstGeom>
          <a:solidFill>
            <a:srgbClr val="2F8F5B"/>
          </a:solidFill>
          <a:ln w="12700">
            <a:solidFill>
              <a:srgbClr val="2F8F5B"/>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000" b="1">
                <a:solidFill>
                  <a:srgbClr val="FFFFFF"/>
                </a:solidFill>
                <a:latin typeface="Meiryo"/>
              </a:rPr>
              <a:t>支持の事実 E1</a:t>
            </a:r>
          </a:p>
        </p:txBody>
      </p:sp>
      <p:sp>
        <p:nvSpPr>
          <p:cNvPr id="20" name="Rectangle 19"/>
          <p:cNvSpPr/>
          <p:nvPr/>
        </p:nvSpPr>
        <p:spPr>
          <a:xfrm>
            <a:off x="7260336" y="3675888"/>
            <a:ext cx="1417320" cy="365760"/>
          </a:xfrm>
          <a:prstGeom prst="rect">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25400" rIns="25400" tIns="12700" bIns="12700"/>
          <a:lstStyle/>
          <a:p>
            <a:pPr algn="ctr"/>
            <a:r>
              <a:rPr sz="1000" b="1">
                <a:solidFill>
                  <a:srgbClr val="FFFFFF"/>
                </a:solidFill>
                <a:latin typeface="Meiryo"/>
              </a:rPr>
              <a:t>攻撃の事実 E2</a:t>
            </a:r>
          </a:p>
        </p:txBody>
      </p:sp>
      <p:sp>
        <p:nvSpPr>
          <p:cNvPr id="21" name="TextBox 20"/>
          <p:cNvSpPr txBox="1"/>
          <p:nvPr/>
        </p:nvSpPr>
        <p:spPr>
          <a:xfrm>
            <a:off x="457200" y="4151376"/>
            <a:ext cx="8229600" cy="457200"/>
          </a:xfrm>
          <a:prstGeom prst="rect">
            <a:avLst/>
          </a:prstGeom>
          <a:noFill/>
        </p:spPr>
        <p:txBody>
          <a:bodyPr wrap="square" anchor="t" lIns="25400" rIns="25400" tIns="12700" bIns="12700">
            <a:spAutoFit/>
          </a:bodyPr>
          <a:lstStyle/>
          <a:p>
            <a:pPr algn="l"/>
            <a:r>
              <a:rPr sz="1100" b="0">
                <a:solidFill>
                  <a:srgbClr val="333333"/>
                </a:solidFill>
                <a:latin typeface="Meiryo"/>
              </a:rPr>
              <a:t>候補の絞り込み（ベクトル検索で top-k）までは既存RAGと同じ。違いは“その後”——関係を判定し、反論（攻撃）も必ず残す点。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25F3025-B939-D44F-A8F9-D9D5DD87F180}">
  <we:reference id="WA200010001" version="1.0.0.1" store="Omex" storeType="OMEX"/>
  <we:alternateReferences>
    <we:reference id="WA200010001" version="1.0.0.1" store="WA200010001" storeType="OMEX"/>
  </we:alternateReferences>
  <we:properties>
    <we:property name="claude.fileId" value="&quot;dd1a3c3e-7ec7-4ff6-b78d-7ba2635bd2f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1800</TotalTime>
  <Words>1470</Words>
  <Application>Microsoft Macintosh PowerPoint</Application>
  <PresentationFormat>画面に合わせる (16:9)</PresentationFormat>
  <Paragraphs>241</Paragraphs>
  <Slides>21</Slides>
  <Notes>16</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21</vt:i4>
      </vt:variant>
    </vt:vector>
  </HeadingPairs>
  <TitlesOfParts>
    <vt:vector size="24" baseType="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マルチエージェントによる議論グラフ統合型 議論支援</dc:title>
  <dc:subject>PptxGenJS Presentation</dc:subject>
  <dc:creator>松井 玲</dc:creator>
  <cp:lastModifiedBy>matsui.rei.75r@st.kyoto-u.ac.jp</cp:lastModifiedBy>
  <cp:revision>18</cp:revision>
  <dcterms:created xsi:type="dcterms:W3CDTF">2026-05-31T08:32:24Z</dcterms:created>
  <dcterms:modified xsi:type="dcterms:W3CDTF">2026-06-01T15:22:49Z</dcterms:modified>
</cp:coreProperties>
</file>